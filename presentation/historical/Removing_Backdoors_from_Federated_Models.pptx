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 Accuracy</c:v>
                </c:pt>
              </c:strCache>
            </c:strRef>
          </c:tx>
          <c:spPr>
            <a:solidFill>
              <a:srgbClr val="5EA0FA"/>
            </a:solidFill>
            <a:ln w="31750" cap="flat">
              <a:solidFill>
                <a:srgbClr val="5EA0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8A96B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EA0FA"/>
              </a:solidFill>
              <a:ln w="9525" cap="flat">
                <a:solidFill>
                  <a:srgbClr val="5EA0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Ep 0</c:v>
                  </c:pt>
                  <c:pt idx="1">
                    <c:v>Ep 1</c:v>
                  </c:pt>
                  <c:pt idx="2">
                    <c:v>Ep 2</c:v>
                  </c:pt>
                  <c:pt idx="3">
                    <c:v>Ep 3</c:v>
                  </c:pt>
                  <c:pt idx="4">
                    <c:v>Ep 4</c:v>
                  </c:pt>
                  <c:pt idx="5">
                    <c:v>Ep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10.53</c:v>
                </c:pt>
                <c:pt idx="1">
                  <c:v>45.2</c:v>
                </c:pt>
                <c:pt idx="2">
                  <c:v>48</c:v>
                </c:pt>
                <c:pt idx="3">
                  <c:v>50.5</c:v>
                </c:pt>
                <c:pt idx="4">
                  <c:v>53.2</c:v>
                </c:pt>
                <c:pt idx="5">
                  <c:v>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Retrain Reference</c:v>
                </c:pt>
              </c:strCache>
            </c:strRef>
          </c:tx>
          <c:spPr>
            <a:solidFill>
              <a:srgbClr val="34D399"/>
            </a:solidFill>
            <a:ln w="31750" cap="flat">
              <a:solidFill>
                <a:srgbClr val="34D3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8A96B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Ep 0</c:v>
                  </c:pt>
                  <c:pt idx="1">
                    <c:v>Ep 1</c:v>
                  </c:pt>
                  <c:pt idx="2">
                    <c:v>Ep 2</c:v>
                  </c:pt>
                  <c:pt idx="3">
                    <c:v>Ep 3</c:v>
                  </c:pt>
                  <c:pt idx="4">
                    <c:v>Ep 4</c:v>
                  </c:pt>
                  <c:pt idx="5">
                    <c:v>Ep 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74.48</c:v>
                </c:pt>
                <c:pt idx="1">
                  <c:v>74.48</c:v>
                </c:pt>
                <c:pt idx="2">
                  <c:v>74.48</c:v>
                </c:pt>
                <c:pt idx="3">
                  <c:v>74.48</c:v>
                </c:pt>
                <c:pt idx="4">
                  <c:v>74.48</c:v>
                </c:pt>
                <c:pt idx="5">
                  <c:v>74.48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8A96B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6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6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A2E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96B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A2E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ASR</c:v>
                </c:pt>
              </c:strCache>
            </c:strRef>
          </c:tx>
          <c:spPr>
            <a:solidFill>
              <a:srgbClr val="FB7185"/>
            </a:solidFill>
            <a:ln w="31750" cap="flat">
              <a:solidFill>
                <a:srgbClr val="FB71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B7185"/>
              </a:solidFill>
              <a:ln w="9525" cap="flat">
                <a:solidFill>
                  <a:srgbClr val="FB71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Ep 0</c:v>
                  </c:pt>
                  <c:pt idx="1">
                    <c:v>Ep 1</c:v>
                  </c:pt>
                  <c:pt idx="2">
                    <c:v>Ep 2</c:v>
                  </c:pt>
                  <c:pt idx="3">
                    <c:v>Ep 3</c:v>
                  </c:pt>
                  <c:pt idx="4">
                    <c:v>Ep 4</c:v>
                  </c:pt>
                  <c:pt idx="5">
                    <c:v>Ep 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3.9</c:v>
                </c:pt>
                <c:pt idx="2">
                  <c:v>3.6</c:v>
                </c:pt>
                <c:pt idx="3">
                  <c:v>4</c:v>
                </c:pt>
                <c:pt idx="4">
                  <c:v>4.3</c:v>
                </c:pt>
                <c:pt idx="5">
                  <c:v>3.09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Retrain Reference</c:v>
                </c:pt>
              </c:strCache>
            </c:strRef>
          </c:tx>
          <c:spPr>
            <a:solidFill>
              <a:srgbClr val="34D399"/>
            </a:solidFill>
            <a:ln w="31750" cap="flat">
              <a:solidFill>
                <a:srgbClr val="34D3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4D399"/>
              </a:solidFill>
              <a:ln w="9525" cap="flat">
                <a:solidFill>
                  <a:srgbClr val="34D3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Ep 0</c:v>
                  </c:pt>
                  <c:pt idx="1">
                    <c:v>Ep 1</c:v>
                  </c:pt>
                  <c:pt idx="2">
                    <c:v>Ep 2</c:v>
                  </c:pt>
                  <c:pt idx="3">
                    <c:v>Ep 3</c:v>
                  </c:pt>
                  <c:pt idx="4">
                    <c:v>Ep 4</c:v>
                  </c:pt>
                  <c:pt idx="5">
                    <c:v>Ep 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3.02</c:v>
                </c:pt>
                <c:pt idx="1">
                  <c:v>3.02</c:v>
                </c:pt>
                <c:pt idx="2">
                  <c:v>3.02</c:v>
                </c:pt>
                <c:pt idx="3">
                  <c:v>3.02</c:v>
                </c:pt>
                <c:pt idx="4">
                  <c:v>3.02</c:v>
                </c:pt>
                <c:pt idx="5">
                  <c:v>3.02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6B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6B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A2E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96B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A2E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4572000" cy="4572000"/>
          </a:xfrm>
          <a:prstGeom prst="ellipse">
            <a:avLst/>
          </a:prstGeom>
          <a:solidFill>
            <a:srgbClr val="1322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A1030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UNLEARNING · FEDERATED SECURITY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Backdoors from Federated Models via Machine Unlearning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adversarial federated learning to practical client-level unlearning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4892040"/>
            <a:ext cx="1554480" cy="0"/>
          </a:xfrm>
          <a:prstGeom prst="line">
            <a:avLst/>
          </a:prstGeom>
          <a:noFill/>
          <a:ln w="25400">
            <a:solidFill>
              <a:srgbClr val="5EA0F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&amp;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111A2E"/>
          </a:solidFill>
          <a:ln w="12700">
            <a:solidFill>
              <a:srgbClr val="1D3A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08760"/>
            <a:ext cx="3108960" cy="292608"/>
          </a:xfrm>
          <a:prstGeom prst="roundRect">
            <a:avLst>
              <a:gd name="adj" fmla="val 18750"/>
            </a:avLst>
          </a:prstGeom>
          <a:solidFill>
            <a:srgbClr val="0E2340"/>
          </a:solidFill>
          <a:ln w="9525">
            <a:solidFill>
              <a:srgbClr val="5EA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RESEARCH QUESTION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572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 we remove the influence of a malicious client from a federated model while preserving useful model knowledge and avoiding the cost of full retraining?"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806440" y="1234440"/>
            <a:ext cx="5897880" cy="777240"/>
          </a:xfrm>
          <a:prstGeom prst="roundRect">
            <a:avLst>
              <a:gd name="adj" fmla="val 9412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035040" y="1234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A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307592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&amp; Tracked Environment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reproducible FL pipeline with historical client update persistence.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2130552"/>
            <a:ext cx="5897880" cy="777240"/>
          </a:xfrm>
          <a:prstGeom prst="roundRect">
            <a:avLst>
              <a:gd name="adj" fmla="val 9412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35040" y="2130552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203704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Backdoor Demonstration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strong single-client backdoor under partial participation.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06440" y="3026664"/>
            <a:ext cx="5897880" cy="777240"/>
          </a:xfrm>
          <a:prstGeom prst="roundRect">
            <a:avLst>
              <a:gd name="adj" fmla="val 9412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035040" y="302666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099816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Reference Baseline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empirical gold standard via complete retraining without the adversary.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06440" y="3922776"/>
            <a:ext cx="5897880" cy="777240"/>
          </a:xfrm>
          <a:prstGeom prst="roundRect">
            <a:avLst>
              <a:gd name="adj" fmla="val 9412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035040" y="3922776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DD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39959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Tri-Metric Unlearning Evaluation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efficient unlearning across Security (ASR), Utility, and Compute Cost.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Federated Environment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Architecture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(10 Classes)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47548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450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Distribution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450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Train / 10k Test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47548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9352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&amp; Channels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9352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× 32 RGB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364992"/>
            <a:ext cx="47548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4198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Neural Network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4198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SmallCNN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849624"/>
            <a:ext cx="47548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904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Seed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3904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MPS · Seed 42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23444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629400" y="1417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Setup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Population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1965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Total Clients (IID)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2395728"/>
            <a:ext cx="47548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2450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per Client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24505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Samples / Client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0" y="2880360"/>
            <a:ext cx="47548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29352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Ratio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006840" y="29352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Selected / Round (50%)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29400" y="3364992"/>
            <a:ext cx="47548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34198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Epochs &amp; Batch Size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006840" y="341985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2 · Batch Size = 64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29400" y="3849624"/>
            <a:ext cx="475488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9400" y="3904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&amp; Schedule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3904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(lr=0.01, mom=0.9, 100 Rds)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008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McMahan et al., 2017 — "Communication-Efficient Learning of Deep Networks from Decentralized Data"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 Training &amp; Update Infrastructure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4904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Clients Pool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IID data/client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41732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1417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108960" y="14904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clients / round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41732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12080" y="1417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03520" y="14904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Epochs · SGD (0.01)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141732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06640" y="1417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7263F"/>
          </a:solidFill>
          <a:ln w="12700">
            <a:solidFill>
              <a:srgbClr val="1D3A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0" y="14904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Deltas Δ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ledger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1417320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0" y="141732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92640" y="14904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Server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1901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checkpoint updated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5349240" cy="2468880"/>
          </a:xfrm>
          <a:prstGeom prst="roundRect">
            <a:avLst>
              <a:gd name="adj" fmla="val 2963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Delta Computation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77240" y="374904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060A1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77240" y="37490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DDE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Δk(t)  =  wk(t+1)  −  wt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66344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participant's displacement from the round starting checkpoint.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306324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58368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Audit Ledger Retained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83680" y="37947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720840" y="3886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Matrix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41788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client presence per round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98280" y="37947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9235440" y="3886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Updates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41788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update tensors Δk(t)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0" y="507492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720840" y="5166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5458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weights at rounds 1..100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98280" y="507492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9235440" y="51663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Weights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235440" y="5458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 client record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Federated Baseline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011680" y="1554480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0E2340"/>
          </a:solidFill>
          <a:ln w="9525">
            <a:solidFill>
              <a:srgbClr val="5EA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0" y="1554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BENCHMARK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01168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EA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69.67</a:t>
            </a:r>
            <a:pPr algn="ctr" indent="0" marL="0">
              <a:buNone/>
            </a:pPr>
            <a:r>
              <a:rPr lang="en-US" sz="2400" b="1" dirty="0">
                <a:solidFill>
                  <a:srgbClr val="5EA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803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821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Accuracy: 69.42% · Full Dataset on Server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single-machine baseline trained over complete CIFAR-10 training partition under identical optimizer parameters.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18120" y="1554480"/>
            <a:ext cx="2331720" cy="292608"/>
          </a:xfrm>
          <a:prstGeom prst="roundRect">
            <a:avLst>
              <a:gd name="adj" fmla="val 18750"/>
            </a:avLst>
          </a:prstGeom>
          <a:solidFill>
            <a:srgbClr val="112A22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1554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FEDERATED TARGET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01168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75.02</a:t>
            </a:r>
            <a:pPr algn="ctr"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880360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CLEAN ACCURACY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1821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Round Accuracy: ~75% · 100 Rounds · 20 Clients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74904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decentralized baseline with partial participation (10/20 clients/round) establishing the expected utility of the federation.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Single-Client Backdoor Threat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1417320" cy="1234440"/>
          </a:xfrm>
          <a:prstGeom prst="roundRect">
            <a:avLst>
              <a:gd name="adj" fmla="val 3704"/>
            </a:avLst>
          </a:prstGeom>
          <a:solidFill>
            <a:srgbClr val="3B82C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✈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Sample (Class 0)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60020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0" y="1600200"/>
            <a:ext cx="1417320" cy="1234440"/>
          </a:xfrm>
          <a:prstGeom prst="roundRect">
            <a:avLst>
              <a:gd name="adj" fmla="val 3704"/>
            </a:avLst>
          </a:prstGeom>
          <a:solidFill>
            <a:srgbClr val="0C1428"/>
          </a:solidFill>
          <a:ln w="15875">
            <a:solidFill>
              <a:srgbClr val="FB7185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2743200" y="1600200"/>
            <a:ext cx="1417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3×3 Patch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76472" y="2450592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 White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600200"/>
            <a:ext cx="411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1051560" cy="1234440"/>
          </a:xfrm>
          <a:prstGeom prst="roundRect">
            <a:avLst>
              <a:gd name="adj" fmla="val 4348"/>
            </a:avLst>
          </a:prstGeom>
          <a:solidFill>
            <a:srgbClr val="3B82C4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6002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✈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5349240" y="246888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→ Target 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3832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BadNets-style pixel injection on CIFAR-10: 3×3 white patch in bottom-right corner.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23444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1A0E14"/>
          </a:solidFill>
          <a:ln w="12700">
            <a:solidFill>
              <a:srgbClr val="5A243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Threat Model Specification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Entity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Client (Client 0)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350008"/>
            <a:ext cx="4937760" cy="0"/>
          </a:xfrm>
          <a:prstGeom prst="line">
            <a:avLst/>
          </a:prstGeom>
          <a:noFill/>
          <a:ln w="12700">
            <a:solidFill>
              <a:srgbClr val="5A243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23957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 Ratio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Local Samples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2779776"/>
            <a:ext cx="4937760" cy="0"/>
          </a:xfrm>
          <a:prstGeom prst="line">
            <a:avLst/>
          </a:prstGeom>
          <a:noFill/>
          <a:ln w="12700">
            <a:solidFill>
              <a:srgbClr val="5A24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2825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2825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(Airplane)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209544"/>
            <a:ext cx="4937760" cy="0"/>
          </a:xfrm>
          <a:prstGeom prst="line">
            <a:avLst/>
          </a:prstGeom>
          <a:noFill/>
          <a:ln w="12700">
            <a:solidFill>
              <a:srgbClr val="5A243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0" y="325526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Onset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2552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30 of 100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3639312"/>
            <a:ext cx="4937760" cy="0"/>
          </a:xfrm>
          <a:prstGeom prst="line">
            <a:avLst/>
          </a:prstGeom>
          <a:noFill/>
          <a:ln w="12700">
            <a:solidFill>
              <a:srgbClr val="5A243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0" y="3685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Mechanism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0" y="36850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Update-manipulated / scaled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4251960"/>
            <a:ext cx="11201400" cy="1005840"/>
          </a:xfrm>
          <a:prstGeom prst="roundRect">
            <a:avLst>
              <a:gd name="adj" fmla="val 7273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22960" y="4251960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Objective:  </a:t>
            </a:r>
            <a:pPr indent="0" marL="0">
              <a:buNone/>
            </a:pPr>
            <a:r>
              <a:rPr lang="en-US" sz="13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Induce targeted predictions on triggered inputs while preserving clean-task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Backdoor Demonstrated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11A2E"/>
          </a:solidFill>
          <a:ln w="12700">
            <a:solidFill>
              <a:srgbClr val="5A243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83080" y="1508760"/>
            <a:ext cx="2788920" cy="292608"/>
          </a:xfrm>
          <a:prstGeom prst="roundRect">
            <a:avLst>
              <a:gd name="adj" fmla="val 18750"/>
            </a:avLst>
          </a:prstGeom>
          <a:solidFill>
            <a:srgbClr val="3A1220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83080" y="15087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EVALUATION METRIC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024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87.26</a:t>
            </a:r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7004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(ASR)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test inputs misclassified into Target Class 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589520" y="1508760"/>
            <a:ext cx="2788920" cy="292608"/>
          </a:xfrm>
          <a:prstGeom prst="roundRect">
            <a:avLst>
              <a:gd name="adj" fmla="val 18750"/>
            </a:avLst>
          </a:prstGeom>
          <a:solidFill>
            <a:srgbClr val="0E2340"/>
          </a:solidFill>
          <a:ln w="9525">
            <a:solidFill>
              <a:srgbClr val="5EA0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15087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PRESERVATION METRIC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92024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EA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≈75</a:t>
            </a:r>
            <a:pPr algn="ctr" indent="0" marL="0">
              <a:buNone/>
            </a:pPr>
            <a:r>
              <a:rPr lang="en-US" sz="2200" b="1" dirty="0">
                <a:solidFill>
                  <a:srgbClr val="5EA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67004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TEST ACCURACY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718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Clean-task performance fully preserved without degradation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11201400" cy="1737360"/>
          </a:xfrm>
          <a:prstGeom prst="roundRect">
            <a:avLst>
              <a:gd name="adj" fmla="val 4211"/>
            </a:avLst>
          </a:prstGeom>
          <a:solidFill>
            <a:srgbClr val="160D12"/>
          </a:solidFill>
          <a:ln w="12700">
            <a:solidFill>
              <a:srgbClr val="5A243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10561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compromised global model retains high clean-task performance while exhibiting strong targeted backdoor behavior.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update-manipulated backdoor is deeply embedded into the federated state without triggering anomaly alerts based on utility collapse. This compromised model becomes the definitive starting point for client-level unlearning.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Counterfactual Reference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160D12"/>
          </a:solidFill>
          <a:ln w="12700">
            <a:solidFill>
              <a:srgbClr val="5A243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46304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3A1220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WORLD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 total participating clients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 0 injects poisoned updates from Rd 30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Results in compromised global parameters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230F17"/>
          </a:solidFill>
          <a:ln w="12700">
            <a:solidFill>
              <a:srgbClr val="5A24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87.26% ASR  ·  ~75% Clean Accuracy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0B1A2C"/>
          </a:solidFill>
          <a:ln w="12700">
            <a:solidFill>
              <a:srgbClr val="1D3A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463040"/>
            <a:ext cx="3931920" cy="292608"/>
          </a:xfrm>
          <a:prstGeom prst="roundRect">
            <a:avLst>
              <a:gd name="adj" fmla="val 18750"/>
            </a:avLst>
          </a:prstGeom>
          <a:solidFill>
            <a:srgbClr val="0E2340"/>
          </a:solidFill>
          <a:ln w="9525">
            <a:solidFill>
              <a:srgbClr val="5EA0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463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WORLD (REFERENCE)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1965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Clients 1–19 only (47,500 training samples)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 0 absent from the beginning (never participated)
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 of 19 selected per round over 100 rounds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31089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0E2A22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31089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3.13% ASR  ·  74.78% Clean Accuracy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526280"/>
            <a:ext cx="11201400" cy="1508760"/>
          </a:xfrm>
          <a:prstGeom prst="roundRect">
            <a:avLst>
              <a:gd name="adj" fmla="val 4848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663440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Role of Counterfactual Retraining
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provides the empirical counterfactual reference that efficient unlearning should approximate. Client 0 data was not redistributed, isolating the clean 19-client training trajectory.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Retraining: Counterfactual Gold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0292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75.18</a:t>
            </a:r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CLEAN ACC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Clean: 74.78%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3756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A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3.13</a:t>
            </a:r>
            <a:pPr algn="ctr" indent="0" marL="0">
              <a:buNone/>
            </a:pPr>
            <a:r>
              <a:rPr lang="en-US" sz="1500" b="1" dirty="0">
                <a:solidFill>
                  <a:srgbClr val="5EA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noise floor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17220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federated rounds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06840" y="128016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06840" y="1417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~4.16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GB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COST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communication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3364992"/>
            <a:ext cx="10561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Benchmark Characteristics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retraining removes the malicious influence effectively, but requires repeating the complete federated training process. It provides the gold-standard upper bound for utility preservation and lower bound for attack suppression against which all unlearning heuristics are assessed.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846320"/>
            <a:ext cx="11201400" cy="1188720"/>
          </a:xfrm>
          <a:prstGeom prst="roundRect">
            <a:avLst>
              <a:gd name="adj" fmla="val 6154"/>
            </a:avLst>
          </a:prstGeom>
          <a:solidFill>
            <a:srgbClr val="231B0A"/>
          </a:solidFill>
          <a:ln w="12700">
            <a:solidFill>
              <a:srgbClr val="4A3B1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4846320"/>
            <a:ext cx="10561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counterfactually ideal, requiring ~30 minutes of re-computation and ~4.16 GB of network transfer per forgotten client makes full retraining unscalable in production federations.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Client-Update Subtraction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Subtraction Formulation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060A1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DDE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Msub  =  Mbackdoor  −  Σ (t∈S0) C0(t)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C0(t) represents the recorded aggregated contribution of Client 0 at round 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349240" cy="2880360"/>
          </a:xfrm>
          <a:prstGeom prst="roundRect">
            <a:avLst>
              <a:gd name="adj" fmla="val 2540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Execution Parameters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65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0 Active Presence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100 Rounds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2441448"/>
            <a:ext cx="493776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4963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Subtracted Influence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4963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Client-0 Updates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2971800"/>
            <a:ext cx="493776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30266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Communication Over Net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3026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 (Server-Side)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3502152"/>
            <a:ext cx="4937760" cy="0"/>
          </a:xfrm>
          <a:prstGeom prst="line">
            <a:avLst/>
          </a:prstGeom>
          <a:noFill/>
          <a:ln w="12700">
            <a:solidFill>
              <a:srgbClr val="2230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5570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Computation Required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3557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Client Participation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34340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2960" y="4343400"/>
            <a:ext cx="10561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Efficiency Advantage: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parameter modification executes in seconds strictly on the central server ledger without contacting edge devices.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008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Fraboni et al., 2024 — "SIFU: Sequential Informed Federated Unlearning"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Backdoor Removed — Utility Collapsed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1645920"/>
        </p:xfrm>
        <a:graphic>
          <a:graphicData uri="http://schemas.openxmlformats.org/drawingml/2006/table">
            <a:tbl>
              <a:tblPr/>
              <a:tblGrid>
                <a:gridCol w="3108960"/>
                <a:gridCol w="2697480"/>
                <a:gridCol w="2697480"/>
                <a:gridCol w="2697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Compromised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Subtraction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Empirical Delta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A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-63.78% (Severe Utility Loss)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Success Rate (ASR)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-87.15% (Complete Removal)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4.85 seconds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bytes network overhead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292608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*Measured on the common 7,500-image evaluation subset.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02920" y="33832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160D12"/>
          </a:solidFill>
          <a:ln w="12700">
            <a:solidFill>
              <a:srgbClr val="5A243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Primary Experimental Observation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9776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historical subtraction completely suppresses the backdoor in our experiment (0.00% ASR), but severely damages clean-task performance (10.53% accuracy — random guessing).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0" y="3383280"/>
            <a:ext cx="5349240" cy="2651760"/>
          </a:xfrm>
          <a:prstGeom prst="roundRect">
            <a:avLst>
              <a:gd name="adj" fmla="val 2759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8368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⇢  Underlying Mechanism (Observed)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9776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training is sequential: later updates are generated from global states already influenced by earlier Client-0 contributions. Direct subtraction therefore does not reproduce the counterfactual retraining trajectory.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Subtraction with KD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4173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A0E14"/>
          </a:solidFill>
          <a:ln w="12700">
            <a:solidFill>
              <a:srgbClr val="5A243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4904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Compromised Model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47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(Soft Logits, T=4)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41732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20440" y="14173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0B1A2C"/>
          </a:solidFill>
          <a:ln w="12700">
            <a:solidFill>
              <a:srgbClr val="1D3A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4904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Clean Proxy Images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947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Unlabeled · Clean CIFAR Subset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141732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63640" y="14904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Subtracted Model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47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(5 Epochs, SGD)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141732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23960" y="141732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0E2A22"/>
          </a:solidFill>
          <a:ln w="12700">
            <a:solidFill>
              <a:srgbClr val="1740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15400" y="149047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Model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1947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Restored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Distillation Hyperparameters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</a:t>
            </a:r>
            <a:pPr indent="0" marL="0">
              <a:buNone/>
            </a:pPr>
            <a:r>
              <a:rPr lang="en-US" sz="11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3756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pPr indent="0" marL="0">
              <a:buNone/>
            </a:pPr>
            <a:r>
              <a:rPr lang="en-US" sz="11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(0.001)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251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Momentum: </a:t>
            </a:r>
            <a:pPr indent="0" marL="0">
              <a:buNone/>
            </a:pPr>
            <a:r>
              <a:rPr lang="en-US" sz="11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33756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Duration: </a:t>
            </a:r>
            <a:pPr indent="0" marL="0">
              <a:buNone/>
            </a:pPr>
            <a:r>
              <a:rPr lang="en-US" sz="11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709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Data: </a:t>
            </a:r>
            <a:pPr indent="0" marL="0">
              <a:buNone/>
            </a:pPr>
            <a:r>
              <a:rPr lang="en-US" sz="11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2.5k Unlabeled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337560" y="4709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</a:t>
            </a:r>
            <a:pPr indent="0" marL="0">
              <a:buNone/>
            </a:pPr>
            <a:r>
              <a:rPr lang="en-US" sz="11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7.5k Disjoint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309360" y="310896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58368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Method Attribution &amp; Scope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7490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Baseline: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Wu, Zhu &amp; Mitra ("Federated Unlearning with Knowledge Distillation").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here as an established reference technique to quantify server-side utility repair following historical subtraction.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008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Ref: Wu, Zhu &amp; Mitra — "Federated Unlearning with Knowledge Distillation"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Knowledge-Distillation Recovery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Accuracy vs KD Epoch  </a:t>
            </a:r>
            <a:pPr indent="0" marL="0">
              <a:buNone/>
            </a:pPr>
            <a:r>
              <a:rPr lang="en-US" sz="130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10.53% → 56.00%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783080"/>
          <a:ext cx="4983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234440"/>
            <a:ext cx="5349240" cy="3246120"/>
          </a:xfrm>
          <a:prstGeom prst="roundRect">
            <a:avLst>
              <a:gd name="adj" fmla="val 2254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0" y="1371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vs KD Epoch  </a:t>
            </a:r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 → 3.09%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92240" y="1783080"/>
          <a:ext cx="4983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4709160"/>
            <a:ext cx="11201400" cy="1463040"/>
          </a:xfrm>
          <a:prstGeom prst="roundRect">
            <a:avLst>
              <a:gd name="adj" fmla="val 5000"/>
            </a:avLst>
          </a:prstGeom>
          <a:solidFill>
            <a:srgbClr val="0E2340"/>
          </a:solidFill>
          <a:ln w="12700">
            <a:solidFill>
              <a:srgbClr val="1D3A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22960" y="4709160"/>
            <a:ext cx="10561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Finding: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recovered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45.47 percentage points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clean accuracy while keeping ASR (3.09%) essentially at the counterfactual retraining floor (3.02%). However, an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18.48 percentage point utility gap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remains.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Experimental Results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201400" cy="1965960"/>
        </p:xfrm>
        <a:graphic>
          <a:graphicData uri="http://schemas.openxmlformats.org/drawingml/2006/table">
            <a:tbl>
              <a:tblPr/>
              <a:tblGrid>
                <a:gridCol w="3291840"/>
                <a:gridCol w="2514600"/>
                <a:gridCol w="2651760"/>
                <a:gridCol w="2743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Model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Success Rate (ASR)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52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Backdoored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EA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 FL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3CC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Subtraction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4.85 s (0 bytes comm)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 + KD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EA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s (0 bytes comm)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Retraining (Gold Ref)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96B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 FL (~4.16 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42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20040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*Common comparison uses a fixed disjoint 7,500-image evaluation subset; earlier headline experiments used the full CIFAR-10 test set.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02920" y="3657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20140" y="379476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C18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2014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SUCCESS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87.15% → 3.09%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663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SUPPRESSION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97680" y="3657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4900" y="379476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C1830"/>
          </a:solidFill>
          <a:ln w="9525">
            <a:solidFill>
              <a:srgbClr val="5EA0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1490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UTILITY REPAIR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A0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10.53% → 56.00%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4663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+45.47% CLEAN ACCURACY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92440" y="3657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111A2E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709660" y="3794760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0C183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709660" y="3794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EFFICIENCY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183880" y="4160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~15 s vs ~30 min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4663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120× EXECUTION SPEEDUP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02920" y="525780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2960" y="5257800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Core Evaluation Takeaway: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unlearning can suppress the backdoor at a fraction of retraining cost, but preserving legitimate model utility remains the key challenge.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&amp; Second-Half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VULNERABILITY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91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client achieves 87.26% ASR while clean accuracy stays normal.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64992" y="11887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02152" y="1298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SEVERE LOSS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1591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update subtraction removes backdoor but collapses utility (10.53%).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27064" y="11887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64224" y="1298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PARTIAL REPAIR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1591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recovers 45.47% accuracy while holding ASR near 3% noise floor.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089136" y="11887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226296" y="1298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REMAINING GAP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226296" y="1591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56.00% remains 18.48 percentage points below retrained reference (74.48%).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606040"/>
            <a:ext cx="11201400" cy="1554480"/>
          </a:xfrm>
          <a:prstGeom prst="roundRect">
            <a:avLst>
              <a:gd name="adj" fmla="val 4706"/>
            </a:avLst>
          </a:prstGeom>
          <a:solidFill>
            <a:srgbClr val="0B1A2C"/>
          </a:solidFill>
          <a:ln w="12700">
            <a:solidFill>
              <a:srgbClr val="1D3A6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2788920"/>
            <a:ext cx="4297680" cy="292608"/>
          </a:xfrm>
          <a:prstGeom prst="roundRect">
            <a:avLst>
              <a:gd name="adj" fmla="val 18750"/>
            </a:avLst>
          </a:prstGeom>
          <a:solidFill>
            <a:srgbClr val="0E2340"/>
          </a:solidFill>
          <a:ln w="9525">
            <a:solidFill>
              <a:srgbClr val="5EA0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7889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RESEARCH QUESTION &amp; WORKING HYPOTHESIS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78240" y="278892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3A1220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0" y="27889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HYPOTHESIS — NOT YET VERIFIED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20040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"Can client influence in partially participating federated learning be modeled more faithfully than as a simple additive collection of historical updates?"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65760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EA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pPr indent="0" marL="0">
              <a:buNone/>
            </a:pPr>
            <a:r>
              <a:rPr lang="en-US" sz="115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influence may be path-dependent because earlier client contributions alter the global states from which later optimization rounds occur.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343400"/>
            <a:ext cx="11201400" cy="1234440"/>
          </a:xfrm>
          <a:prstGeom prst="roundRect">
            <a:avLst>
              <a:gd name="adj" fmla="val 5926"/>
            </a:avLst>
          </a:prstGeom>
          <a:solidFill>
            <a:srgbClr val="0E1526"/>
          </a:solidFill>
          <a:ln w="12700">
            <a:solidFill>
              <a:srgbClr val="2230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1520" y="4453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RESEARCH METHODOLOGY FLOWCHART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80060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800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Unlearning Methods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2167128" y="4800600"/>
            <a:ext cx="82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49424" y="480060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95144" y="4800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Failure Modes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3730752" y="4800600"/>
            <a:ext cx="82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13048" y="480060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58768" y="4800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Attack &amp; Timing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5294376" y="4800600"/>
            <a:ext cx="82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76672" y="480060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22392" y="4800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Non-IID Partitions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800600"/>
            <a:ext cx="82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40296" y="480060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86016" y="4800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Metrics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8421624" y="4800600"/>
            <a:ext cx="82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480060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0C1428"/>
          </a:solidFill>
          <a:ln w="12700">
            <a:solidFill>
              <a:srgbClr val="22304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49640" y="4800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3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Audit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9985248" y="4800600"/>
            <a:ext cx="82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067544" y="4800600"/>
            <a:ext cx="1481328" cy="594360"/>
          </a:xfrm>
          <a:prstGeom prst="roundRect">
            <a:avLst>
              <a:gd name="adj" fmla="val 12308"/>
            </a:avLst>
          </a:prstGeom>
          <a:solidFill>
            <a:srgbClr val="0E2A22"/>
          </a:solidFill>
          <a:ln w="12700">
            <a:solidFill>
              <a:srgbClr val="17402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113264" y="4800600"/>
            <a:ext cx="1389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Method (If Justified)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580644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9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experimental pipeline is now operational; the second half focuses on understanding and closing the gap between efficient unlearning and counterfactual retraining.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2026-09-09T15:50:44Z</dcterms:created>
  <dcterms:modified xsi:type="dcterms:W3CDTF">2026-09-09T15:50:44Z</dcterms:modified>
</cp:coreProperties>
</file>