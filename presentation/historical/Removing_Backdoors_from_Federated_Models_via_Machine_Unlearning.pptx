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Open Sans SemiBold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E4557A-CEB8-452A-A3B2-B42B8639A96D}">
  <a:tblStyle styleId="{5AE4557A-CEB8-452A-A3B2-B42B8639A9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SemiBold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OpenSansSemiBold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Merriweather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OpenSansSemiBold-bold.fntdata"/><Relationship Id="rId18" Type="http://schemas.openxmlformats.org/officeDocument/2006/relationships/font" Target="fonts/Open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95400" y="2007096"/>
            <a:ext cx="9601200" cy="1919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Removing Backdoors from Federated Models via Machine Unlearning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24000" y="4355603"/>
            <a:ext cx="914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Group - 6</a:t>
            </a:r>
            <a:r>
              <a:rPr b="0" i="0" lang="en-US" sz="1800" u="none" cap="none" strike="noStrik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 | </a:t>
            </a:r>
            <a:r>
              <a:rPr lang="en-US" sz="180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ISP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Motivation &amp; Problem Statement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33425" y="1514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09625" y="1514475"/>
            <a:ext cx="10401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Federated Learning (FL)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trains a shared model across many clients without centralizing data — good for privacy, but the server can't fully verify client behavior.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733425" y="25622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2562225"/>
            <a:ext cx="10131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 malicious client can inject a backdoor: the model misclassifies inputs containing a hidden trigger, while behaving normally otherwise — hard to catch via accuracy monitoring.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33425" y="3568952"/>
            <a:ext cx="7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3568952"/>
            <a:ext cx="10064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Standard fix = full retraining without the malicious client → expensive, discards all completed training rounds.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33425" y="46577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4657725"/>
            <a:ext cx="10064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Core question: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can we surgically remove a backdoor from an already-trained FL model without retraining from scratch?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14475"/>
            <a:ext cx="5286375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Background: Federated Learning &amp; Backdoor Attacks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33425" y="1514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09625" y="1514475"/>
            <a:ext cx="9804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clients train locally on private data → send model updates (not data) → server aggregates via FedAvg → repeat over many rounds.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33425" y="25622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09625" y="2562225"/>
            <a:ext cx="9692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Data poisoning attack: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malicious client mislabels samples containing a fixed trigger (e.g., a pixel patch) toward an attacker-chosen class.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33425" y="36099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09625" y="3609975"/>
            <a:ext cx="9511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Model-replacement attack: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malicious client scales its update to dominate aggregation, making the backdoor persist.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33425" y="46577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4657725"/>
            <a:ext cx="975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Distributed backdoor (DBA):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trigger split across multiple colluding clients for extra stealth.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33425" y="541972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09625" y="5419725"/>
            <a:ext cx="9613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Key metric: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Attack Success Rate (ASR) — % of triggered inputs misclassified to the attacker's target.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0225"/>
            <a:ext cx="3492549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800225"/>
            <a:ext cx="3492549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800225"/>
            <a:ext cx="3492549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Background: Machine Unlearning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66775" y="2781300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The Goal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866775" y="319087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Make the model behave as if a client's data/updates had never been used, without full retraining.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45074" y="2781300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Exact vs. Approx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45074" y="3190875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Exact unlearning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(provable, but computationally expensive) vs.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Approximate unlearning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(cheaper, best-effort).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23374" y="2781300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FL Complexity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423374" y="3190875"/>
            <a:ext cx="29019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Client-level unlearning in FL is harder than removing a single data point in centralized ML — the influence is spread across many training rounds.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190750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19075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190750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Related </a:t>
            </a:r>
            <a:r>
              <a:rPr b="1" lang="en-US" sz="3150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</a:t>
            </a: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Work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000125" y="1514475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Bagdasaryan et al. (2020)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— model-replacement backdoor attack on federated learning.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000125" y="2038350"/>
            <a:ext cx="1062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Xie et al. (2020, DBA)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— distributed, stealthier backdoor attack across colluding clients.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000125" y="2562225"/>
            <a:ext cx="10620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Liu et al. (2021, FedEraser)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— reconstructs unlearned model using calibrated historical updates retained at the server; faster than full retraining.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000125" y="3371850"/>
            <a:ext cx="10620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Wu &amp; Zhu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— removes a malicious client's influence via historical-update subtraction plus knowledge distillation, without needing client participation.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00125" y="4181475"/>
            <a:ext cx="10620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BadFU (2026)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— shows unlearning itself can be an attack surface: a dormant backdoor can be activated by a fake unlearning request.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000125" y="4991100"/>
            <a:ext cx="10620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Gap: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The attack side is mature; using client-level unlearning as a rigorous backdoor incident-response benchmark is newer and less standardized.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4781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556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05187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1481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2443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4775835" y="1801415"/>
            <a:ext cx="264033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RESEARCH OBJECTIVE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0" y="2534840"/>
            <a:ext cx="762000" cy="381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524000" y="2953940"/>
            <a:ext cx="9144000" cy="1950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Simulate a realistic FL backdoor attack, apply an unlearning method to remove it, and quantify the trade-off between removal effectiveness, clean-task accuracy, and computational cost versus full retraining.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Proposed Pipeline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1123950" y="3929062"/>
            <a:ext cx="99441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627317" y="4614862"/>
            <a:ext cx="16561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1. Train Baseline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66750" y="4910137"/>
            <a:ext cx="157728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Train clean FL baseline (FedAvg)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2483502" y="3222426"/>
            <a:ext cx="16561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2. Inject Attack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2522934" y="3517701"/>
            <a:ext cx="157728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Inject backdoor via malicious client(s)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339686" y="4614862"/>
            <a:ext cx="16561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3. Confirm Attack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379118" y="4910137"/>
            <a:ext cx="157728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Confirm attack success (ASR ↑, clean accuracy stable)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195871" y="3035796"/>
            <a:ext cx="16561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4. Identify Target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235303" y="3331071"/>
            <a:ext cx="157728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Identify/target the malicious client's contribution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052055" y="4614862"/>
            <a:ext cx="16561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5. Apply Defense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091487" y="4910137"/>
            <a:ext cx="157728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Apply chosen unlearning method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908239" y="3035796"/>
            <a:ext cx="165614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6. Evaluate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947671" y="3331071"/>
            <a:ext cx="157728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Does ASR drop while clean accuracy is preserved?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341090" y="42148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3197274" y="42148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053458" y="42148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909643" y="42148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8765827" y="42148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0622012" y="42148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369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1447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14475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47625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Candidate Attack Designs (for init</a:t>
            </a:r>
            <a:r>
              <a:rPr b="1" lang="en-US" sz="3150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ial </a:t>
            </a: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discussion)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71500" y="4181475"/>
            <a:ext cx="11049000" cy="59055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976092" y="4383243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Recommended path: start with A, upgrade to B once the pipeline is stable, attempt C only if time remains.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4181475"/>
            <a:ext cx="47625" cy="5905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44005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866775" y="1838325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Option A: Simple Trigger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66775" y="2247900"/>
            <a:ext cx="29019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Fixed pixel patch + data poisoning (mislabeled samples at 1–2 malicious clients). Easiest MVP, but weaker attack.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4645074" y="1838325"/>
            <a:ext cx="304709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Option B: Model Replacement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645074" y="254317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Malicious client scales its update to dominate aggregation. More realistic, harder to tune.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423374" y="1838325"/>
            <a:ext cx="3047099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Option C: Distributed (DBA)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423374" y="2543175"/>
            <a:ext cx="29019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Trigger split across colluding clients. Most sophisticated; best as stretch goal.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5405437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514475"/>
            <a:ext cx="5405437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14700"/>
            <a:ext cx="5405437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5062" y="3314700"/>
            <a:ext cx="5405437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Candidate Unlearning Methods (for discussion)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71500" y="5162550"/>
            <a:ext cx="11049000" cy="59055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976092" y="5353050"/>
            <a:ext cx="1066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Recommended path: implement A as baseline, choose B or C as the primary method, keep D as fallback.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71500" y="5162550"/>
            <a:ext cx="47625" cy="5905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6" name="Google Shape;22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538162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771525" y="1743075"/>
            <a:ext cx="525565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Option A: Full Retraining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71525" y="2152650"/>
            <a:ext cx="5005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Mandatory baseline — the gold standard, but computationally expensive.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415087" y="1743075"/>
            <a:ext cx="525565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Option B: FedEraser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415087" y="2152650"/>
            <a:ext cx="5005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Server-retained historical updates + calibration training at remaining clients; established published benchmark.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71525" y="3543300"/>
            <a:ext cx="525565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Option C: Historical Subtraction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71525" y="3952875"/>
            <a:ext cx="5005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Wu &amp; Zhu: server-only, no client re-participation needed, more implementation-heavy.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6415087" y="3543300"/>
            <a:ext cx="525565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Option D: Fine-tuning Fallback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415087" y="3952875"/>
            <a:ext cx="500538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Gradient-ascent fallback — simplest to implement, weaker theoretical guarantee.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Experimental Setup &amp; Evaluation Plan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733425" y="1514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09625" y="15144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Dataset &amp; model: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CIFAR-10 or Fashion-MNIST with a small CNN.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733425" y="2276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809625" y="22764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FL config: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number of clients, IID/non-IID split, FedAvg, number of rounds.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733425" y="3038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09625" y="30384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Attack config: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trigger design, % malicious clients, poison ratio, attack start round.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733425" y="3800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09625" y="38004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Metrics: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ASR, clean accuracy, wall-clock time, communication cost.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496050" y="1514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572250" y="15144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Comparison: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no defense vs. unlearning method vs. naive client removal vs. full retrain.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6496050" y="2276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572250" y="22764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Ablations: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poison ratio, number of malicious clients, attack timing.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496050" y="3038475"/>
            <a:ext cx="76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6572250" y="303847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Success criteria: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ASR near random-guess level, clean accuracy within a few points of the undefended model, cost well below full retraining.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369A1"/>
                </a:solidFill>
                <a:latin typeface="Merriweather"/>
                <a:ea typeface="Merriweather"/>
                <a:cs typeface="Merriweather"/>
                <a:sym typeface="Merriweather"/>
              </a:rPr>
              <a:t>Detailed Timeline (8–10 weeks)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71500" y="11144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23"/>
          <p:cNvGraphicFramePr/>
          <p:nvPr/>
        </p:nvGraphicFramePr>
        <p:xfrm>
          <a:off x="571500" y="1514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{5AE4557A-CEB8-452A-A3B2-B42B8639A96D}</a:tableStyleId>
              </a:tblPr>
              <a:tblGrid>
                <a:gridCol w="1657350"/>
                <a:gridCol w="6076950"/>
                <a:gridCol w="3314700"/>
              </a:tblGrid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Week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Deliverable / Milestone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Literature review, finalize dataset/model/tools, write proposal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–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Build &amp; validate clean FedAvg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Working clean baseline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Implement Attack Option 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First ASR numbers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Tune attack strength, sweep poison ratio/# malicious clients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Stable attack config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Implement retraining baseline + primary unlearning method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Working unlearning code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Apply unlearning to backdoored model, debug/tune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First successful unlearning run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Full 4-way comparison + ablations + multiple seeds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Results with error bars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Stretch goal (adaptive attacker) + start report/slides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Draft report outline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  <a:tr h="48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(If available) polish experiments, sensitivity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Near-final results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Week 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Final report, final slides, rehearsal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Submission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C"/>
                    </a:solidFill>
                  </a:tcPr>
                </a:tc>
              </a:tr>
            </a:tbl>
          </a:graphicData>
        </a:graphic>
      </p:graphicFrame>
      <p:sp>
        <p:nvSpPr>
          <p:cNvPr id="264" name="Google Shape;264;p23"/>
          <p:cNvSpPr/>
          <p:nvPr/>
        </p:nvSpPr>
        <p:spPr>
          <a:xfrm>
            <a:off x="571500" y="19954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2228850" y="1995487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8305800" y="199548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71500" y="247650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2228850" y="2476500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8305800" y="2476500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2957512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2228850" y="2957512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8305800" y="295751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343852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2228850" y="3438525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8305800" y="3438525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" y="391953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2228850" y="3919537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8305800" y="391953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71500" y="440055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2228850" y="4400550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8305800" y="4400550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571500" y="4881562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228850" y="4881562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8305800" y="488156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571500" y="5362575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2228850" y="5362575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8305800" y="5362575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71500" y="5843587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2228850" y="5843587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8305800" y="5843587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571500" y="6324600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2228850" y="6324600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8305800" y="6324600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571500" y="6805612"/>
            <a:ext cx="16573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2228850" y="6805612"/>
            <a:ext cx="6076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8305800" y="6805612"/>
            <a:ext cx="33147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