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65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 and team. One sentence: we simulate a backdoor attack on a federated model, then test whether machine unlearning can remove it without full 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FL in one line, then the backdoor problem. Use the green/red box to show the same model behaving differently depending on the trigger. End on the central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 training loop on the left, then the three attack families on the right. Define ASR clearly since it recurs on later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unlearning, contrast exact vs approximate, and flag the FL-specific difficulty: influence is spread across many rounds, not one data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attack papers (red) establish the threat, defense papers (blue) establish removal techniques, and the newest paper (BadFU) shows unlearning itself can be exploited — a nice segue to our stretch goal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— say the objective slowly and clearly. The three pillars at the bottom are the three numbers we will report for every method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steps left to right. Emphasize this is one continuous pipeline: the same backdoored model produced in step 3 is what gets operated on in steps 4-6.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as a genuine open decision for the discussion. State the recommended path but invite the advisor to weigh in on A vs B vs C as the primary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is mandatory as the gold-standard comparison point regardless of what else we implement. Recommend B or C as primary, with D as a documented fallback if time runs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= what we set up, right = how we judge it. Close on the three success criteria in the bottom band — these are the numbers that will appear in every results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milestone flag as the concrete, checkable deliverable for that phase. Note weeks 9-10 are conditional on semester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risk — advisors respond well to a team that has already thought about failure modes. Close on the contribution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the advisor to weigh in on the three discussion points before wrapping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Relationship Id="rId8" Type="http://schemas.openxmlformats.org/officeDocument/2006/relationships/image" Target="../media/image2.png"/><Relationship Id="rId9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05840"/>
            <a:ext cx="4206240" cy="4206240"/>
          </a:xfrm>
          <a:prstGeom prst="ellipse">
            <a:avLst/>
          </a:prstGeom>
          <a:ln w="12700">
            <a:solidFill>
              <a:srgbClr val="4A6FA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1737360"/>
            <a:ext cx="2743200" cy="2743200"/>
          </a:xfrm>
          <a:prstGeom prst="ellipse">
            <a:avLst/>
          </a:prstGeom>
          <a:ln w="12700">
            <a:solidFill>
              <a:srgbClr val="4A6FA5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2788920"/>
            <a:ext cx="1188720" cy="1188720"/>
          </a:xfrm>
          <a:prstGeom prst="ellipse">
            <a:avLst/>
          </a:prstGeom>
          <a:solidFill>
            <a:srgbClr val="E8542A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deck/assets/icons/Fa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08610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8048" y="3200400"/>
            <a:ext cx="868680" cy="365760"/>
          </a:xfrm>
          <a:prstGeom prst="rightArrow">
            <a:avLst/>
          </a:prstGeom>
          <a:solidFill>
            <a:srgbClr val="CBD8ED">
              <a:alpha val="8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469880" y="2788920"/>
            <a:ext cx="1188720" cy="118872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8" name="Image 1" descr="/home/claude/deck/assets/icons/FaSync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7060" y="308610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057400"/>
            <a:ext cx="7406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Backdoors from Federated Models via Machine Unlearning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9776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a realistic FL backdoor attack — then surgically removing it without retraining from scratch.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5806440"/>
            <a:ext cx="7680960" cy="0"/>
          </a:xfrm>
          <a:prstGeom prst="line">
            <a:avLst/>
          </a:prstGeom>
          <a:noFill/>
          <a:ln w="12700">
            <a:solidFill>
              <a:srgbClr val="4A6FA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943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6 </a:t>
            </a:r>
            <a:r>
              <a:rPr lang="en-US" sz="1250" dirty="0" smtClean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ISP | Mentor: Chirag </a:t>
            </a:r>
            <a:r>
              <a:rPr lang="en-US" sz="1250" dirty="0" err="1" smtClean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Gangta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E854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1" descr="/home/claude/deck/assets/icons/Fa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52019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3898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without full visibility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168249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trains a shared model across many clients without centralizing data — the server can't fully verify client behavior.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1" name="Image 2" descr="/home/claude/deck/assets/icons/Fa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" y="2644902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2514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backdoor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280720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client can inject a backdoor: normal behavior on clean data, misclassification when a hidden trigger is present.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3" descr="/home/claude/deck/assets/icons/FaEye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" y="3769614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36393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detect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188720" y="393192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Stealthy by design — clean-data accuracy stays high, so simple accuracy monitoring won't catch it.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4791456"/>
            <a:ext cx="457200" cy="45720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9" name="Image 4" descr="/home/claude/deck/assets/icons/Fa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" y="4894326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88720" y="476402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is expensive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1188720" y="505663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fix — full retraining without the malicious client — discards every completed training round.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6995160" y="1417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Problem, Visually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995160" y="1828800"/>
            <a:ext cx="4663440" cy="1417320"/>
          </a:xfrm>
          <a:prstGeom prst="roundRect">
            <a:avLst>
              <a:gd name="adj" fmla="val 5806"/>
            </a:avLst>
          </a:prstGeom>
          <a:solidFill>
            <a:srgbClr val="E1F3E9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223760" y="2048256"/>
            <a:ext cx="438912" cy="438912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25" name="Image 5" descr="/home/claude/deck/assets/icons/Fa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2157984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818120" y="20299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Input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781812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correct label</a:t>
            </a:r>
            <a:endParaRPr lang="en-US" sz="1150" dirty="0"/>
          </a:p>
        </p:txBody>
      </p:sp>
      <p:sp>
        <p:nvSpPr>
          <p:cNvPr id="28" name="Text 20"/>
          <p:cNvSpPr txBox="1"/>
          <p:nvPr/>
        </p:nvSpPr>
        <p:spPr>
          <a:xfrm>
            <a:off x="7223760" y="27249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behaves exactly as expected on ordinary, untriggered data.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995160" y="3429000"/>
            <a:ext cx="4663440" cy="1417320"/>
          </a:xfrm>
          <a:prstGeom prst="roundRect">
            <a:avLst>
              <a:gd name="adj" fmla="val 5806"/>
            </a:avLst>
          </a:prstGeom>
          <a:solidFill>
            <a:srgbClr val="FBE1D9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7223760" y="3648456"/>
            <a:ext cx="438912" cy="438912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31" name="Image 6" descr="/home/claude/deck/assets/icons/FaTime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3488" y="3758184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818120" y="36301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Input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781812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attacker's target label</a:t>
            </a:r>
            <a:endParaRPr lang="en-US" sz="1150" dirty="0"/>
          </a:p>
        </p:txBody>
      </p:sp>
      <p:sp>
        <p:nvSpPr>
          <p:cNvPr id="34" name="Text 25"/>
          <p:cNvSpPr txBox="1"/>
          <p:nvPr/>
        </p:nvSpPr>
        <p:spPr>
          <a:xfrm>
            <a:off x="7223760" y="43251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weights — an invisible trigger flips the output.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6995160" y="50749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can we surgically remove just the malicious contribution, without retraining everything?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 &amp; Backdoor Attacks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1520" y="141732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41732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train locally on private data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6596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148840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214884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14884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send model updates to the server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69748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880360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1520" y="288036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88036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aggregates updates (FedAvg)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2900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611880"/>
            <a:ext cx="52120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31520" y="361188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61188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repeats for many rounds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389120"/>
            <a:ext cx="5212080" cy="621792"/>
          </a:xfrm>
          <a:prstGeom prst="roundRect">
            <a:avLst>
              <a:gd name="adj" fmla="val 13235"/>
            </a:avLst>
          </a:prstGeom>
          <a:solidFill>
            <a:srgbClr val="FBE1D9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77240" y="438912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 data + no visibility into client behavior = the attack surface.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24" name="Image 1" descr="/home/claude/deck/assets/icons/Fa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520190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949440" y="13898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6949440" y="1682496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client mislabels samples containing a fixed trigger toward an attacker-chosen class.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309360" y="2542032"/>
            <a:ext cx="457200" cy="45720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28" name="Image 2" descr="/home/claude/deck/assets/icons/FaWeightHang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2644902"/>
            <a:ext cx="251460" cy="25146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949440" y="2514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Replacement / Update-Scaling</a:t>
            </a:r>
            <a:endParaRPr lang="en-US" sz="1350" dirty="0"/>
          </a:p>
        </p:txBody>
      </p:sp>
      <p:sp>
        <p:nvSpPr>
          <p:cNvPr id="30" name="Text 25"/>
          <p:cNvSpPr txBox="1"/>
          <p:nvPr/>
        </p:nvSpPr>
        <p:spPr>
          <a:xfrm>
            <a:off x="6949440" y="2807208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client scales its update to dominate FedAvg aggregation, making the backdoor persist.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309360" y="3666744"/>
            <a:ext cx="457200" cy="45720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32" name="Image 3" descr="/home/claude/deck/assets/icons/Fa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230" y="3769614"/>
            <a:ext cx="251460" cy="25146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49440" y="363931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Backdoor (DBA)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6949440" y="393192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split across multiple colluding clients — stealthier and harder to detect.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309360" y="4828032"/>
            <a:ext cx="5349240" cy="96012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6" name="Text 30"/>
          <p:cNvSpPr txBox="1"/>
          <p:nvPr/>
        </p:nvSpPr>
        <p:spPr>
          <a:xfrm>
            <a:off x="6537960" y="4828032"/>
            <a:ext cx="1371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</a:t>
            </a:r>
            <a:endParaRPr lang="en-US" sz="2600" dirty="0"/>
          </a:p>
        </p:txBody>
      </p:sp>
      <p:sp>
        <p:nvSpPr>
          <p:cNvPr id="37" name="Text 31"/>
          <p:cNvSpPr txBox="1"/>
          <p:nvPr/>
        </p:nvSpPr>
        <p:spPr>
          <a:xfrm>
            <a:off x="7818120" y="4828032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Rate — the % of triggered inputs misclassified to the attacker's target class. Our primary attack-strength metric.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Unlearning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the model behave as if a client's data had never been used —</a:t>
            </a:r>
            <a:endParaRPr lang="en-US" sz="19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paying the cost of full retraining."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9" name="Image 1" descr="/home/claude/deck/assets/icons/Fa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28460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788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Unlearning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2461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Provable removal of the target data/client's influence on the model.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theoretical guarantee, but usually expensive to compute.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63640" y="251460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37960" y="274320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4" name="Image 2" descr="/home/claude/deck/assets/icons/Fa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28460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32320" y="2788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Unlearning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3246120"/>
            <a:ext cx="48463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removal at much lower computational cost.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choice for FL — and the focus of this project.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800600"/>
            <a:ext cx="11109960" cy="960120"/>
          </a:xfrm>
          <a:prstGeom prst="roundRect">
            <a:avLst>
              <a:gd name="adj" fmla="val 8571"/>
            </a:avLst>
          </a:prstGeom>
          <a:solidFill>
            <a:srgbClr val="FBE1D9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9" name="Image 3" descr="/home/claude/deck/assets/icons/Fa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513207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80060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FL-specific challenge:  </a:t>
            </a: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client-level unlearning must remove influence spread across many training rounds — far harder than deleting a single data point in centralized ML.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</a:t>
            </a:r>
            <a:r>
              <a:rPr lang="en-US" sz="2800" b="1" dirty="0" smtClean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deck/assets/icons/Fa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19" y="475031"/>
            <a:ext cx="311810" cy="311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08760" y="2880360"/>
            <a:ext cx="9171432" cy="2286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05840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71600" y="2788920"/>
            <a:ext cx="274320" cy="274320"/>
          </a:xfrm>
          <a:prstGeom prst="ellipse">
            <a:avLst/>
          </a:prstGeom>
          <a:solidFill>
            <a:srgbClr val="E85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Bagdasaryan et al.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576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Model-replacement backdoor attack on FL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298698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64458" y="2788920"/>
            <a:ext cx="274320" cy="274320"/>
          </a:xfrm>
          <a:prstGeom prst="ellipse">
            <a:avLst/>
          </a:prstGeom>
          <a:solidFill>
            <a:srgbClr val="E85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50058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Xie et al. (DBA)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2750058" y="36576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stealthier backdoor across colluding clients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5591556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957316" y="2788920"/>
            <a:ext cx="274320" cy="274320"/>
          </a:xfrm>
          <a:prstGeom prst="ellipse">
            <a:avLst/>
          </a:prstGeom>
          <a:solidFill>
            <a:srgbClr val="4A6F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42916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(FedEraser)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042916" y="36576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historical updates reconstruct the unlearned model, faster than retraining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884414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50174" y="2788920"/>
            <a:ext cx="274320" cy="274320"/>
          </a:xfrm>
          <a:prstGeom prst="ellipse">
            <a:avLst/>
          </a:prstGeom>
          <a:solidFill>
            <a:srgbClr val="4A6F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35774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Wu, Zhu, Mitra &amp; Wang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335774" y="36576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Historical-update subtraction + distillation removes backdoors, server-only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10177272" y="2423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543032" y="2788920"/>
            <a:ext cx="274320" cy="274320"/>
          </a:xfrm>
          <a:prstGeom prst="ellipse">
            <a:avLst/>
          </a:prstGeom>
          <a:solidFill>
            <a:srgbClr val="E8542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28632" y="3246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BadFU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628632" y="36576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unlearning itself can become an attack surface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9474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50" dirty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research on FL is mature — using client-level unlearning as a rigorous backdoor incident-response benchmark is comparatively new.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822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547665" y="1280160"/>
            <a:ext cx="1097280" cy="109728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4" name="Image 0" descr="/home/claude/deck/assets/icons/Fa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985" y="15544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651760"/>
            <a:ext cx="90525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a realistic FL backdoor attack, apply unlearning to remove it, and quantify the trade-off between removal effectiveness, clean-task accuracy, and computational cost — versus full retraining.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2354580" y="489204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7" name="Image 1" descr="/home/claude/deck/assets/icons/Fa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311" y="5025771"/>
            <a:ext cx="326898" cy="32689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577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Removal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5870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↓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250485" y="489204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2" descr="/home/claude/deck/assets/icons/Fa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216" y="5025771"/>
            <a:ext cx="326898" cy="32689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58945" y="5577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Accuracy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358945" y="5870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145475" y="489204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5" name="Image 3" descr="/home/claude/deck/assets/icons/Fa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206" y="5025771"/>
            <a:ext cx="326898" cy="32689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3935" y="55778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253935" y="5870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below retraining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deck/assets/icons/FaProject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19" y="475031"/>
            <a:ext cx="311810" cy="311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65960"/>
            <a:ext cx="822960" cy="8229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7" name="Image 1" descr="/home/claude/deck/assets/icons/Fa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2171700"/>
            <a:ext cx="411480" cy="411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91440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Clean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Baseline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1837944" y="2167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670048" y="1965960"/>
            <a:ext cx="822960" cy="82296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2" name="Image 2" descr="/home/claude/deck/assets/icons/Fa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788" y="21717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651760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2121408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3867912" y="2167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1"/>
          <p:cNvSpPr/>
          <p:nvPr/>
        </p:nvSpPr>
        <p:spPr>
          <a:xfrm>
            <a:off x="4700016" y="1965960"/>
            <a:ext cx="822960" cy="82296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7" name="Image 3" descr="/home/claude/deck/assets/icons/Fa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756" y="217170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681728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151376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Attack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(ASR ↑)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897880" y="2167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6729984" y="1965960"/>
            <a:ext cx="822960" cy="8229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2" name="Image 4" descr="/home/claude/deck/assets/icons/FaSe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5724" y="217170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11696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6181344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Malicious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7927848" y="2167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19"/>
          <p:cNvSpPr/>
          <p:nvPr/>
        </p:nvSpPr>
        <p:spPr>
          <a:xfrm>
            <a:off x="8759952" y="1965960"/>
            <a:ext cx="822960" cy="82296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7" name="Image 5" descr="/home/claude/deck/assets/icons/FaSync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5692" y="217170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741664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8211312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9934956" y="21671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10744200" y="1965960"/>
            <a:ext cx="822960" cy="822960"/>
          </a:xfrm>
          <a:prstGeom prst="ellipse">
            <a:avLst/>
          </a:prstGeom>
          <a:solidFill>
            <a:srgbClr val="2F8F5B"/>
          </a:solidFill>
          <a:ln/>
        </p:spPr>
      </p:sp>
      <p:pic>
        <p:nvPicPr>
          <p:cNvPr id="32" name="Image 6" descr="/home/claude/deck/assets/icons/Fa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49940" y="2171700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725912" y="17099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10195560" y="2926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(ASR ↓, Acc. ↑)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548640" y="3977640"/>
            <a:ext cx="11109960" cy="65836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6" name="Text 27"/>
          <p:cNvSpPr txBox="1"/>
          <p:nvPr/>
        </p:nvSpPr>
        <p:spPr>
          <a:xfrm>
            <a:off x="822960" y="3977640"/>
            <a:ext cx="10561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reproduce a realistic attack.  Steps 4–6 test whether unlearning can undo it without full retraining.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4297680" y="5029200"/>
            <a:ext cx="201168" cy="20116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4590288" y="49651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5669280" y="5029200"/>
            <a:ext cx="201168" cy="201168"/>
          </a:xfrm>
          <a:prstGeom prst="ellipse">
            <a:avLst/>
          </a:prstGeom>
          <a:solidFill>
            <a:srgbClr val="E8542A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5961888" y="49651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7040880" y="5029200"/>
            <a:ext cx="201168" cy="201168"/>
          </a:xfrm>
          <a:prstGeom prst="ellipse">
            <a:avLst/>
          </a:prstGeom>
          <a:solidFill>
            <a:srgbClr val="2F8F5B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7333488" y="496519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OPTIONS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Attack Designs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5" name="Image 0" descr="/home/claude/deck/assets/icons/Fa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19" y="475031"/>
            <a:ext cx="311810" cy="311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8" name="Image 1" descr="/home/claude/deck/assets/icons/Fa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1804797"/>
            <a:ext cx="276606" cy="27660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1709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Trigger + Data Poisoning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pixel-patch trigger; mislabeled samples at 1–2 malicious clients.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858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MVP — fast to implement end-to-end.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44348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46817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attack; may be too easy to remove.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43400" y="146304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8" name="Image 2" descr="/home/claude/deck/assets/icons/FaWeightHang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5157" y="180479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12080" y="1709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Replacement / Update-Scaling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0" y="2606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client scales its update to dominate FedAvg aggregation.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4572000" y="3858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Realistic, FL-specific attack behavior.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0" y="44348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572000" y="46817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tune — too strong is obvious, too weak fails.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138160" y="146304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366760" y="1691640"/>
            <a:ext cx="502920" cy="50292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28" name="Image 3" descr="/home/claude/deck/assets/icons/Fa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9917" y="1804797"/>
            <a:ext cx="276606" cy="27660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006840" y="1709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900684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Backdoor (DBA)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8366760" y="2606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pattern split across multiple colluding clients.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836676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8366760" y="38587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sophisticated — strong stretch-goal material.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8366760" y="44348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8366760" y="46817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complexity may eat into unlearning-side time.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48640" y="5806440"/>
            <a:ext cx="11109960" cy="594360"/>
          </a:xfrm>
          <a:prstGeom prst="roundRect">
            <a:avLst>
              <a:gd name="adj" fmla="val 13846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7" name="Text 31"/>
          <p:cNvSpPr txBox="1"/>
          <p:nvPr/>
        </p:nvSpPr>
        <p:spPr>
          <a:xfrm>
            <a:off x="822960" y="5806440"/>
            <a:ext cx="10561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path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start with A  →  upgrade to B once stable  →  attempt C only if time remains.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OPTIONS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Unlearning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deck/assets/icons/FaSync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19" y="475031"/>
            <a:ext cx="311810" cy="311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8" name="Image 1" descr="/home/claude/deck/assets/icons/Fa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174879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6184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297680" y="160020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4297680" y="16002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BASELINE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185623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Retraining (Baseline)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24028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FedAvg from scratch, excluding the malicious client.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8986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 — guaranteed correct.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— the very cost we want to avoid.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8" name="Image 2" descr="/home/claude/deck/assets/icons/FaSync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17487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040880" y="161848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7040880" y="185623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FedEraser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224028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Server-retained historical updates + calibration training at remaining clients.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446520" y="28986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published benchmark.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6446520" y="324612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stored updates + a short calibration round.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" y="379476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26" name="Image 3" descr="/home/claude/deck/assets/icons/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412623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71600" y="39959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97680" y="397764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E8542A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297680" y="39776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CANDIDATE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371600" y="42336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Subtraction + Distillation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777240" y="46177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malicious client's contribution, then distill on server-side data.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777240" y="52760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Server-only — no client re-participation needed.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777240" y="56235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implementation-heavy; needs server-side data.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217920" y="379476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36" name="Image 4" descr="/home/claude/deck/assets/icons/FaWre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390" y="4126230"/>
            <a:ext cx="251460" cy="25146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040880" y="399592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040880" y="423367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/ Gradient-Ascent Fallback</a:t>
            </a:r>
            <a:endParaRPr lang="en-US" sz="1350" dirty="0"/>
          </a:p>
        </p:txBody>
      </p:sp>
      <p:sp>
        <p:nvSpPr>
          <p:cNvPr id="39" name="Text 32"/>
          <p:cNvSpPr txBox="1"/>
          <p:nvPr/>
        </p:nvSpPr>
        <p:spPr>
          <a:xfrm>
            <a:off x="6446520" y="461772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rounds of fine-tuning on clean data only to wash out the backdoor.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6446520" y="527608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implement — good fallback.</a:t>
            </a:r>
            <a:endParaRPr lang="en-US" sz="950" dirty="0"/>
          </a:p>
        </p:txBody>
      </p:sp>
      <p:sp>
        <p:nvSpPr>
          <p:cNvPr id="41" name="Text 34"/>
          <p:cNvSpPr txBox="1"/>
          <p:nvPr/>
        </p:nvSpPr>
        <p:spPr>
          <a:xfrm>
            <a:off x="6446520" y="562356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  </a:t>
            </a:r>
            <a:r>
              <a:rPr lang="en-US" sz="10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guarantee; may not fully remove it.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 &amp; Evaluation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deck/assets/icons/Fa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19" y="475031"/>
            <a:ext cx="311810" cy="3118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7" name="Image 1" descr="/home/claude/deck/assets/icons/Fa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52019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96596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model: CIFAR-10 (or Fashion-MNIST) with a small CNN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config: number of clients, IID/non-IID split, FedAvg, rounds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config: trigger design, % malicious clients, poison ratio, start round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Attack Success Rate (ASR), clean accuracy, wall-clock time, comms cost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309360" y="1417320"/>
            <a:ext cx="457200" cy="457200"/>
          </a:xfrm>
          <a:prstGeom prst="ellipse">
            <a:avLst/>
          </a:prstGeom>
          <a:solidFill>
            <a:srgbClr val="4A6FA5"/>
          </a:solidFill>
          <a:ln/>
        </p:spPr>
      </p:sp>
      <p:pic>
        <p:nvPicPr>
          <p:cNvPr id="11" name="Image 2" descr="/home/claude/deck/assets/icons/FaClipboard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152019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4944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Plan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6309360" y="1965960"/>
            <a:ext cx="53492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comparison: no defense / unlearning / naive removal / full retrain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Ablations: poison ratio, # malicious clients, attack timing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ASR falls near a random-guess baseline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clean accuracy within a few points of baseline; cost far below full retrain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5029200"/>
            <a:ext cx="11109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31520" y="51389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ASR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0% after unlearning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633265" y="51389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Accuracy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4633265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few points of clean model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8531352" y="513892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&lt;&lt; Cost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531352" y="5669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full retraining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Timeline (8–10 Weeks)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home/claude/deck/assets/icons/FaCalendar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19" y="475031"/>
            <a:ext cx="311810" cy="3118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9961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373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Baseline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377440" y="1554480"/>
            <a:ext cx="1773936" cy="402336"/>
          </a:xfrm>
          <a:prstGeom prst="roundRect">
            <a:avLst>
              <a:gd name="adj" fmla="val 20455"/>
            </a:avLst>
          </a:prstGeom>
          <a:solidFill>
            <a:srgbClr val="4A6FA5"/>
          </a:solidFill>
          <a:ln/>
        </p:spPr>
      </p:sp>
      <p:sp>
        <p:nvSpPr>
          <p:cNvPr id="9" name="Shape 6"/>
          <p:cNvSpPr/>
          <p:nvPr/>
        </p:nvSpPr>
        <p:spPr>
          <a:xfrm>
            <a:off x="3895344" y="1261872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/home/claude/deck/assets/icons/FaFlagCheck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131673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20665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042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Implementation &amp; Tuning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224528" y="2121408"/>
            <a:ext cx="1773936" cy="402336"/>
          </a:xfrm>
          <a:prstGeom prst="roundRect">
            <a:avLst>
              <a:gd name="adj" fmla="val 20455"/>
            </a:avLst>
          </a:prstGeom>
          <a:solidFill>
            <a:srgbClr val="E8542A"/>
          </a:solidFill>
          <a:ln/>
        </p:spPr>
      </p:sp>
      <p:sp>
        <p:nvSpPr>
          <p:cNvPr id="14" name="Shape 10"/>
          <p:cNvSpPr/>
          <p:nvPr/>
        </p:nvSpPr>
        <p:spPr>
          <a:xfrm>
            <a:off x="5742432" y="1828800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/home/claude/deck/assets/icons/FaFlagCheck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883664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8640" y="26334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28712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 Implementation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071616" y="2688336"/>
            <a:ext cx="1773936" cy="402336"/>
          </a:xfrm>
          <a:prstGeom prst="roundRect">
            <a:avLst>
              <a:gd name="adj" fmla="val 20455"/>
            </a:avLst>
          </a:prstGeom>
          <a:solidFill>
            <a:srgbClr val="1B2A4A"/>
          </a:solidFill>
          <a:ln/>
        </p:spPr>
      </p:sp>
      <p:sp>
        <p:nvSpPr>
          <p:cNvPr id="19" name="Shape 14"/>
          <p:cNvSpPr/>
          <p:nvPr/>
        </p:nvSpPr>
        <p:spPr>
          <a:xfrm>
            <a:off x="7589520" y="2395728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3" descr="/home/claude/deck/assets/icons/FaFlagCheck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384" y="2450592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" y="320040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343814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918704" y="3255264"/>
            <a:ext cx="850392" cy="402336"/>
          </a:xfrm>
          <a:prstGeom prst="roundRect">
            <a:avLst>
              <a:gd name="adj" fmla="val 20455"/>
            </a:avLst>
          </a:prstGeom>
          <a:solidFill>
            <a:srgbClr val="2F8F5B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548640" y="37673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00507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 + Report Writing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842248" y="3822192"/>
            <a:ext cx="850392" cy="402336"/>
          </a:xfrm>
          <a:prstGeom prst="roundRect">
            <a:avLst>
              <a:gd name="adj" fmla="val 20455"/>
            </a:avLst>
          </a:prstGeom>
          <a:solidFill>
            <a:srgbClr val="8FA6C9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60515" y="433425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</a:t>
            </a:r>
            <a:r>
              <a:rPr lang="en-US" sz="105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9–10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45720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Finalize, Rehearse, Submit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765792" y="4389120"/>
            <a:ext cx="1773936" cy="402336"/>
          </a:xfrm>
          <a:prstGeom prst="roundRect">
            <a:avLst>
              <a:gd name="adj" fmla="val 20455"/>
            </a:avLst>
          </a:prstGeom>
          <a:solidFill>
            <a:srgbClr val="C7CEDA"/>
          </a:solidFill>
          <a:ln w="12700">
            <a:solidFill>
              <a:srgbClr val="6B7A99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2377440" y="4974336"/>
            <a:ext cx="9235440" cy="18288"/>
          </a:xfrm>
          <a:prstGeom prst="rect">
            <a:avLst/>
          </a:prstGeom>
          <a:solidFill>
            <a:srgbClr val="6B7A99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2377440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3300984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3" name="Text 27"/>
          <p:cNvSpPr txBox="1"/>
          <p:nvPr/>
        </p:nvSpPr>
        <p:spPr>
          <a:xfrm>
            <a:off x="4224528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5148072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29"/>
          <p:cNvSpPr txBox="1"/>
          <p:nvPr/>
        </p:nvSpPr>
        <p:spPr>
          <a:xfrm>
            <a:off x="6071616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Text 30"/>
          <p:cNvSpPr txBox="1"/>
          <p:nvPr/>
        </p:nvSpPr>
        <p:spPr>
          <a:xfrm>
            <a:off x="6995160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7918704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8" name="Text 32"/>
          <p:cNvSpPr txBox="1"/>
          <p:nvPr/>
        </p:nvSpPr>
        <p:spPr>
          <a:xfrm>
            <a:off x="8842248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39" name="Text 33"/>
          <p:cNvSpPr txBox="1"/>
          <p:nvPr/>
        </p:nvSpPr>
        <p:spPr>
          <a:xfrm>
            <a:off x="9765792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0" name="Text 34"/>
          <p:cNvSpPr txBox="1"/>
          <p:nvPr/>
        </p:nvSpPr>
        <p:spPr>
          <a:xfrm>
            <a:off x="10689336" y="5029200"/>
            <a:ext cx="923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118872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4A6FA5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1463040" y="5340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06324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542A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3337560" y="5340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93776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5212080" y="5340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Unlearning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81228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8F5B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7086600" y="5340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8686800" y="53949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FA6C9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8961120" y="5340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Stretch/Report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778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Expected Contribution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09960" y="347472"/>
            <a:ext cx="566928" cy="566928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5" name="Image 0" descr="/home/claude/deck/assets/icons/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19" y="475031"/>
            <a:ext cx="311810" cy="3118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17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943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039112"/>
            <a:ext cx="365760" cy="36576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0" name="Image 1" descr="/home/claude/deck/assets/icons/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214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1984248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too weak/strong to show a meaningful before/after.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2441448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Week 4 specifically for tuning before moving to unlearning.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172968"/>
            <a:ext cx="5943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337560"/>
            <a:ext cx="365760" cy="36576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15" name="Image 2" descr="/home/claude/deck/assets/icons/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41985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82696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unlearning method too complex to finish in time.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739896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D (fine-tuning) documented as a ready fallback.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4471416"/>
            <a:ext cx="594360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9808" y="4636008"/>
            <a:ext cx="365760" cy="36576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20" name="Image 3" descr="/home/claude/deck/assets/icons/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471830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4581144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5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constraints with many clients/rounds.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280160" y="5038344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8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r>
              <a:rPr lang="en-US" sz="11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small-scale (fewer clients/rounds), expand only if time allows.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766560" y="1874520"/>
            <a:ext cx="4937760" cy="3703320"/>
          </a:xfrm>
          <a:prstGeom prst="roundRect">
            <a:avLst>
              <a:gd name="adj" fmla="val 2222"/>
            </a:avLst>
          </a:prstGeom>
          <a:solidFill>
            <a:srgbClr val="1B2A4A"/>
          </a:solidFill>
          <a:ln/>
          <a:effectLst>
            <a:outerShdw blurRad="88900" dist="25400" dir="5400000" algn="bl" rotWithShape="0">
              <a:srgbClr val="1B2A4A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938260" y="2148840"/>
            <a:ext cx="594360" cy="594360"/>
          </a:xfrm>
          <a:prstGeom prst="ellipse">
            <a:avLst/>
          </a:prstGeom>
          <a:solidFill>
            <a:srgbClr val="E8542A"/>
          </a:solidFill>
          <a:ln/>
        </p:spPr>
      </p:sp>
      <p:pic>
        <p:nvPicPr>
          <p:cNvPr id="25" name="Image 4" descr="/home/claude/deck/assets/icons/Fa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850" y="229743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4088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7178040" y="338328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 comparing unlearning effectiveness and cost against full retraining — giving a concrete answer to whether unlearning is a viable incident-response tool for poisoned federated models.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4111237" y="279367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7" name="Text 13"/>
          <p:cNvSpPr txBox="1"/>
          <p:nvPr/>
        </p:nvSpPr>
        <p:spPr>
          <a:xfrm>
            <a:off x="-95003" y="334231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1622</Words>
  <Application>Microsoft Macintosh PowerPoint</Application>
  <PresentationFormat>Widescreen</PresentationFormat>
  <Paragraphs>244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2026-08-27T20:33:51Z</dcterms:created>
  <dcterms:modified xsi:type="dcterms:W3CDTF">2026-08-27T20:43:22Z</dcterms:modified>
</cp:coreProperties>
</file>