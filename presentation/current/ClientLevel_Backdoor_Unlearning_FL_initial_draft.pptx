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re" id="{a3085f29-8848-efd4-ad4d-8966b458b935}">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Lst>
        </p14:section>
        <p14:section name="Appendix" id="{d1841858-297d-b177-7f87-f7d8567b7389}">
          <p14:sldIdLst>
            <p14:sldId id="276"/>
            <p14:sldId id="277"/>
            <p14:sldId id="278"/>
            <p14:sldId id="279"/>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M_clean</c:v>
                </c:pt>
              </c:strCache>
            </c:strRef>
          </c:tx>
          <c:spPr>
            <a:solidFill>
              <a:srgbClr val="6B7C93"/>
            </a:solidFill>
          </c:spPr>
          <c:invertIfNegative val="0"/>
          <c:cat>
            <c:strRef>
              <c:f>Sheet1!$A$2:$A$3</c:f>
              <c:strCache>
                <c:ptCount val="2"/>
                <c:pt idx="0">
                  <c:v>IID</c:v>
                </c:pt>
                <c:pt idx="1">
                  <c:v>Non-IID</c:v>
                </c:pt>
              </c:strCache>
            </c:strRef>
          </c:cat>
          <c:val>
            <c:numRef>
              <c:f>Sheet1!$B$2:$B$3</c:f>
              <c:numCache>
                <c:formatCode>General</c:formatCode>
                <c:ptCount val="2"/>
                <c:pt idx="0">
                  <c:v>75.11</c:v>
                </c:pt>
                <c:pt idx="1">
                  <c:v>70.1</c:v>
                </c:pt>
              </c:numCache>
            </c:numRef>
          </c:val>
        </c:ser>
        <c:ser>
          <c:idx val="1"/>
          <c:order val="1"/>
          <c:tx>
            <c:strRef>
              <c:f>Sheet1!$C$1</c:f>
              <c:strCache>
                <c:ptCount val="1"/>
                <c:pt idx="0">
                  <c:v>M_attack</c:v>
                </c:pt>
              </c:strCache>
            </c:strRef>
          </c:tx>
          <c:spPr>
            <a:solidFill>
              <a:srgbClr val="D62839"/>
            </a:solidFill>
          </c:spPr>
          <c:invertIfNegative val="0"/>
          <c:cat>
            <c:strRef>
              <c:f>Sheet1!$A$2:$A$3</c:f>
              <c:strCache>
                <c:ptCount val="2"/>
                <c:pt idx="0">
                  <c:v>IID</c:v>
                </c:pt>
                <c:pt idx="1">
                  <c:v>Non-IID</c:v>
                </c:pt>
              </c:strCache>
            </c:strRef>
          </c:cat>
          <c:val>
            <c:numRef>
              <c:f>Sheet1!$C$2:$C$3</c:f>
              <c:numCache>
                <c:formatCode>General</c:formatCode>
                <c:ptCount val="2"/>
                <c:pt idx="0">
                  <c:v>75.01</c:v>
                </c:pt>
                <c:pt idx="1">
                  <c:v>69.8</c:v>
                </c:pt>
              </c:numCache>
            </c:numRef>
          </c:val>
        </c:ser>
        <c:dLbls>
          <c:numFmt formatCode="0.00&quot;%&quot;" sourceLinked="0"/>
          <c:txPr>
            <a:bodyPr/>
            <a:lstStyle/>
            <a:p>
              <a:pPr>
                <a:defRPr sz="1200">
                  <a:solidFill>
                    <a:srgbClr val="14213D"/>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6B7280"/>
            </a:solidFill>
          </a:ln>
        </c:spPr>
        <c:txPr>
          <a:bodyPr/>
          <a:lstStyle/>
          <a:p>
            <a:pPr>
              <a:defRPr sz="1400"/>
            </a:pPr>
          </a:p>
        </c:txPr>
        <c:crossAx val="-2113994440"/>
        <c:crosses val="autoZero"/>
        <c:auto val="1"/>
        <c:lblAlgn val="ctr"/>
        <c:lblOffset val="100"/>
        <c:noMultiLvlLbl val="0"/>
      </c:catAx>
      <c:valAx>
        <c:axId val="-2113994440"/>
        <c:scaling>
          <c:max val="100.0"/>
          <c:min val="0.0"/>
        </c:scaling>
        <c:delete val="0"/>
        <c:axPos val="l"/>
        <c:majorGridlines>
          <c:spPr>
            <a:ln w="9525">
              <a:solidFill>
                <a:srgbClr val="E3E7ED"/>
              </a:solidFill>
            </a:ln>
          </c:spPr>
        </c:majorGridlines>
        <c:numFmt formatCode="0&quot;%&quot;" sourceLinked="0"/>
        <c:majorTickMark val="out"/>
        <c:minorTickMark val="none"/>
        <c:tickLblPos val="nextTo"/>
        <c:spPr>
          <a:ln>
            <a:noFill/>
          </a:ln>
        </c:spPr>
        <c:txPr>
          <a:bodyPr/>
          <a:lstStyle/>
          <a:p>
            <a:pPr>
              <a:defRPr sz="1200">
                <a:solidFill>
                  <a:srgbClr val="6B7280"/>
                </a:solidFill>
              </a:defRPr>
            </a:pPr>
          </a:p>
        </c:txPr>
        <c:crossAx val="-2068027336"/>
        <c:crosses val="autoZero"/>
        <c:majorUnit val="25.0"/>
      </c:valAx>
    </c:plotArea>
    <c:legend>
      <c:legendPos val="b"/>
      <c:overlay val="0"/>
      <c:txPr>
        <a:bodyPr/>
        <a:lstStyle/>
        <a:p>
          <a:pPr>
            <a:defRPr sz="1300"/>
          </a:pPr>
        </a:p>
      </c:txPr>
    </c:legend>
    <c:dispBlanksAs val="gap"/>
  </c:chart>
  <c:txPr>
    <a:bodyPr/>
    <a:lstStyle/>
    <a:p>
      <a:pPr>
        <a:defRPr sz="1200">
          <a:solidFill>
            <a:srgbClr val="14213D"/>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M_clean</c:v>
                </c:pt>
              </c:strCache>
            </c:strRef>
          </c:tx>
          <c:spPr>
            <a:solidFill>
              <a:srgbClr val="6B7C93"/>
            </a:solidFill>
          </c:spPr>
          <c:invertIfNegative val="0"/>
          <c:cat>
            <c:strRef>
              <c:f>Sheet1!$A$2:$A$3</c:f>
              <c:strCache>
                <c:ptCount val="2"/>
                <c:pt idx="0">
                  <c:v>IID</c:v>
                </c:pt>
                <c:pt idx="1">
                  <c:v>Non-IID</c:v>
                </c:pt>
              </c:strCache>
            </c:strRef>
          </c:cat>
          <c:val>
            <c:numRef>
              <c:f>Sheet1!$B$2:$B$3</c:f>
              <c:numCache>
                <c:formatCode>General</c:formatCode>
                <c:ptCount val="2"/>
                <c:pt idx="0">
                  <c:v>2.73</c:v>
                </c:pt>
                <c:pt idx="1">
                  <c:v>3.3</c:v>
                </c:pt>
              </c:numCache>
            </c:numRef>
          </c:val>
        </c:ser>
        <c:ser>
          <c:idx val="1"/>
          <c:order val="1"/>
          <c:tx>
            <c:strRef>
              <c:f>Sheet1!$C$1</c:f>
              <c:strCache>
                <c:ptCount val="1"/>
                <c:pt idx="0">
                  <c:v>M_attack</c:v>
                </c:pt>
              </c:strCache>
            </c:strRef>
          </c:tx>
          <c:spPr>
            <a:solidFill>
              <a:srgbClr val="D62839"/>
            </a:solidFill>
          </c:spPr>
          <c:invertIfNegative val="0"/>
          <c:cat>
            <c:strRef>
              <c:f>Sheet1!$A$2:$A$3</c:f>
              <c:strCache>
                <c:ptCount val="2"/>
                <c:pt idx="0">
                  <c:v>IID</c:v>
                </c:pt>
                <c:pt idx="1">
                  <c:v>Non-IID</c:v>
                </c:pt>
              </c:strCache>
            </c:strRef>
          </c:cat>
          <c:val>
            <c:numRef>
              <c:f>Sheet1!$C$2:$C$3</c:f>
              <c:numCache>
                <c:formatCode>General</c:formatCode>
                <c:ptCount val="2"/>
                <c:pt idx="0">
                  <c:v>56.07</c:v>
                </c:pt>
                <c:pt idx="1">
                  <c:v>32.21</c:v>
                </c:pt>
              </c:numCache>
            </c:numRef>
          </c:val>
        </c:ser>
        <c:dLbls>
          <c:numFmt formatCode="0.00&quot;%&quot;" sourceLinked="0"/>
          <c:txPr>
            <a:bodyPr/>
            <a:lstStyle/>
            <a:p>
              <a:pPr>
                <a:defRPr sz="1200">
                  <a:solidFill>
                    <a:srgbClr val="14213D"/>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6B7280"/>
            </a:solidFill>
          </a:ln>
        </c:spPr>
        <c:txPr>
          <a:bodyPr/>
          <a:lstStyle/>
          <a:p>
            <a:pPr>
              <a:defRPr sz="1400"/>
            </a:pPr>
          </a:p>
        </c:txPr>
        <c:crossAx val="-2113994440"/>
        <c:crosses val="autoZero"/>
        <c:auto val="1"/>
        <c:lblAlgn val="ctr"/>
        <c:lblOffset val="100"/>
        <c:noMultiLvlLbl val="0"/>
      </c:catAx>
      <c:valAx>
        <c:axId val="-2113994440"/>
        <c:scaling>
          <c:max val="100.0"/>
          <c:min val="0.0"/>
        </c:scaling>
        <c:delete val="0"/>
        <c:axPos val="l"/>
        <c:majorGridlines>
          <c:spPr>
            <a:ln w="9525">
              <a:solidFill>
                <a:srgbClr val="E3E7ED"/>
              </a:solidFill>
            </a:ln>
          </c:spPr>
        </c:majorGridlines>
        <c:numFmt formatCode="0&quot;%&quot;" sourceLinked="0"/>
        <c:majorTickMark val="out"/>
        <c:minorTickMark val="none"/>
        <c:tickLblPos val="nextTo"/>
        <c:spPr>
          <a:ln>
            <a:noFill/>
          </a:ln>
        </c:spPr>
        <c:txPr>
          <a:bodyPr/>
          <a:lstStyle/>
          <a:p>
            <a:pPr>
              <a:defRPr sz="1200">
                <a:solidFill>
                  <a:srgbClr val="6B7280"/>
                </a:solidFill>
              </a:defRPr>
            </a:pPr>
          </a:p>
        </c:txPr>
        <c:crossAx val="-2068027336"/>
        <c:crosses val="autoZero"/>
        <c:majorUnit val="25.0"/>
      </c:valAx>
    </c:plotArea>
    <c:legend>
      <c:legendPos val="b"/>
      <c:overlay val="0"/>
      <c:txPr>
        <a:bodyPr/>
        <a:lstStyle/>
        <a:p>
          <a:pPr>
            <a:defRPr sz="1300"/>
          </a:pPr>
        </a:p>
      </c:txPr>
    </c:legend>
    <c:dispBlanksAs val="gap"/>
  </c:chart>
  <c:txPr>
    <a:bodyPr/>
    <a:lstStyle/>
    <a:p>
      <a:pPr>
        <a:defRPr sz="1200">
          <a:solidFill>
            <a:srgbClr val="14213D"/>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Clean test examples</c:v>
                </c:pt>
              </c:strCache>
            </c:strRef>
          </c:tx>
          <c:spPr>
            <a:solidFill>
              <a:srgbClr val="6B7C93"/>
            </a:solidFill>
          </c:spPr>
          <c:invertIfNegative val="0"/>
          <c:cat>
            <c:strRef>
              <c:f>Sheet1!$A$2:$A$6</c:f>
              <c:strCache>
                <c:ptCount val="5"/>
                <c:pt idx="0">
                  <c:v>M_attack</c:v>
                </c:pt>
                <c:pt idx="1">
                  <c:v>M_sub</c:v>
                </c:pt>
                <c:pt idx="2">
                  <c:v>M_KD</c:v>
                </c:pt>
                <c:pt idx="3">
                  <c:v>FedEraser Ecal=1</c:v>
                </c:pt>
                <c:pt idx="4">
                  <c:v>FedEraser Ecal=2</c:v>
                </c:pt>
              </c:strCache>
            </c:strRef>
          </c:cat>
          <c:val>
            <c:numRef>
              <c:f>Sheet1!$B$2:$B$6</c:f>
              <c:numCache>
                <c:formatCode>General</c:formatCode>
                <c:ptCount val="5"/>
                <c:pt idx="0">
                  <c:v>92.77</c:v>
                </c:pt>
                <c:pt idx="1">
                  <c:v>76.25</c:v>
                </c:pt>
                <c:pt idx="2">
                  <c:v>88.54</c:v>
                </c:pt>
                <c:pt idx="3">
                  <c:v>84.95</c:v>
                </c:pt>
                <c:pt idx="4">
                  <c:v>89.29</c:v>
                </c:pt>
              </c:numCache>
            </c:numRef>
          </c:val>
        </c:ser>
        <c:ser>
          <c:idx val="1"/>
          <c:order val="1"/>
          <c:tx>
            <c:strRef>
              <c:f>Sheet1!$C$1</c:f>
              <c:strCache>
                <c:ptCount val="1"/>
                <c:pt idx="0">
                  <c:v>Triggered examples</c:v>
                </c:pt>
              </c:strCache>
            </c:strRef>
          </c:tx>
          <c:spPr>
            <a:solidFill>
              <a:srgbClr val="D62839"/>
            </a:solidFill>
          </c:spPr>
          <c:invertIfNegative val="0"/>
          <c:cat>
            <c:strRef>
              <c:f>Sheet1!$A$2:$A$6</c:f>
              <c:strCache>
                <c:ptCount val="5"/>
                <c:pt idx="0">
                  <c:v>M_attack</c:v>
                </c:pt>
                <c:pt idx="1">
                  <c:v>M_sub</c:v>
                </c:pt>
                <c:pt idx="2">
                  <c:v>M_KD</c:v>
                </c:pt>
                <c:pt idx="3">
                  <c:v>FedEraser Ecal=1</c:v>
                </c:pt>
                <c:pt idx="4">
                  <c:v>FedEraser Ecal=2</c:v>
                </c:pt>
              </c:strCache>
            </c:strRef>
          </c:cat>
          <c:val>
            <c:numRef>
              <c:f>Sheet1!$C$2:$C$6</c:f>
              <c:numCache>
                <c:formatCode>General</c:formatCode>
                <c:ptCount val="5"/>
                <c:pt idx="0">
                  <c:v>41.88</c:v>
                </c:pt>
                <c:pt idx="1">
                  <c:v>77.9</c:v>
                </c:pt>
                <c:pt idx="2">
                  <c:v>86.79</c:v>
                </c:pt>
                <c:pt idx="3">
                  <c:v>84.61</c:v>
                </c:pt>
                <c:pt idx="4">
                  <c:v>88.79</c:v>
                </c:pt>
              </c:numCache>
            </c:numRef>
          </c:val>
        </c:ser>
        <c:dLbls>
          <c:numFmt formatCode="0.00&quot;%&quot;" sourceLinked="0"/>
          <c:txPr>
            <a:bodyPr/>
            <a:lstStyle/>
            <a:p>
              <a:pPr>
                <a:defRPr sz="1200">
                  <a:solidFill>
                    <a:srgbClr val="14213D"/>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6B7280"/>
            </a:solidFill>
          </a:ln>
        </c:spPr>
        <c:txPr>
          <a:bodyPr/>
          <a:lstStyle/>
          <a:p>
            <a:pPr>
              <a:defRPr sz="1300"/>
            </a:pPr>
          </a:p>
        </c:txPr>
        <c:crossAx val="-2113994440"/>
        <c:crosses val="autoZero"/>
        <c:auto val="1"/>
        <c:lblAlgn val="ctr"/>
        <c:lblOffset val="100"/>
        <c:noMultiLvlLbl val="0"/>
      </c:catAx>
      <c:valAx>
        <c:axId val="-2113994440"/>
        <c:scaling>
          <c:max val="105.0"/>
          <c:min val="0.0"/>
        </c:scaling>
        <c:delete/>
        <c:axPos val="b"/>
        <c:majorTickMark val="none"/>
        <c:minorTickMark val="none"/>
        <c:tickLblPos val="none"/>
        <c:spPr>
          <a:ln>
            <a:noFill/>
          </a:ln>
        </c:spPr>
        <c:crossAx val="-2068027336"/>
        <c:crosses val="autoZero"/>
      </c:valAx>
    </c:plotArea>
    <c:legend>
      <c:legendPos val="b"/>
      <c:overlay val="0"/>
      <c:txPr>
        <a:bodyPr/>
        <a:lstStyle/>
        <a:p>
          <a:pPr>
            <a:defRPr sz="1300"/>
          </a:pPr>
        </a:p>
      </c:txPr>
    </c:legend>
    <c:dispBlanksAs val="gap"/>
  </c:chart>
  <c:txPr>
    <a:bodyPr/>
    <a:lstStyle/>
    <a:p>
      <a:pPr>
        <a:defRPr sz="1200">
          <a:solidFill>
            <a:srgbClr val="14213D"/>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Clean test examples</c:v>
                </c:pt>
              </c:strCache>
            </c:strRef>
          </c:tx>
          <c:spPr>
            <a:solidFill>
              <a:srgbClr val="6B7C93"/>
            </a:solidFill>
          </c:spPr>
          <c:invertIfNegative val="0"/>
          <c:cat>
            <c:strRef>
              <c:f>Sheet1!$A$2:$A$6</c:f>
              <c:strCache>
                <c:ptCount val="5"/>
                <c:pt idx="0">
                  <c:v>M_attack</c:v>
                </c:pt>
                <c:pt idx="1">
                  <c:v>M_sub</c:v>
                </c:pt>
                <c:pt idx="2">
                  <c:v>M_KD</c:v>
                </c:pt>
                <c:pt idx="3">
                  <c:v>FedEraser Ecal=1</c:v>
                </c:pt>
                <c:pt idx="4">
                  <c:v>FedEraser Ecal=2</c:v>
                </c:pt>
              </c:strCache>
            </c:strRef>
          </c:cat>
          <c:val>
            <c:numRef>
              <c:f>Sheet1!$B$2:$B$6</c:f>
              <c:numCache>
                <c:formatCode>General</c:formatCode>
                <c:ptCount val="5"/>
                <c:pt idx="0">
                  <c:v>90.28</c:v>
                </c:pt>
                <c:pt idx="1">
                  <c:v>35.31</c:v>
                </c:pt>
                <c:pt idx="2">
                  <c:v>78.65</c:v>
                </c:pt>
                <c:pt idx="3">
                  <c:v>85.34</c:v>
                </c:pt>
                <c:pt idx="4">
                  <c:v>88.18</c:v>
                </c:pt>
              </c:numCache>
            </c:numRef>
          </c:val>
        </c:ser>
        <c:ser>
          <c:idx val="1"/>
          <c:order val="1"/>
          <c:tx>
            <c:strRef>
              <c:f>Sheet1!$C$1</c:f>
              <c:strCache>
                <c:ptCount val="1"/>
                <c:pt idx="0">
                  <c:v>Triggered examples</c:v>
                </c:pt>
              </c:strCache>
            </c:strRef>
          </c:tx>
          <c:spPr>
            <a:solidFill>
              <a:srgbClr val="D62839"/>
            </a:solidFill>
          </c:spPr>
          <c:invertIfNegative val="0"/>
          <c:cat>
            <c:strRef>
              <c:f>Sheet1!$A$2:$A$6</c:f>
              <c:strCache>
                <c:ptCount val="5"/>
                <c:pt idx="0">
                  <c:v>M_attack</c:v>
                </c:pt>
                <c:pt idx="1">
                  <c:v>M_sub</c:v>
                </c:pt>
                <c:pt idx="2">
                  <c:v>M_KD</c:v>
                </c:pt>
                <c:pt idx="3">
                  <c:v>FedEraser Ecal=1</c:v>
                </c:pt>
                <c:pt idx="4">
                  <c:v>FedEraser Ecal=2</c:v>
                </c:pt>
              </c:strCache>
            </c:strRef>
          </c:cat>
          <c:val>
            <c:numRef>
              <c:f>Sheet1!$C$2:$C$6</c:f>
              <c:numCache>
                <c:formatCode>General</c:formatCode>
                <c:ptCount val="5"/>
                <c:pt idx="0">
                  <c:v>63.36</c:v>
                </c:pt>
                <c:pt idx="1">
                  <c:v>36.88</c:v>
                </c:pt>
                <c:pt idx="2">
                  <c:v>76.8</c:v>
                </c:pt>
                <c:pt idx="3">
                  <c:v>84.61</c:v>
                </c:pt>
                <c:pt idx="4">
                  <c:v>86.82</c:v>
                </c:pt>
              </c:numCache>
            </c:numRef>
          </c:val>
        </c:ser>
        <c:dLbls>
          <c:numFmt formatCode="0.00&quot;%&quot;" sourceLinked="0"/>
          <c:txPr>
            <a:bodyPr/>
            <a:lstStyle/>
            <a:p>
              <a:pPr>
                <a:defRPr sz="1200">
                  <a:solidFill>
                    <a:srgbClr val="14213D"/>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6B7280"/>
            </a:solidFill>
          </a:ln>
        </c:spPr>
        <c:txPr>
          <a:bodyPr/>
          <a:lstStyle/>
          <a:p>
            <a:pPr>
              <a:defRPr sz="1300"/>
            </a:pPr>
          </a:p>
        </c:txPr>
        <c:crossAx val="-2113994440"/>
        <c:crosses val="autoZero"/>
        <c:auto val="1"/>
        <c:lblAlgn val="ctr"/>
        <c:lblOffset val="100"/>
        <c:noMultiLvlLbl val="0"/>
      </c:catAx>
      <c:valAx>
        <c:axId val="-2113994440"/>
        <c:scaling>
          <c:max val="105.0"/>
          <c:min val="0.0"/>
        </c:scaling>
        <c:delete/>
        <c:axPos val="b"/>
        <c:majorTickMark val="none"/>
        <c:minorTickMark val="none"/>
        <c:tickLblPos val="none"/>
        <c:spPr>
          <a:ln>
            <a:noFill/>
          </a:ln>
        </c:spPr>
        <c:crossAx val="-2068027336"/>
        <c:crosses val="autoZero"/>
      </c:valAx>
    </c:plotArea>
    <c:legend>
      <c:legendPos val="b"/>
      <c:overlay val="0"/>
      <c:txPr>
        <a:bodyPr/>
        <a:lstStyle/>
        <a:p>
          <a:pPr>
            <a:defRPr sz="1300"/>
          </a:pPr>
        </a:p>
      </c:txPr>
    </c:legend>
    <c:dispBlanksAs val="gap"/>
  </c:chart>
  <c:txPr>
    <a:bodyPr/>
    <a:lstStyle/>
    <a:p>
      <a:pPr>
        <a:defRPr sz="1200">
          <a:solidFill>
            <a:srgbClr val="14213D"/>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project studies what happens after a federated model has been backdoored by one malicious client. We compare several ways of reducing that client's influence and ask which ones keep the model useful. The picture shows the setting: ten clients around a central server, with one malicious client in red. This deck is an experimental baseline reconstruction and comparison. It is not a new algorithm, and the final research contribution has not yet been selected. Fill in the presenter, supervisor, institute and date placeholders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messages. First, the backdoor works and is nearly invisible in clean accuracy: ASR, the attack success rate on triggered images, goes from 2.73 to 56.07 percent in the IID setting and from 3.30 to 32.21 percent in the Non-IID setting, while clean accuracy moves by a tenth or three tenths of a point. Second, simply subtracting the malicious client's historical contribution kills the trigger but can wreck utility, especially for Non-IID data. Third, knowledge distillation and FedEraser-style reconstruction recover much of that utility; FedEraser with two calibration epochs is the strongest balance among the settings we tested. Remember the Non-IID evidence comes from one saved partition.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Federated learning lets many clients contribute to one model without sending their raw data to a server. That is attractive, but it also means the server cannot easily see what each client trained on. A malicious client can add a small trigger, here a three by three white patch in the bottom-right corner, to a fraction of its local images and relabel them as Airplane. After training, the shared model learns that the patch means Airplane. The tiles are schematic, not real CIFAR-10 images. Federated learning does not by itself guarantee privacy or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federated round. Step one: every client trains the current global model on its own local data for two epochs. Nine of them, C1 to C9, use clean data. C0 is the attacker and poisons about ten percent of its data with the trigger patch. Step two: all clients send their model updates to the server. Step three: the server aggregates them into a new global model; C0's poisoned update is mixed in with everyone else's. Step four: the new global model is sent back to every client, including C0. The key point is that the attacker is just another participant, so the poison enters through the normal training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is stated in the box. We measure success three ways: does the trigger stop working, does the model stay useful, and how close is it to a counterfactual model that never saw the malicious client. The scope is deliberately narrow: CIFAR-10 with a small CNN, an IID split and one saved Non-IID split, and three families of methods. Importantly, this is baseline reconstruction. The original contribution of the project has not been selected yet; that comes after a focused literature review and gap selection once these baseline results are frozen.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tour of the setup. CIFAR-10 images, a small convolutional network, ten clients, all participating every round, fifty rounds, two local epochs per round with SGD at learning rate 0.01 and momentum 0.9, batch size 64. The project seed recorded is 42. We run two data partitions: IID and a Dirichlet Non-IID partition with alpha 0.5. The training set has 50,000 images spread over the clients and the 10,000-image test set is held out. The Non-IID numbers in this deck come from one saved Dirichlet draw.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intuition for heterogeneity. With IID data every client sees a broadly similar mix of classes. With Non-IID data, drawn here from a Dirichlet distribution, each client's mix is skewed. These bars are a schematic, not the measured client counts; if the saved partition files are supplied we can replace them with an exact client-by-class heatmap. Right: the malicious client C0 holds 5,000 samples in the IID split, about 500 of them poisoned, and 3,597 samples in the saved Non-IID split, about 359 poisoned, which is 7.194 percent of the training set. Bottom: rounds 1 to 29 are clean; the attack is active from round 30 to round 50. Do not confuse this with FedEraser's reconstruction round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metrics, and it is easy to mix them up. Clean accuracy is over all 10,000 test images. ASR, also called TTR, asks: take the 9,000 test images that are not Airplanes, stamp the trigger on them, and count how many get classified as Airplane. UTR is the same question without the trigger, so it tells you the natural rate of false Airplane predictions. Airplane recall uses the 1,000 true Airplane images. Macro-F1 averages F1 over the ten classes. Counterfactual agreement is the share of examples where a model's top prediction matches the M_CF model; it measures similarity of predictions, not accuracy, and it is not proof of erasure. The diagram shows that the evaluation sets are related views, not four separate 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clean accuracy for the clean-trained and the attacked model. They look the same: the drop is 0.10 percentage points in IID and 0.30 in Non-IID. On the right, the same two models measured by ASR, the share of triggered non-Airplane images classified as Airplane. It rises from 2.73 to 56.07 percent in IID and from 3.30 to 32.21 percent in Non-IID. Both charts use the same zero to one hundred scale, so the contrast is not exaggerated. Untriggered false-Airplane rate, UTR, barely changes, so the effect is tied to the trigger. Message: a model can look healthy on clean accuracy and still carry a backdoor. Also note that attacked ASR is lower in Non-IID, so compare within each partition.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model lineage; every later chart uses this color key. M_clean is a baseline trained without the attack. M_attack is the endpoint of the attacked training. From the attacked history we derive three families of candidates. M_sub subtracts C0's stored historical update contribution directly. M_KD starts a student from M_sub and distills from M_attack as teacher using proxy CIFAR-100 images. FedEraser reconstruction rebuilds the training trajectory from the retained clients C1 to C9, using one or two calibration epochs. Finally M_CF is a separate counterfactual branch trained through the rounds without C0. It is a reference point for comparison only. It is not an unlearning method, and it is not automatically a theoretical upper 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simplest baseline. We take the malicious client's stored historical update contribution and subtract it. Then we evaluate. On the trigger it works: ASR falls to 0.24 percent in IID and 0.87 percent in Non-IID. But clean accuracy drops to 66.88 percent in IID and collapses to 28.04 percent in Non-IID. In the saved Non-IID run, four classes, Cat, Deer, Horse and Truck, had zero percent accuracy and were never predicted. That is a property of this run, not a universal claim. The lesson: a very low trigger rate by itself says nothing about whether the model is still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distillation is the second baseline. The student starts from the damaged M_sub weights. The teacher is the attacked model; we feed unlabeled proxy images from CIFAR-100, which are not the CIFAR-10 test data, and ask the student to match the teacher's output probabilities. This recovers utility: 72.82 percent accuracy and 2.40 percent ASR in IID, and 60.36 percent and 3.69 percent in Non-IID. This is an empirical recovery step, not a guarantee. Note the teacher carries the backdoor, so low ASR here is an observed outcome of this procedure, not something we can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FedEraser takes a different route. Instead of editing the final model, it rebuilds the training trajectory without the malicious client. It keeps the stored historical updates from the attacked run, asks the retained clients C1 to C9 to run a short calibration, a few local epochs, to recompute the update direction, and then rescales each recalculated update to the historical magnitude. Aggregating these reconstructed updates gives a model trajectory without C0's participation. The vector picture is intuition only: the grey arrow is the old update, the light teal arrow is the freshly computed direction, and the dark teal arrow is the reconstruction. Ecal is the number of calibration epochs, one or two. With Ecal equals two we see 74.99 percent accuracy and 2.34 percent ASR in IID, and 68.89 and 3.09 in Non-IID. Implementation caveats are in Appendix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point is one model endpoint. Horizontal axis: clean accuracy, higher is better. Vertical axis: ASR, the triggered-target rate, lower is better. So lower right is generally preferable for these two metrics, but this is a two-metric view and we deliberately do not combine them into one score. In IID, the attacked model sits at the top: high accuracy, high ASR. M_sub drops to near zero ASR but at lower accuracy. The recovered models, M_KD and the two FedEraser settings, cluster near the bottom right with the counterfactual reference, so the insets zoom into that cluster with their own axes. In Non-IID, which is one saved partition and one seed, the M_sub point is far to the left, showing the utility collapse, while FedEraser Ecal=2 sits right beside the counterfactual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six IID endpoints with the five main metrics. The attacked model has 56 percent ASR. M_sub has the lowest ASR, 0.24 percent, but pays with accuracy of 66.88 and an Airplane recall of only 40.6 percent. M_KD and both FedEraser settings bring ASR down to between 2 and 3 percent. FedEraser Ecal=2 is close to the counterfactual reference on accuracy and Macro-F1 and has a slightly lower ASR in this run, 2.34 against 3.01, but its Airplane recall is lower, 78.6 against 82.4. So it is close, not identical. The macro-F1 for M_attack is recorded approximately, 74.8 percent. The complete record including agreement columns is in Appendix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six endpoints for the saved Non-IID partition. The table shows the direct subtraction failure in numbers: M_sub has only 28.04 percent clean accuracy, 14.2 percent Airplane recall and a Macro-F1 of 17.10. Below, a dot plot shows only clean accuracy, with each endpoint evaluated independently. This is not a waterfall and the gains are not cumulative: each is simply the difference from M_sub. M_KD recovers 32.32 points, FedEraser Ecal=1 37.71, Ecal=2 40.85, and the counterfactual reference 41.60. The attacked model at 69.80 percent is shown in red only for context; it is not a safe recovery endpoint because its ASR is 32 percent. All of this is one saved Dirichlet partition and one seed, so we should not generalize to all Non-IID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close are the recovered models to the counterfactual reference? For each model we count how often its top prediction matches M_CF, on clean test examples in grey and on triggered examples in red. The attacked model agrees with M_CF on 92.77 percent of clean IID examples but only 41.88 percent of triggered ones: the trigger is where it differs. M_sub has low agreement, particularly in Non-IID where it is about 35 percent. KD and FedEraser sit in between and Ecal=2 beats Ecal=1 on both populations in both partitions. Remember this metric is prediction agreement. It is not accuracy, and it does not prove that every training influence from C0 was erased. M_CF has no bar because it would trivially agree with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lesson in timer boundaries, not a speed ranking. The historical timer for M_CF includes repeated evaluation inside the training loop, on the clean, triggered and untriggered populations every round, about 28,000 evaluation examples per round, plus final evaluation and possibly saving. The FedEraser numbers are reconstruction-loop times including reading saved update files; they are not end-to-end training times. Because these timers cover different things, they cannot be compared directly. To get a fair comparison we ran a controlled microbenchmark of local compute only: three rounds, nine retained clients, two local epochs, excluding aggregation and evaluation. M_CF-style local training took 75.079 seconds and FedEraser's local training plus calibration plus saved-delta reads took 75.821, of which 0.207 seconds was file I/O. Per client-epoch that is 1.39036 versus 1.40409 seconds. We do not claim an end-to-end speedup. The full time ledger is in Appendix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evidence-grounded takeaways, each qualified with in these runs. One: clean accuracy can hide a backdoor; the accuracy changes were a tenth and three tenths of a point while ASR jumped by 53 and 29 points. Two: a low trigger rate is not enough; the direct subtraction baseline suppresses the trigger but loses a lot of utility, dramatically so in Non-IID. Three: among the settings we tested, FedEraser with two calibration epochs gives a strong observed balance and approaches the counterfactual reference without being identical on every metric. A word of caution about comparing partitions: the Non-IID clean models are less accurate and the attack is less successful than in IID, so compare methods within a partition rather than across them. We make no claims of statistical significance or guaranteed erasure.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Limitations first. The Non-IID results rest on a single saved partition and one seed. We only used CIFAR-10 and a small CNN. Each method has its own failure modes, and the timing records have different boundaries. And one reproducibility detail remains to be resolved: FedEraser's seeding expression uses Python's built-in hash, which can be randomized per process unless PYTHONHASHSEED is controlled, so we are not promising cross-process determinism yet. The baselines are now frozen. The next steps in order are: a reproducibility and artifact audit; a focused literature review to identify an evidence-backed research gap; choosing a contribution; then multiple seeds and partition draws; and, if scope allows, more datasets, models and protocols. We have not claimed that the research gap is already established. Verified references will be added after the literature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material. Use these slides to answer detailed questions about exact values, implementation details, metric definitions and timing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Complete Phase 1 table exactly as recorded, with the two derived differences.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Complete IID Phase 2 table. Every metric column is shown, including the less favorable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Complete Non-IID Phase 2 table. These are results from one saved partition and one seed.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details of the final corrected FedEraser runs. Two points to state carefully: the scaling granularity is this project's interpretation, and cross-process determinism is not claimed because Python's hash may be randomized per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answer detailed metric questions. Remember the evaluation populations are related views, not four disjoint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timing ledger. Historical full-run timers, reconstruction-loop timers and the controlled local-compute benchmark each cover different work, so none of the rows should be read as a speed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1672" cy="731520"/>
          </a:xfrm>
          <a:prstGeom prst="rect">
            <a:avLst/>
          </a:prstGeom>
          <a:noFill/>
          <a:ln/>
        </p:spPr>
        <p:txBody>
          <a:bodyPr wrap="square" rtlCol="0"/>
          <a:lstStyle>
            <a:lvl1pPr algn="l" indent="0" marL="0">
              <a:buNone/>
              <a:defRPr lang="en-US" sz="3000" b="1" dirty="0">
                <a:solidFill>
                  <a:srgbClr val="14213D"/>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3" name="Text 0"/>
          <p:cNvSpPr/>
          <p:nvPr/>
        </p:nvSpPr>
        <p:spPr>
          <a:xfrm>
            <a:off x="548640" y="6473952"/>
            <a:ext cx="8229600" cy="256032"/>
          </a:xfrm>
          <a:prstGeom prst="rect">
            <a:avLst/>
          </a:prstGeom>
          <a:noFill/>
          <a:ln/>
        </p:spPr>
        <p:txBody>
          <a:bodyPr wrap="square" lIns="0" tIns="0" rIns="0" bIns="0" rtlCol="0" anchor="ctr"/>
          <a:lstStyle/>
          <a:p>
            <a:pPr indent="0" marL="0">
              <a:buNone/>
            </a:pPr>
            <a:r>
              <a:rPr lang="en-US" sz="1000" dirty="0">
                <a:solidFill>
                  <a:srgbClr val="7A8394"/>
                </a:solidFill>
                <a:latin typeface="Arial" pitchFamily="34" charset="0"/>
                <a:ea typeface="Arial" pitchFamily="34" charset="-122"/>
                <a:cs typeface="Arial" pitchFamily="34" charset="-120"/>
              </a:rPr>
              <a:t>Client-Level Backdoor Unlearning in Federated Learning · initial draft</a:t>
            </a:r>
            <a:endParaRPr lang="en-US" sz="100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A8394"/>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309360" cy="2011680"/>
          </a:xfrm>
          <a:prstGeom prst="rect">
            <a:avLst/>
          </a:prstGeom>
          <a:noFill/>
          <a:ln/>
        </p:spPr>
        <p:txBody>
          <a:bodyPr wrap="square" rtlCol="0"/>
          <a:lstStyle>
            <a:lvl1pPr algn="l" indent="0" marL="0">
              <a:buNone/>
              <a:defRPr lang="en-US" sz="3800" b="1" dirty="0">
                <a:solidFill>
                  <a:srgbClr val="FFFFFF"/>
                </a:solidFill>
                <a:latin typeface="Arial" pitchFamily="34" charset="0"/>
                <a:ea typeface="Arial" pitchFamily="34" charset="-122"/>
                <a:cs typeface="Arial" pitchFamily="34" charset="-120"/>
              </a:defRPr>
            </a:lvl1pPr>
          </a:lstStyle>
          <a:p>
            <a:pPr algn="l" indent="0" marL="0">
              <a:buNone/>
            </a:pPr>
            <a:endParaRPr lang="en-US" sz="3800" dirty="0"/>
          </a:p>
        </p:txBody>
      </p:sp>
      <p:sp>
        <p:nvSpPr>
          <p:cNvPr id="3" name="Text 0"/>
          <p:cNvSpPr/>
          <p:nvPr>
            <p:ph idx="101" type="body" hasCustomPrompt="1"/>
          </p:nvPr>
        </p:nvSpPr>
        <p:spPr>
          <a:xfrm>
            <a:off x="731520" y="3611880"/>
            <a:ext cx="5669280" cy="822960"/>
          </a:xfrm>
          <a:prstGeom prst="rect">
            <a:avLst/>
          </a:prstGeom>
          <a:noFill/>
          <a:ln/>
        </p:spPr>
        <p:txBody>
          <a:bodyPr wrap="square" rtlCol="0"/>
          <a:lstStyle>
            <a:lvl1pPr algn="l" indent="0" marL="0">
              <a:buNone/>
              <a:defRPr lang="en-US" sz="2000" dirty="0">
                <a:solidFill>
                  <a:srgbClr val="C9D1DE"/>
                </a:solidFill>
                <a:latin typeface="Arial" pitchFamily="34" charset="0"/>
                <a:ea typeface="Arial" pitchFamily="34" charset="-122"/>
                <a:cs typeface="Arial" pitchFamily="34" charset="-120"/>
              </a:defRPr>
            </a:lvl1pPr>
          </a:lstStyle>
          <a:p>
            <a:pPr algn="l"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VIDER">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94560"/>
            <a:ext cx="10515600" cy="1097280"/>
          </a:xfrm>
          <a:prstGeom prst="rect">
            <a:avLst/>
          </a:prstGeom>
          <a:noFill/>
          <a:ln/>
        </p:spPr>
        <p:txBody>
          <a:bodyPr wrap="square" rtlCol="0"/>
          <a:lstStyle>
            <a:lvl1pPr algn="l" indent="0" marL="0">
              <a:buNone/>
              <a:defRPr lang="en-US" sz="4400" b="1" dirty="0">
                <a:solidFill>
                  <a:srgbClr val="FFFFFF"/>
                </a:solidFill>
                <a:latin typeface="Arial" pitchFamily="34" charset="0"/>
                <a:ea typeface="Arial" pitchFamily="34" charset="-122"/>
                <a:cs typeface="Arial" pitchFamily="34" charset="-120"/>
              </a:defRPr>
            </a:lvl1pPr>
          </a:lstStyle>
          <a:p>
            <a:pPr algn="l" indent="0" marL="0">
              <a:buNone/>
            </a:pPr>
            <a:endParaRPr lang="en-US" sz="4400" dirty="0"/>
          </a:p>
        </p:txBody>
      </p:sp>
      <p:sp>
        <p:nvSpPr>
          <p:cNvPr id="3" name="Text 0"/>
          <p:cNvSpPr/>
          <p:nvPr>
            <p:ph idx="101" type="body" hasCustomPrompt="1"/>
          </p:nvPr>
        </p:nvSpPr>
        <p:spPr>
          <a:xfrm>
            <a:off x="731520" y="3383280"/>
            <a:ext cx="10515600" cy="1097280"/>
          </a:xfrm>
          <a:prstGeom prst="rect">
            <a:avLst/>
          </a:prstGeom>
          <a:noFill/>
          <a:ln/>
        </p:spPr>
        <p:txBody>
          <a:bodyPr wrap="square" rtlCol="0"/>
          <a:lstStyle>
            <a:lvl1pPr algn="l" indent="0" marL="0">
              <a:buNone/>
              <a:defRPr lang="en-US" sz="2000" dirty="0">
                <a:solidFill>
                  <a:srgbClr val="C9D1DE"/>
                </a:solidFill>
                <a:latin typeface="Arial" pitchFamily="34" charset="0"/>
                <a:ea typeface="Arial" pitchFamily="34" charset="-122"/>
                <a:cs typeface="Arial" pitchFamily="34" charset="-120"/>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A8394"/>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chart" Target="../charts/chart1.xml"/><Relationship Id="rId4" Type="http://schemas.openxmlformats.org/officeDocument/2006/relationships/chart" Target="../charts/char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chart" Target="../charts/chart3.xml"/><Relationship Id="rId4" Type="http://schemas.openxmlformats.org/officeDocument/2006/relationships/chart" Target="../charts/char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309360" cy="2011680"/>
          </a:xfrm>
          <a:prstGeom prst="rect">
            <a:avLst/>
          </a:prstGeom>
          <a:noFill/>
          <a:ln/>
        </p:spPr>
        <p:txBody>
          <a:bodyPr wrap="square" lIns="0" tIns="0" rIns="0" bIns="0" rtlCol="0" anchor="t"/>
          <a:lstStyle/>
          <a:p>
            <a:pPr algn="l" indent="0" marL="0">
              <a:buNone/>
            </a:pPr>
            <a:r>
              <a:rPr lang="en-US" sz="3800" b="1" dirty="0">
                <a:solidFill>
                  <a:srgbClr val="FFFFFF"/>
                </a:solidFill>
                <a:latin typeface="Arial" pitchFamily="34" charset="0"/>
                <a:ea typeface="Arial" pitchFamily="34" charset="-122"/>
                <a:cs typeface="Arial" pitchFamily="34" charset="-120"/>
              </a:rPr>
              <a:t>Client-Level Backdoor Unlearning in Federated Learning</a:t>
            </a:r>
            <a:endParaRPr lang="en-US" sz="3800" dirty="0"/>
          </a:p>
        </p:txBody>
      </p:sp>
      <p:sp>
        <p:nvSpPr>
          <p:cNvPr id="3" name="Text 0"/>
          <p:cNvSpPr/>
          <p:nvPr>
            <p:ph idx="101" type="body" hasCustomPrompt="1"/>
          </p:nvPr>
        </p:nvSpPr>
        <p:spPr>
          <a:xfrm>
            <a:off x="731520" y="3611880"/>
            <a:ext cx="5669280" cy="822960"/>
          </a:xfrm>
          <a:prstGeom prst="rect">
            <a:avLst/>
          </a:prstGeom>
          <a:noFill/>
          <a:ln/>
        </p:spPr>
        <p:txBody>
          <a:bodyPr wrap="square" lIns="0" tIns="0" rIns="0" bIns="0" rtlCol="0" anchor="t"/>
          <a:lstStyle/>
          <a:p>
            <a:pPr algn="l" indent="0" marL="0">
              <a:buNone/>
            </a:pPr>
            <a:r>
              <a:rPr lang="en-US" sz="2000" dirty="0">
                <a:solidFill>
                  <a:srgbClr val="C9D1DE"/>
                </a:solidFill>
                <a:latin typeface="Arial" pitchFamily="34" charset="0"/>
                <a:ea typeface="Arial" pitchFamily="34" charset="-122"/>
                <a:cs typeface="Arial" pitchFamily="34" charset="-120"/>
              </a:rPr>
              <a:t>Experimental comparison under IID and Non-IID client data</a:t>
            </a:r>
            <a:endParaRPr lang="en-US" sz="2000" dirty="0"/>
          </a:p>
        </p:txBody>
      </p:sp>
      <p:sp>
        <p:nvSpPr>
          <p:cNvPr id="4" name="Text 2"/>
          <p:cNvSpPr txBox="1"/>
          <p:nvPr/>
        </p:nvSpPr>
        <p:spPr>
          <a:xfrm>
            <a:off x="731520" y="4572000"/>
            <a:ext cx="6035040" cy="1280160"/>
          </a:xfrm>
          <a:prstGeom prst="rect">
            <a:avLst/>
          </a:prstGeom>
          <a:noFill/>
          <a:ln/>
        </p:spPr>
        <p:txBody>
          <a:bodyPr wrap="square" lIns="0" tIns="0" rIns="0" bIns="0" rtlCol="0" anchor="t"/>
          <a:lstStyle/>
          <a:p>
            <a:pPr indent="0" marL="0">
              <a:spcAft>
                <a:spcPts val="400"/>
              </a:spcAft>
              <a:buNone/>
            </a:pPr>
            <a:r>
              <a:rPr lang="en-US" sz="1800" dirty="0">
                <a:solidFill>
                  <a:srgbClr val="C9D1DE"/>
                </a:solidFill>
                <a:latin typeface="Arial" pitchFamily="34" charset="0"/>
                <a:ea typeface="Arial" pitchFamily="34" charset="-122"/>
                <a:cs typeface="Arial" pitchFamily="34" charset="-120"/>
              </a:rPr>
              <a:t>[Presenter name(s)]</a:t>
            </a:r>
            <a:endParaRPr lang="en-US" sz="1800" dirty="0"/>
          </a:p>
          <a:p>
            <a:pPr indent="0" marL="0">
              <a:spcAft>
                <a:spcPts val="400"/>
              </a:spcAft>
              <a:buNone/>
            </a:pPr>
            <a:r>
              <a:rPr lang="en-US" sz="1800" dirty="0">
                <a:solidFill>
                  <a:srgbClr val="C9D1DE"/>
                </a:solidFill>
                <a:latin typeface="Arial" pitchFamily="34" charset="0"/>
                <a:ea typeface="Arial" pitchFamily="34" charset="-122"/>
                <a:cs typeface="Arial" pitchFamily="34" charset="-120"/>
              </a:rPr>
              <a:t>[Supervisor(s)]</a:t>
            </a:r>
            <a:endParaRPr lang="en-US" sz="1800" dirty="0"/>
          </a:p>
          <a:p>
            <a:pPr indent="0" marL="0">
              <a:spcAft>
                <a:spcPts val="400"/>
              </a:spcAft>
              <a:buNone/>
            </a:pPr>
            <a:r>
              <a:rPr lang="en-US" sz="1800" dirty="0">
                <a:solidFill>
                  <a:srgbClr val="C9D1DE"/>
                </a:solidFill>
                <a:latin typeface="Arial" pitchFamily="34" charset="0"/>
                <a:ea typeface="Arial" pitchFamily="34" charset="-122"/>
                <a:cs typeface="Arial" pitchFamily="34" charset="-120"/>
              </a:rPr>
              <a:t>[Institute / course]</a:t>
            </a:r>
            <a:endParaRPr lang="en-US" sz="1800" dirty="0"/>
          </a:p>
          <a:p>
            <a:pPr indent="0" marL="0">
              <a:spcAft>
                <a:spcPts val="400"/>
              </a:spcAft>
              <a:buNone/>
            </a:pPr>
            <a:r>
              <a:rPr lang="en-US" sz="1800" dirty="0">
                <a:solidFill>
                  <a:srgbClr val="C9D1DE"/>
                </a:solidFill>
                <a:latin typeface="Arial" pitchFamily="34" charset="0"/>
                <a:ea typeface="Arial" pitchFamily="34" charset="-122"/>
                <a:cs typeface="Arial" pitchFamily="34" charset="-120"/>
              </a:rPr>
              <a:t>[Date]</a:t>
            </a:r>
            <a:endParaRPr lang="en-US" sz="1800" dirty="0"/>
          </a:p>
        </p:txBody>
      </p:sp>
      <p:sp>
        <p:nvSpPr>
          <p:cNvPr id="5" name="Text 3"/>
          <p:cNvSpPr txBox="1"/>
          <p:nvPr/>
        </p:nvSpPr>
        <p:spPr>
          <a:xfrm>
            <a:off x="731520" y="6126480"/>
            <a:ext cx="6400800" cy="274320"/>
          </a:xfrm>
          <a:prstGeom prst="rect">
            <a:avLst/>
          </a:prstGeom>
          <a:noFill/>
          <a:ln/>
        </p:spPr>
        <p:txBody>
          <a:bodyPr wrap="square" lIns="0" tIns="0" rIns="0" bIns="0" rtlCol="0" anchor="t"/>
          <a:lstStyle/>
          <a:p>
            <a:pPr indent="0" marL="0">
              <a:buNone/>
            </a:pPr>
            <a:r>
              <a:rPr lang="en-US" sz="1300" dirty="0">
                <a:solidFill>
                  <a:srgbClr val="8FA0BA"/>
                </a:solidFill>
                <a:latin typeface="Arial" pitchFamily="34" charset="0"/>
                <a:ea typeface="Arial" pitchFamily="34" charset="-122"/>
                <a:cs typeface="Arial" pitchFamily="34" charset="-120"/>
              </a:rPr>
              <a:t>Initial draft · experimental baseline reconstruction and comparison</a:t>
            </a:r>
            <a:endParaRPr lang="en-US" sz="1300" dirty="0"/>
          </a:p>
        </p:txBody>
      </p:sp>
      <p:sp>
        <p:nvSpPr>
          <p:cNvPr id="6" name="Shape 4"/>
          <p:cNvSpPr/>
          <p:nvPr/>
        </p:nvSpPr>
        <p:spPr>
          <a:xfrm flipV="1">
            <a:off x="9281160" y="1600200"/>
            <a:ext cx="0" cy="1261872"/>
          </a:xfrm>
          <a:prstGeom prst="line">
            <a:avLst/>
          </a:prstGeom>
          <a:noFill/>
          <a:ln w="31750">
            <a:solidFill>
              <a:srgbClr val="D62839"/>
            </a:solidFill>
            <a:prstDash val="solid"/>
          </a:ln>
        </p:spPr>
      </p:sp>
      <p:sp>
        <p:nvSpPr>
          <p:cNvPr id="7" name="Text 5"/>
          <p:cNvSpPr txBox="1"/>
          <p:nvPr/>
        </p:nvSpPr>
        <p:spPr>
          <a:xfrm>
            <a:off x="9006840" y="1051560"/>
            <a:ext cx="548640" cy="548640"/>
          </a:xfrm>
          <a:prstGeom prst="ellipse">
            <a:avLst/>
          </a:prstGeom>
          <a:solidFill>
            <a:srgbClr val="D62839"/>
          </a:solidFill>
          <a:ln w="19050">
            <a:solidFill>
              <a:srgbClr val="FFFFFF"/>
            </a:solidFill>
            <a:prstDash val="solid"/>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C0</a:t>
            </a:r>
            <a:endParaRPr lang="en-US" sz="1400" dirty="0"/>
          </a:p>
        </p:txBody>
      </p:sp>
      <p:sp>
        <p:nvSpPr>
          <p:cNvPr id="8" name="Shape 6"/>
          <p:cNvSpPr/>
          <p:nvPr/>
        </p:nvSpPr>
        <p:spPr>
          <a:xfrm flipV="1">
            <a:off x="9614392" y="1949470"/>
            <a:ext cx="741710" cy="1020876"/>
          </a:xfrm>
          <a:prstGeom prst="line">
            <a:avLst/>
          </a:prstGeom>
          <a:noFill/>
          <a:ln w="19050">
            <a:solidFill>
              <a:srgbClr val="5D7396"/>
            </a:solidFill>
            <a:prstDash val="solid"/>
          </a:ln>
        </p:spPr>
      </p:sp>
      <p:sp>
        <p:nvSpPr>
          <p:cNvPr id="9" name="Text 7"/>
          <p:cNvSpPr txBox="1"/>
          <p:nvPr/>
        </p:nvSpPr>
        <p:spPr>
          <a:xfrm>
            <a:off x="10243023" y="1453220"/>
            <a:ext cx="548640" cy="548640"/>
          </a:xfrm>
          <a:prstGeom prst="ellipse">
            <a:avLst/>
          </a:prstGeom>
          <a:solidFill>
            <a:srgbClr val="3E8F8A"/>
          </a:solidFill>
          <a:ln w="19050">
            <a:solidFill>
              <a:srgbClr val="FFFFFF"/>
            </a:solidFill>
            <a:prstDash val="solid"/>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C1</a:t>
            </a:r>
            <a:endParaRPr lang="en-US" sz="1400" dirty="0"/>
          </a:p>
        </p:txBody>
      </p:sp>
      <p:sp>
        <p:nvSpPr>
          <p:cNvPr id="10" name="Shape 8"/>
          <p:cNvSpPr/>
          <p:nvPr/>
        </p:nvSpPr>
        <p:spPr>
          <a:xfrm flipV="1">
            <a:off x="9820341" y="2863870"/>
            <a:ext cx="1200112" cy="389940"/>
          </a:xfrm>
          <a:prstGeom prst="line">
            <a:avLst/>
          </a:prstGeom>
          <a:noFill/>
          <a:ln w="19050">
            <a:solidFill>
              <a:srgbClr val="5D7396"/>
            </a:solidFill>
            <a:prstDash val="solid"/>
          </a:ln>
        </p:spPr>
      </p:sp>
      <p:sp>
        <p:nvSpPr>
          <p:cNvPr id="11" name="Text 9"/>
          <p:cNvSpPr txBox="1"/>
          <p:nvPr/>
        </p:nvSpPr>
        <p:spPr>
          <a:xfrm>
            <a:off x="11007026" y="2504780"/>
            <a:ext cx="548640" cy="548640"/>
          </a:xfrm>
          <a:prstGeom prst="ellipse">
            <a:avLst/>
          </a:prstGeom>
          <a:solidFill>
            <a:srgbClr val="3E8F8A"/>
          </a:solidFill>
          <a:ln w="19050">
            <a:solidFill>
              <a:srgbClr val="FFFFFF"/>
            </a:solidFill>
            <a:prstDash val="solid"/>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C2</a:t>
            </a:r>
            <a:endParaRPr lang="en-US" sz="1400" dirty="0"/>
          </a:p>
        </p:txBody>
      </p:sp>
      <p:sp>
        <p:nvSpPr>
          <p:cNvPr id="12" name="Shape 10"/>
          <p:cNvSpPr/>
          <p:nvPr/>
        </p:nvSpPr>
        <p:spPr>
          <a:xfrm>
            <a:off x="9820341" y="3604190"/>
            <a:ext cx="1200112" cy="389940"/>
          </a:xfrm>
          <a:prstGeom prst="line">
            <a:avLst/>
          </a:prstGeom>
          <a:noFill/>
          <a:ln w="19050">
            <a:solidFill>
              <a:srgbClr val="5D7396"/>
            </a:solidFill>
            <a:prstDash val="solid"/>
          </a:ln>
        </p:spPr>
      </p:sp>
      <p:sp>
        <p:nvSpPr>
          <p:cNvPr id="13" name="Text 11"/>
          <p:cNvSpPr txBox="1"/>
          <p:nvPr/>
        </p:nvSpPr>
        <p:spPr>
          <a:xfrm>
            <a:off x="11007026" y="3804580"/>
            <a:ext cx="548640" cy="548640"/>
          </a:xfrm>
          <a:prstGeom prst="ellipse">
            <a:avLst/>
          </a:prstGeom>
          <a:solidFill>
            <a:srgbClr val="3E8F8A"/>
          </a:solidFill>
          <a:ln w="19050">
            <a:solidFill>
              <a:srgbClr val="FFFFFF"/>
            </a:solidFill>
            <a:prstDash val="solid"/>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C3</a:t>
            </a:r>
            <a:endParaRPr lang="en-US" sz="1400" dirty="0"/>
          </a:p>
        </p:txBody>
      </p:sp>
      <p:sp>
        <p:nvSpPr>
          <p:cNvPr id="14" name="Shape 12"/>
          <p:cNvSpPr/>
          <p:nvPr/>
        </p:nvSpPr>
        <p:spPr>
          <a:xfrm>
            <a:off x="9614392" y="3887654"/>
            <a:ext cx="741710" cy="1020876"/>
          </a:xfrm>
          <a:prstGeom prst="line">
            <a:avLst/>
          </a:prstGeom>
          <a:noFill/>
          <a:ln w="19050">
            <a:solidFill>
              <a:srgbClr val="5D7396"/>
            </a:solidFill>
            <a:prstDash val="solid"/>
          </a:ln>
        </p:spPr>
      </p:sp>
      <p:sp>
        <p:nvSpPr>
          <p:cNvPr id="15" name="Text 13"/>
          <p:cNvSpPr txBox="1"/>
          <p:nvPr/>
        </p:nvSpPr>
        <p:spPr>
          <a:xfrm>
            <a:off x="10243023" y="4856140"/>
            <a:ext cx="548640" cy="548640"/>
          </a:xfrm>
          <a:prstGeom prst="ellipse">
            <a:avLst/>
          </a:prstGeom>
          <a:solidFill>
            <a:srgbClr val="3E8F8A"/>
          </a:solidFill>
          <a:ln w="19050">
            <a:solidFill>
              <a:srgbClr val="FFFFFF"/>
            </a:solidFill>
            <a:prstDash val="solid"/>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C4</a:t>
            </a:r>
            <a:endParaRPr lang="en-US" sz="1400" dirty="0"/>
          </a:p>
        </p:txBody>
      </p:sp>
      <p:sp>
        <p:nvSpPr>
          <p:cNvPr id="16" name="Shape 14"/>
          <p:cNvSpPr/>
          <p:nvPr/>
        </p:nvSpPr>
        <p:spPr>
          <a:xfrm>
            <a:off x="9281160" y="3995928"/>
            <a:ext cx="0" cy="1261872"/>
          </a:xfrm>
          <a:prstGeom prst="line">
            <a:avLst/>
          </a:prstGeom>
          <a:noFill/>
          <a:ln w="19050">
            <a:solidFill>
              <a:srgbClr val="5D7396"/>
            </a:solidFill>
            <a:prstDash val="solid"/>
          </a:ln>
        </p:spPr>
      </p:sp>
      <p:sp>
        <p:nvSpPr>
          <p:cNvPr id="17" name="Text 15"/>
          <p:cNvSpPr txBox="1"/>
          <p:nvPr/>
        </p:nvSpPr>
        <p:spPr>
          <a:xfrm>
            <a:off x="9006840" y="5257800"/>
            <a:ext cx="548640" cy="548640"/>
          </a:xfrm>
          <a:prstGeom prst="ellipse">
            <a:avLst/>
          </a:prstGeom>
          <a:solidFill>
            <a:srgbClr val="3E8F8A"/>
          </a:solidFill>
          <a:ln w="19050">
            <a:solidFill>
              <a:srgbClr val="FFFFFF"/>
            </a:solidFill>
            <a:prstDash val="solid"/>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C5</a:t>
            </a:r>
            <a:endParaRPr lang="en-US" sz="1400" dirty="0"/>
          </a:p>
        </p:txBody>
      </p:sp>
      <p:sp>
        <p:nvSpPr>
          <p:cNvPr id="18" name="Shape 16"/>
          <p:cNvSpPr/>
          <p:nvPr/>
        </p:nvSpPr>
        <p:spPr>
          <a:xfrm flipH="1">
            <a:off x="8206218" y="3887654"/>
            <a:ext cx="741710" cy="1020876"/>
          </a:xfrm>
          <a:prstGeom prst="line">
            <a:avLst/>
          </a:prstGeom>
          <a:noFill/>
          <a:ln w="19050">
            <a:solidFill>
              <a:srgbClr val="5D7396"/>
            </a:solidFill>
            <a:prstDash val="solid"/>
          </a:ln>
        </p:spPr>
      </p:sp>
      <p:sp>
        <p:nvSpPr>
          <p:cNvPr id="19" name="Text 17"/>
          <p:cNvSpPr txBox="1"/>
          <p:nvPr/>
        </p:nvSpPr>
        <p:spPr>
          <a:xfrm>
            <a:off x="7770657" y="4856140"/>
            <a:ext cx="548640" cy="548640"/>
          </a:xfrm>
          <a:prstGeom prst="ellipse">
            <a:avLst/>
          </a:prstGeom>
          <a:solidFill>
            <a:srgbClr val="3E8F8A"/>
          </a:solidFill>
          <a:ln w="19050">
            <a:solidFill>
              <a:srgbClr val="FFFFFF"/>
            </a:solidFill>
            <a:prstDash val="solid"/>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C6</a:t>
            </a:r>
            <a:endParaRPr lang="en-US" sz="1400" dirty="0"/>
          </a:p>
        </p:txBody>
      </p:sp>
      <p:sp>
        <p:nvSpPr>
          <p:cNvPr id="20" name="Shape 18"/>
          <p:cNvSpPr/>
          <p:nvPr/>
        </p:nvSpPr>
        <p:spPr>
          <a:xfrm flipH="1">
            <a:off x="7541868" y="3604190"/>
            <a:ext cx="1200112" cy="389940"/>
          </a:xfrm>
          <a:prstGeom prst="line">
            <a:avLst/>
          </a:prstGeom>
          <a:noFill/>
          <a:ln w="19050">
            <a:solidFill>
              <a:srgbClr val="5D7396"/>
            </a:solidFill>
            <a:prstDash val="solid"/>
          </a:ln>
        </p:spPr>
      </p:sp>
      <p:sp>
        <p:nvSpPr>
          <p:cNvPr id="21" name="Text 19"/>
          <p:cNvSpPr txBox="1"/>
          <p:nvPr/>
        </p:nvSpPr>
        <p:spPr>
          <a:xfrm>
            <a:off x="7006654" y="3804580"/>
            <a:ext cx="548640" cy="548640"/>
          </a:xfrm>
          <a:prstGeom prst="ellipse">
            <a:avLst/>
          </a:prstGeom>
          <a:solidFill>
            <a:srgbClr val="3E8F8A"/>
          </a:solidFill>
          <a:ln w="19050">
            <a:solidFill>
              <a:srgbClr val="FFFFFF"/>
            </a:solidFill>
            <a:prstDash val="solid"/>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C7</a:t>
            </a:r>
            <a:endParaRPr lang="en-US" sz="1400" dirty="0"/>
          </a:p>
        </p:txBody>
      </p:sp>
      <p:sp>
        <p:nvSpPr>
          <p:cNvPr id="22" name="Shape 20"/>
          <p:cNvSpPr/>
          <p:nvPr/>
        </p:nvSpPr>
        <p:spPr>
          <a:xfrm flipH="1" flipV="1">
            <a:off x="7541868" y="2863870"/>
            <a:ext cx="1200112" cy="389940"/>
          </a:xfrm>
          <a:prstGeom prst="line">
            <a:avLst/>
          </a:prstGeom>
          <a:noFill/>
          <a:ln w="19050">
            <a:solidFill>
              <a:srgbClr val="5D7396"/>
            </a:solidFill>
            <a:prstDash val="solid"/>
          </a:ln>
        </p:spPr>
      </p:sp>
      <p:sp>
        <p:nvSpPr>
          <p:cNvPr id="23" name="Text 21"/>
          <p:cNvSpPr txBox="1"/>
          <p:nvPr/>
        </p:nvSpPr>
        <p:spPr>
          <a:xfrm>
            <a:off x="7006654" y="2504780"/>
            <a:ext cx="548640" cy="548640"/>
          </a:xfrm>
          <a:prstGeom prst="ellipse">
            <a:avLst/>
          </a:prstGeom>
          <a:solidFill>
            <a:srgbClr val="3E8F8A"/>
          </a:solidFill>
          <a:ln w="19050">
            <a:solidFill>
              <a:srgbClr val="FFFFFF"/>
            </a:solidFill>
            <a:prstDash val="solid"/>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C8</a:t>
            </a:r>
            <a:endParaRPr lang="en-US" sz="1400" dirty="0"/>
          </a:p>
        </p:txBody>
      </p:sp>
      <p:sp>
        <p:nvSpPr>
          <p:cNvPr id="24" name="Shape 22"/>
          <p:cNvSpPr/>
          <p:nvPr/>
        </p:nvSpPr>
        <p:spPr>
          <a:xfrm flipH="1" flipV="1">
            <a:off x="8206218" y="1949470"/>
            <a:ext cx="741710" cy="1020876"/>
          </a:xfrm>
          <a:prstGeom prst="line">
            <a:avLst/>
          </a:prstGeom>
          <a:noFill/>
          <a:ln w="19050">
            <a:solidFill>
              <a:srgbClr val="5D7396"/>
            </a:solidFill>
            <a:prstDash val="solid"/>
          </a:ln>
        </p:spPr>
      </p:sp>
      <p:sp>
        <p:nvSpPr>
          <p:cNvPr id="25" name="Text 23"/>
          <p:cNvSpPr txBox="1"/>
          <p:nvPr/>
        </p:nvSpPr>
        <p:spPr>
          <a:xfrm>
            <a:off x="7770657" y="1453220"/>
            <a:ext cx="548640" cy="548640"/>
          </a:xfrm>
          <a:prstGeom prst="ellipse">
            <a:avLst/>
          </a:prstGeom>
          <a:solidFill>
            <a:srgbClr val="3E8F8A"/>
          </a:solidFill>
          <a:ln w="19050">
            <a:solidFill>
              <a:srgbClr val="FFFFFF"/>
            </a:solidFill>
            <a:prstDash val="solid"/>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C9</a:t>
            </a:r>
            <a:endParaRPr lang="en-US" sz="1400" dirty="0"/>
          </a:p>
        </p:txBody>
      </p:sp>
      <p:sp>
        <p:nvSpPr>
          <p:cNvPr id="26" name="Text 24"/>
          <p:cNvSpPr txBox="1"/>
          <p:nvPr/>
        </p:nvSpPr>
        <p:spPr>
          <a:xfrm>
            <a:off x="8732520" y="2880360"/>
            <a:ext cx="1097280" cy="1097280"/>
          </a:xfrm>
          <a:prstGeom prst="ellipse">
            <a:avLst/>
          </a:prstGeom>
          <a:solidFill>
            <a:srgbClr val="FFFFFF"/>
          </a:solidFill>
          <a:ln/>
        </p:spPr>
        <p:txBody>
          <a:bodyPr wrap="square" lIns="0" tIns="0" rIns="0" bIns="0" rtlCol="0" anchor="ctr"/>
          <a:lstStyle/>
          <a:p>
            <a:pPr algn="ctr" indent="0" marL="0">
              <a:buNone/>
            </a:pPr>
            <a:r>
              <a:rPr lang="en-US" sz="1600" b="1" dirty="0">
                <a:solidFill>
                  <a:srgbClr val="14213D"/>
                </a:solidFill>
                <a:latin typeface="Arial" pitchFamily="34" charset="0"/>
                <a:ea typeface="Arial" pitchFamily="34" charset="-122"/>
                <a:cs typeface="Arial" pitchFamily="34" charset="-120"/>
              </a:rPr>
              <a:t>Server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1672" cy="731520"/>
          </a:xfrm>
          <a:prstGeom prst="rect">
            <a:avLst/>
          </a:prstGeom>
          <a:noFill/>
          <a:ln/>
        </p:spPr>
        <p:txBody>
          <a:bodyPr wrap="square" lIns="0" tIns="0" rIns="0" bIns="0" rtlCol="0" anchor="ctr"/>
          <a:lstStyle/>
          <a:p>
            <a:pPr algn="l" indent="0" marL="0">
              <a:buNone/>
            </a:pPr>
            <a:r>
              <a:rPr lang="en-US" sz="3000" b="1" dirty="0">
                <a:solidFill>
                  <a:srgbClr val="14213D"/>
                </a:solidFill>
                <a:latin typeface="Arial" pitchFamily="34" charset="0"/>
                <a:ea typeface="Arial" pitchFamily="34" charset="-122"/>
                <a:cs typeface="Arial" pitchFamily="34" charset="-120"/>
              </a:rPr>
              <a:t>Executive snapshot: what the baselines show</a:t>
            </a:r>
            <a:endParaRPr lang="en-US" sz="3000" dirty="0"/>
          </a:p>
        </p:txBody>
      </p:sp>
      <p:sp>
        <p:nvSpPr>
          <p:cNvPr id="3" name="Shape 1"/>
          <p:cNvSpPr txBox="1"/>
          <p:nvPr/>
        </p:nvSpPr>
        <p:spPr>
          <a:xfrm>
            <a:off x="548640" y="1325880"/>
            <a:ext cx="6720840" cy="1417320"/>
          </a:xfrm>
          <a:prstGeom prst="roundRect">
            <a:avLst>
              <a:gd name="adj" fmla="val 5161"/>
            </a:avLst>
          </a:prstGeom>
          <a:solidFill>
            <a:srgbClr val="F4F6F9"/>
          </a:solidFill>
          <a:ln/>
        </p:spPr>
      </p:sp>
      <p:sp>
        <p:nvSpPr>
          <p:cNvPr id="4" name="Text 2"/>
          <p:cNvSpPr txBox="1"/>
          <p:nvPr/>
        </p:nvSpPr>
        <p:spPr>
          <a:xfrm>
            <a:off x="777240" y="1554480"/>
            <a:ext cx="457200" cy="457200"/>
          </a:xfrm>
          <a:prstGeom prst="ellipse">
            <a:avLst/>
          </a:prstGeom>
          <a:solidFill>
            <a:srgbClr val="D62839"/>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5" name="Text 3"/>
          <p:cNvSpPr txBox="1"/>
          <p:nvPr/>
        </p:nvSpPr>
        <p:spPr>
          <a:xfrm>
            <a:off x="1463040" y="1453896"/>
            <a:ext cx="5623560" cy="365760"/>
          </a:xfrm>
          <a:prstGeom prst="rect">
            <a:avLst/>
          </a:prstGeom>
          <a:noFill/>
          <a:ln/>
        </p:spPr>
        <p:txBody>
          <a:bodyPr wrap="square" lIns="0" tIns="0" rIns="0" bIns="0" rtlCol="0" anchor="t"/>
          <a:lstStyle/>
          <a:p>
            <a:pPr indent="0" marL="0">
              <a:buNone/>
            </a:pPr>
            <a:r>
              <a:rPr lang="en-US" sz="2000" b="1" dirty="0">
                <a:solidFill>
                  <a:srgbClr val="14213D"/>
                </a:solidFill>
                <a:latin typeface="Arial" pitchFamily="34" charset="0"/>
                <a:ea typeface="Arial" pitchFamily="34" charset="-122"/>
                <a:cs typeface="Arial" pitchFamily="34" charset="-120"/>
              </a:rPr>
              <a:t>The attack hides in clean accuracy</a:t>
            </a:r>
            <a:endParaRPr lang="en-US" sz="2000" dirty="0"/>
          </a:p>
        </p:txBody>
      </p:sp>
      <p:sp>
        <p:nvSpPr>
          <p:cNvPr id="6" name="Text 4"/>
          <p:cNvSpPr txBox="1"/>
          <p:nvPr/>
        </p:nvSpPr>
        <p:spPr>
          <a:xfrm>
            <a:off x="1463040" y="1892808"/>
            <a:ext cx="5623560" cy="777240"/>
          </a:xfrm>
          <a:prstGeom prst="rect">
            <a:avLst/>
          </a:prstGeom>
          <a:noFill/>
          <a:ln/>
        </p:spPr>
        <p:txBody>
          <a:bodyPr wrap="square" lIns="0" tIns="0" rIns="0" bIns="0" rtlCol="0" anchor="t"/>
          <a:lstStyle/>
          <a:p>
            <a:pPr indent="0" marL="0">
              <a:buNone/>
            </a:pPr>
            <a:r>
              <a:rPr lang="en-US" sz="1600" dirty="0">
                <a:solidFill>
                  <a:srgbClr val="3A4560"/>
                </a:solidFill>
                <a:latin typeface="Arial" pitchFamily="34" charset="0"/>
                <a:ea typeface="Arial" pitchFamily="34" charset="-122"/>
                <a:cs typeface="Arial" pitchFamily="34" charset="-120"/>
              </a:rPr>
              <a:t>Triggered target predictions jump sharply while clean accuracy barely changes.</a:t>
            </a:r>
            <a:endParaRPr lang="en-US" sz="1600" dirty="0"/>
          </a:p>
        </p:txBody>
      </p:sp>
      <p:sp>
        <p:nvSpPr>
          <p:cNvPr id="7" name="Shape 5"/>
          <p:cNvSpPr txBox="1"/>
          <p:nvPr/>
        </p:nvSpPr>
        <p:spPr>
          <a:xfrm>
            <a:off x="548640" y="2880360"/>
            <a:ext cx="6720840" cy="1417320"/>
          </a:xfrm>
          <a:prstGeom prst="roundRect">
            <a:avLst>
              <a:gd name="adj" fmla="val 5161"/>
            </a:avLst>
          </a:prstGeom>
          <a:solidFill>
            <a:srgbClr val="F4F6F9"/>
          </a:solidFill>
          <a:ln/>
        </p:spPr>
      </p:sp>
      <p:sp>
        <p:nvSpPr>
          <p:cNvPr id="8" name="Text 6"/>
          <p:cNvSpPr txBox="1"/>
          <p:nvPr/>
        </p:nvSpPr>
        <p:spPr>
          <a:xfrm>
            <a:off x="777240" y="3108960"/>
            <a:ext cx="457200" cy="457200"/>
          </a:xfrm>
          <a:prstGeom prst="ellipse">
            <a:avLst/>
          </a:prstGeom>
          <a:solidFill>
            <a:srgbClr val="E8890C"/>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9" name="Text 7"/>
          <p:cNvSpPr txBox="1"/>
          <p:nvPr/>
        </p:nvSpPr>
        <p:spPr>
          <a:xfrm>
            <a:off x="1463040" y="3008376"/>
            <a:ext cx="5623560" cy="365760"/>
          </a:xfrm>
          <a:prstGeom prst="rect">
            <a:avLst/>
          </a:prstGeom>
          <a:noFill/>
          <a:ln/>
        </p:spPr>
        <p:txBody>
          <a:bodyPr wrap="square" lIns="0" tIns="0" rIns="0" bIns="0" rtlCol="0" anchor="t"/>
          <a:lstStyle/>
          <a:p>
            <a:pPr indent="0" marL="0">
              <a:buNone/>
            </a:pPr>
            <a:r>
              <a:rPr lang="en-US" sz="2000" b="1" dirty="0">
                <a:solidFill>
                  <a:srgbClr val="14213D"/>
                </a:solidFill>
                <a:latin typeface="Arial" pitchFamily="34" charset="0"/>
                <a:ea typeface="Arial" pitchFamily="34" charset="-122"/>
                <a:cs typeface="Arial" pitchFamily="34" charset="-120"/>
              </a:rPr>
              <a:t>Subtraction removes the trigger, at a cost</a:t>
            </a:r>
            <a:endParaRPr lang="en-US" sz="2000" dirty="0"/>
          </a:p>
        </p:txBody>
      </p:sp>
      <p:sp>
        <p:nvSpPr>
          <p:cNvPr id="10" name="Text 8"/>
          <p:cNvSpPr txBox="1"/>
          <p:nvPr/>
        </p:nvSpPr>
        <p:spPr>
          <a:xfrm>
            <a:off x="1463040" y="3447288"/>
            <a:ext cx="5623560" cy="777240"/>
          </a:xfrm>
          <a:prstGeom prst="rect">
            <a:avLst/>
          </a:prstGeom>
          <a:noFill/>
          <a:ln/>
        </p:spPr>
        <p:txBody>
          <a:bodyPr wrap="square" lIns="0" tIns="0" rIns="0" bIns="0" rtlCol="0" anchor="t"/>
          <a:lstStyle/>
          <a:p>
            <a:pPr indent="0" marL="0">
              <a:buNone/>
            </a:pPr>
            <a:r>
              <a:rPr lang="en-US" sz="1600" dirty="0">
                <a:solidFill>
                  <a:srgbClr val="3A4560"/>
                </a:solidFill>
                <a:latin typeface="Arial" pitchFamily="34" charset="0"/>
                <a:ea typeface="Arial" pitchFamily="34" charset="-122"/>
                <a:cs typeface="Arial" pitchFamily="34" charset="-120"/>
              </a:rPr>
              <a:t>Direct subtraction suppresses the trigger but can seriously damage utility, especially under Non-IID data.</a:t>
            </a:r>
            <a:endParaRPr lang="en-US" sz="1600" dirty="0"/>
          </a:p>
        </p:txBody>
      </p:sp>
      <p:sp>
        <p:nvSpPr>
          <p:cNvPr id="11" name="Shape 9"/>
          <p:cNvSpPr txBox="1"/>
          <p:nvPr/>
        </p:nvSpPr>
        <p:spPr>
          <a:xfrm>
            <a:off x="548640" y="4434840"/>
            <a:ext cx="6720840" cy="1417320"/>
          </a:xfrm>
          <a:prstGeom prst="roundRect">
            <a:avLst>
              <a:gd name="adj" fmla="val 5161"/>
            </a:avLst>
          </a:prstGeom>
          <a:solidFill>
            <a:srgbClr val="F4F6F9"/>
          </a:solidFill>
          <a:ln/>
        </p:spPr>
      </p:sp>
      <p:sp>
        <p:nvSpPr>
          <p:cNvPr id="12" name="Text 10"/>
          <p:cNvSpPr txBox="1"/>
          <p:nvPr/>
        </p:nvSpPr>
        <p:spPr>
          <a:xfrm>
            <a:off x="777240" y="4663440"/>
            <a:ext cx="457200" cy="457200"/>
          </a:xfrm>
          <a:prstGeom prst="ellipse">
            <a:avLst/>
          </a:prstGeom>
          <a:solidFill>
            <a:srgbClr val="0B7A75"/>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3" name="Text 11"/>
          <p:cNvSpPr txBox="1"/>
          <p:nvPr/>
        </p:nvSpPr>
        <p:spPr>
          <a:xfrm>
            <a:off x="1463040" y="4562856"/>
            <a:ext cx="5623560" cy="365760"/>
          </a:xfrm>
          <a:prstGeom prst="rect">
            <a:avLst/>
          </a:prstGeom>
          <a:noFill/>
          <a:ln/>
        </p:spPr>
        <p:txBody>
          <a:bodyPr wrap="square" lIns="0" tIns="0" rIns="0" bIns="0" rtlCol="0" anchor="t"/>
          <a:lstStyle/>
          <a:p>
            <a:pPr indent="0" marL="0">
              <a:buNone/>
            </a:pPr>
            <a:r>
              <a:rPr lang="en-US" sz="2000" b="1" dirty="0">
                <a:solidFill>
                  <a:srgbClr val="14213D"/>
                </a:solidFill>
                <a:latin typeface="Arial" pitchFamily="34" charset="0"/>
                <a:ea typeface="Arial" pitchFamily="34" charset="-122"/>
                <a:cs typeface="Arial" pitchFamily="34" charset="-120"/>
              </a:rPr>
              <a:t>KD and FedEraser recover utility</a:t>
            </a:r>
            <a:endParaRPr lang="en-US" sz="2000" dirty="0"/>
          </a:p>
        </p:txBody>
      </p:sp>
      <p:sp>
        <p:nvSpPr>
          <p:cNvPr id="14" name="Text 12"/>
          <p:cNvSpPr txBox="1"/>
          <p:nvPr/>
        </p:nvSpPr>
        <p:spPr>
          <a:xfrm>
            <a:off x="1463040" y="5001768"/>
            <a:ext cx="5623560" cy="777240"/>
          </a:xfrm>
          <a:prstGeom prst="rect">
            <a:avLst/>
          </a:prstGeom>
          <a:noFill/>
          <a:ln/>
        </p:spPr>
        <p:txBody>
          <a:bodyPr wrap="square" lIns="0" tIns="0" rIns="0" bIns="0" rtlCol="0" anchor="t"/>
          <a:lstStyle/>
          <a:p>
            <a:pPr indent="0" marL="0">
              <a:buNone/>
            </a:pPr>
            <a:r>
              <a:rPr lang="en-US" sz="1600" dirty="0">
                <a:solidFill>
                  <a:srgbClr val="3A4560"/>
                </a:solidFill>
                <a:latin typeface="Arial" pitchFamily="34" charset="0"/>
                <a:ea typeface="Arial" pitchFamily="34" charset="-122"/>
                <a:cs typeface="Arial" pitchFamily="34" charset="-120"/>
              </a:rPr>
              <a:t>Ecal=2 is a strong balance among tested FedEraser settings. Non-IID evidence is one saved split.</a:t>
            </a:r>
            <a:endParaRPr lang="en-US" sz="1600" dirty="0"/>
          </a:p>
        </p:txBody>
      </p:sp>
      <p:sp>
        <p:nvSpPr>
          <p:cNvPr id="15" name="Shape 13"/>
          <p:cNvSpPr txBox="1"/>
          <p:nvPr/>
        </p:nvSpPr>
        <p:spPr>
          <a:xfrm>
            <a:off x="7680960" y="1325880"/>
            <a:ext cx="3959352" cy="2057400"/>
          </a:xfrm>
          <a:prstGeom prst="roundRect">
            <a:avLst>
              <a:gd name="adj" fmla="val 3556"/>
            </a:avLst>
          </a:prstGeom>
          <a:solidFill>
            <a:srgbClr val="FFFFFF"/>
          </a:solidFill>
          <a:ln w="15875">
            <a:solidFill>
              <a:srgbClr val="D5DAE3"/>
            </a:solidFill>
            <a:prstDash val="solid"/>
          </a:ln>
        </p:spPr>
      </p:sp>
      <p:sp>
        <p:nvSpPr>
          <p:cNvPr id="16" name="Text 14"/>
          <p:cNvSpPr txBox="1"/>
          <p:nvPr/>
        </p:nvSpPr>
        <p:spPr>
          <a:xfrm>
            <a:off x="7955280" y="1508760"/>
            <a:ext cx="3410712" cy="320040"/>
          </a:xfrm>
          <a:prstGeom prst="rect">
            <a:avLst/>
          </a:prstGeom>
          <a:noFill/>
          <a:ln/>
        </p:spPr>
        <p:txBody>
          <a:bodyPr wrap="square" lIns="0" tIns="0" rIns="0" bIns="0" rtlCol="0" anchor="t"/>
          <a:lstStyle/>
          <a:p>
            <a:pPr indent="0" marL="0">
              <a:buNone/>
            </a:pPr>
            <a:r>
              <a:rPr lang="en-US" sz="1600" b="1" dirty="0">
                <a:solidFill>
                  <a:srgbClr val="3A4560"/>
                </a:solidFill>
                <a:latin typeface="Arial" pitchFamily="34" charset="0"/>
                <a:ea typeface="Arial" pitchFamily="34" charset="-122"/>
                <a:cs typeface="Arial" pitchFamily="34" charset="-120"/>
              </a:rPr>
              <a:t>IID · ASR/TTR</a:t>
            </a:r>
            <a:endParaRPr lang="en-US" sz="1600" dirty="0"/>
          </a:p>
        </p:txBody>
      </p:sp>
      <p:sp>
        <p:nvSpPr>
          <p:cNvPr id="17" name="Text 15"/>
          <p:cNvSpPr txBox="1"/>
          <p:nvPr/>
        </p:nvSpPr>
        <p:spPr>
          <a:xfrm>
            <a:off x="7955280" y="1965960"/>
            <a:ext cx="3410712" cy="640080"/>
          </a:xfrm>
          <a:prstGeom prst="rect">
            <a:avLst/>
          </a:prstGeom>
          <a:noFill/>
          <a:ln/>
        </p:spPr>
        <p:txBody>
          <a:bodyPr wrap="square" lIns="0" tIns="0" rIns="0" bIns="0" rtlCol="0" anchor="t"/>
          <a:lstStyle/>
          <a:p>
            <a:pPr indent="0" marL="0">
              <a:buNone/>
            </a:pPr>
            <a:r>
              <a:rPr lang="en-US" sz="3400" b="1" dirty="0">
                <a:solidFill>
                  <a:srgbClr val="4E5D73"/>
                </a:solidFill>
                <a:latin typeface="Arial" pitchFamily="34" charset="0"/>
                <a:ea typeface="Arial" pitchFamily="34" charset="-122"/>
                <a:cs typeface="Arial" pitchFamily="34" charset="-120"/>
              </a:rPr>
              <a:t>2.73%</a:t>
            </a:r>
            <a:pPr indent="0" marL="0">
              <a:buNone/>
            </a:pPr>
            <a:r>
              <a:rPr lang="en-US" sz="2600" b="1" dirty="0">
                <a:solidFill>
                  <a:srgbClr val="6B7280"/>
                </a:solidFill>
                <a:latin typeface="Arial" pitchFamily="34" charset="0"/>
                <a:ea typeface="Arial" pitchFamily="34" charset="-122"/>
                <a:cs typeface="Arial" pitchFamily="34" charset="-120"/>
              </a:rPr>
              <a:t>  →  </a:t>
            </a:r>
            <a:pPr indent="0" marL="0">
              <a:buNone/>
            </a:pPr>
            <a:r>
              <a:rPr lang="en-US" sz="3400" b="1" dirty="0">
                <a:solidFill>
                  <a:srgbClr val="B3001B"/>
                </a:solidFill>
                <a:latin typeface="Arial" pitchFamily="34" charset="0"/>
                <a:ea typeface="Arial" pitchFamily="34" charset="-122"/>
                <a:cs typeface="Arial" pitchFamily="34" charset="-120"/>
              </a:rPr>
              <a:t>56.07%</a:t>
            </a:r>
            <a:endParaRPr lang="en-US" sz="3400" dirty="0"/>
          </a:p>
        </p:txBody>
      </p:sp>
      <p:sp>
        <p:nvSpPr>
          <p:cNvPr id="18" name="Text 16"/>
          <p:cNvSpPr txBox="1"/>
          <p:nvPr/>
        </p:nvSpPr>
        <p:spPr>
          <a:xfrm>
            <a:off x="7955280" y="2697480"/>
            <a:ext cx="3410712" cy="274320"/>
          </a:xfrm>
          <a:prstGeom prst="rect">
            <a:avLst/>
          </a:prstGeom>
          <a:noFill/>
          <a:ln/>
        </p:spPr>
        <p:txBody>
          <a:bodyPr wrap="square" lIns="0" tIns="0" rIns="0" bIns="0" rtlCol="0" anchor="t"/>
          <a:lstStyle/>
          <a:p>
            <a:pPr indent="0" marL="0">
              <a:buNone/>
            </a:pPr>
            <a:r>
              <a:rPr lang="en-US" sz="1400" dirty="0">
                <a:solidFill>
                  <a:srgbClr val="6B7280"/>
                </a:solidFill>
                <a:latin typeface="Arial" pitchFamily="34" charset="0"/>
                <a:ea typeface="Arial" pitchFamily="34" charset="-122"/>
                <a:cs typeface="Arial" pitchFamily="34" charset="-120"/>
              </a:rPr>
              <a:t>M_clean  →  M_attack</a:t>
            </a:r>
            <a:endParaRPr lang="en-US" sz="1400" dirty="0"/>
          </a:p>
        </p:txBody>
      </p:sp>
      <p:sp>
        <p:nvSpPr>
          <p:cNvPr id="19" name="Text 17"/>
          <p:cNvSpPr txBox="1"/>
          <p:nvPr/>
        </p:nvSpPr>
        <p:spPr>
          <a:xfrm>
            <a:off x="7955280" y="2990088"/>
            <a:ext cx="3410712" cy="274320"/>
          </a:xfrm>
          <a:prstGeom prst="rect">
            <a:avLst/>
          </a:prstGeom>
          <a:noFill/>
          <a:ln/>
        </p:spPr>
        <p:txBody>
          <a:bodyPr wrap="square" lIns="0" tIns="0" rIns="0" bIns="0" rtlCol="0" anchor="t"/>
          <a:lstStyle/>
          <a:p>
            <a:pPr indent="0" marL="0">
              <a:buNone/>
            </a:pPr>
            <a:r>
              <a:rPr lang="en-US" sz="1400" dirty="0">
                <a:solidFill>
                  <a:srgbClr val="3A4560"/>
                </a:solidFill>
                <a:latin typeface="Arial" pitchFamily="34" charset="0"/>
                <a:ea typeface="Arial" pitchFamily="34" charset="-122"/>
                <a:cs typeface="Arial" pitchFamily="34" charset="-120"/>
              </a:rPr>
              <a:t>Clean accuracy changes by only 0.10 pp</a:t>
            </a:r>
            <a:endParaRPr lang="en-US" sz="1400" dirty="0"/>
          </a:p>
        </p:txBody>
      </p:sp>
      <p:sp>
        <p:nvSpPr>
          <p:cNvPr id="20" name="Shape 18"/>
          <p:cNvSpPr txBox="1"/>
          <p:nvPr/>
        </p:nvSpPr>
        <p:spPr>
          <a:xfrm>
            <a:off x="7680960" y="3566160"/>
            <a:ext cx="3959352" cy="2057400"/>
          </a:xfrm>
          <a:prstGeom prst="roundRect">
            <a:avLst>
              <a:gd name="adj" fmla="val 3556"/>
            </a:avLst>
          </a:prstGeom>
          <a:solidFill>
            <a:srgbClr val="FFFFFF"/>
          </a:solidFill>
          <a:ln w="15875">
            <a:solidFill>
              <a:srgbClr val="D5DAE3"/>
            </a:solidFill>
            <a:prstDash val="solid"/>
          </a:ln>
        </p:spPr>
      </p:sp>
      <p:sp>
        <p:nvSpPr>
          <p:cNvPr id="21" name="Text 19"/>
          <p:cNvSpPr txBox="1"/>
          <p:nvPr/>
        </p:nvSpPr>
        <p:spPr>
          <a:xfrm>
            <a:off x="7955280" y="3749040"/>
            <a:ext cx="3410712" cy="320040"/>
          </a:xfrm>
          <a:prstGeom prst="rect">
            <a:avLst/>
          </a:prstGeom>
          <a:noFill/>
          <a:ln/>
        </p:spPr>
        <p:txBody>
          <a:bodyPr wrap="square" lIns="0" tIns="0" rIns="0" bIns="0" rtlCol="0" anchor="t"/>
          <a:lstStyle/>
          <a:p>
            <a:pPr indent="0" marL="0">
              <a:buNone/>
            </a:pPr>
            <a:r>
              <a:rPr lang="en-US" sz="1600" b="1" dirty="0">
                <a:solidFill>
                  <a:srgbClr val="3A4560"/>
                </a:solidFill>
                <a:latin typeface="Arial" pitchFamily="34" charset="0"/>
                <a:ea typeface="Arial" pitchFamily="34" charset="-122"/>
                <a:cs typeface="Arial" pitchFamily="34" charset="-120"/>
              </a:rPr>
              <a:t>Non-IID · ASR/TTR</a:t>
            </a:r>
            <a:endParaRPr lang="en-US" sz="1600" dirty="0"/>
          </a:p>
        </p:txBody>
      </p:sp>
      <p:sp>
        <p:nvSpPr>
          <p:cNvPr id="22" name="Text 20"/>
          <p:cNvSpPr txBox="1"/>
          <p:nvPr/>
        </p:nvSpPr>
        <p:spPr>
          <a:xfrm>
            <a:off x="7955280" y="4206240"/>
            <a:ext cx="3410712" cy="640080"/>
          </a:xfrm>
          <a:prstGeom prst="rect">
            <a:avLst/>
          </a:prstGeom>
          <a:noFill/>
          <a:ln/>
        </p:spPr>
        <p:txBody>
          <a:bodyPr wrap="square" lIns="0" tIns="0" rIns="0" bIns="0" rtlCol="0" anchor="t"/>
          <a:lstStyle/>
          <a:p>
            <a:pPr indent="0" marL="0">
              <a:buNone/>
            </a:pPr>
            <a:r>
              <a:rPr lang="en-US" sz="3400" b="1" dirty="0">
                <a:solidFill>
                  <a:srgbClr val="4E5D73"/>
                </a:solidFill>
                <a:latin typeface="Arial" pitchFamily="34" charset="0"/>
                <a:ea typeface="Arial" pitchFamily="34" charset="-122"/>
                <a:cs typeface="Arial" pitchFamily="34" charset="-120"/>
              </a:rPr>
              <a:t>3.30%</a:t>
            </a:r>
            <a:pPr indent="0" marL="0">
              <a:buNone/>
            </a:pPr>
            <a:r>
              <a:rPr lang="en-US" sz="2600" b="1" dirty="0">
                <a:solidFill>
                  <a:srgbClr val="6B7280"/>
                </a:solidFill>
                <a:latin typeface="Arial" pitchFamily="34" charset="0"/>
                <a:ea typeface="Arial" pitchFamily="34" charset="-122"/>
                <a:cs typeface="Arial" pitchFamily="34" charset="-120"/>
              </a:rPr>
              <a:t>  →  </a:t>
            </a:r>
            <a:pPr indent="0" marL="0">
              <a:buNone/>
            </a:pPr>
            <a:r>
              <a:rPr lang="en-US" sz="3400" b="1" dirty="0">
                <a:solidFill>
                  <a:srgbClr val="B3001B"/>
                </a:solidFill>
                <a:latin typeface="Arial" pitchFamily="34" charset="0"/>
                <a:ea typeface="Arial" pitchFamily="34" charset="-122"/>
                <a:cs typeface="Arial" pitchFamily="34" charset="-120"/>
              </a:rPr>
              <a:t>32.21%</a:t>
            </a:r>
            <a:endParaRPr lang="en-US" sz="3400" dirty="0"/>
          </a:p>
        </p:txBody>
      </p:sp>
      <p:sp>
        <p:nvSpPr>
          <p:cNvPr id="23" name="Text 21"/>
          <p:cNvSpPr txBox="1"/>
          <p:nvPr/>
        </p:nvSpPr>
        <p:spPr>
          <a:xfrm>
            <a:off x="7955280" y="4937760"/>
            <a:ext cx="3410712" cy="274320"/>
          </a:xfrm>
          <a:prstGeom prst="rect">
            <a:avLst/>
          </a:prstGeom>
          <a:noFill/>
          <a:ln/>
        </p:spPr>
        <p:txBody>
          <a:bodyPr wrap="square" lIns="0" tIns="0" rIns="0" bIns="0" rtlCol="0" anchor="t"/>
          <a:lstStyle/>
          <a:p>
            <a:pPr indent="0" marL="0">
              <a:buNone/>
            </a:pPr>
            <a:r>
              <a:rPr lang="en-US" sz="1400" dirty="0">
                <a:solidFill>
                  <a:srgbClr val="6B7280"/>
                </a:solidFill>
                <a:latin typeface="Arial" pitchFamily="34" charset="0"/>
                <a:ea typeface="Arial" pitchFamily="34" charset="-122"/>
                <a:cs typeface="Arial" pitchFamily="34" charset="-120"/>
              </a:rPr>
              <a:t>M_clean  →  M_attack</a:t>
            </a:r>
            <a:endParaRPr lang="en-US" sz="1400" dirty="0"/>
          </a:p>
        </p:txBody>
      </p:sp>
      <p:sp>
        <p:nvSpPr>
          <p:cNvPr id="24" name="Text 22"/>
          <p:cNvSpPr txBox="1"/>
          <p:nvPr/>
        </p:nvSpPr>
        <p:spPr>
          <a:xfrm>
            <a:off x="7955280" y="5230368"/>
            <a:ext cx="3410712" cy="274320"/>
          </a:xfrm>
          <a:prstGeom prst="rect">
            <a:avLst/>
          </a:prstGeom>
          <a:noFill/>
          <a:ln/>
        </p:spPr>
        <p:txBody>
          <a:bodyPr wrap="square" lIns="0" tIns="0" rIns="0" bIns="0" rtlCol="0" anchor="t"/>
          <a:lstStyle/>
          <a:p>
            <a:pPr indent="0" marL="0">
              <a:buNone/>
            </a:pPr>
            <a:r>
              <a:rPr lang="en-US" sz="1400" dirty="0">
                <a:solidFill>
                  <a:srgbClr val="3A4560"/>
                </a:solidFill>
                <a:latin typeface="Arial" pitchFamily="34" charset="0"/>
                <a:ea typeface="Arial" pitchFamily="34" charset="-122"/>
                <a:cs typeface="Arial" pitchFamily="34" charset="-120"/>
              </a:rPr>
              <a:t>Clean accuracy changes by only 0.30 pp</a:t>
            </a:r>
            <a:endParaRPr lang="en-US" sz="1400" dirty="0"/>
          </a:p>
        </p:txBody>
      </p:sp>
      <p:sp>
        <p:nvSpPr>
          <p:cNvPr id="25" name="Text 23"/>
          <p:cNvSpPr txBox="1"/>
          <p:nvPr/>
        </p:nvSpPr>
        <p:spPr>
          <a:xfrm>
            <a:off x="548640" y="5989320"/>
            <a:ext cx="11094415" cy="347472"/>
          </a:xfrm>
          <a:prstGeom prst="rect">
            <a:avLst/>
          </a:prstGeom>
          <a:noFill/>
          <a:ln/>
        </p:spPr>
        <p:txBody>
          <a:bodyPr wrap="square" lIns="0" tIns="0" rIns="0" bIns="0" rtlCol="0" anchor="t"/>
          <a:lstStyle/>
          <a:p>
            <a:pPr indent="0" marL="0">
              <a:buNone/>
            </a:pPr>
            <a:r>
              <a:rPr lang="en-US" sz="1150" dirty="0">
                <a:solidFill>
                  <a:srgbClr val="6B7280"/>
                </a:solidFill>
                <a:latin typeface="Arial" pitchFamily="34" charset="0"/>
                <a:ea typeface="Arial" pitchFamily="34" charset="-122"/>
                <a:cs typeface="Arial" pitchFamily="34" charset="-120"/>
              </a:rPr>
              <a:t>Phase 1 values. ASR/TTR = share of triggered non-Airplane test images predicted Airplane (denominator 9,000).</a:t>
            </a:r>
            <a:endParaRPr lang="en-US" sz="115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A8394"/>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1672" cy="731520"/>
          </a:xfrm>
          <a:prstGeom prst="rect">
            <a:avLst/>
          </a:prstGeom>
          <a:noFill/>
          <a:ln/>
        </p:spPr>
        <p:txBody>
          <a:bodyPr wrap="square" lIns="0" tIns="0" rIns="0" bIns="0" rtlCol="0" anchor="ctr"/>
          <a:lstStyle/>
          <a:p>
            <a:pPr algn="l" indent="0" marL="0">
              <a:buNone/>
            </a:pPr>
            <a:r>
              <a:rPr lang="en-US" sz="3000" b="1" dirty="0">
                <a:solidFill>
                  <a:srgbClr val="14213D"/>
                </a:solidFill>
                <a:latin typeface="Arial" pitchFamily="34" charset="0"/>
                <a:ea typeface="Arial" pitchFamily="34" charset="-122"/>
                <a:cs typeface="Arial" pitchFamily="34" charset="-120"/>
              </a:rPr>
              <a:t>A small trigger can steer a federated model</a:t>
            </a:r>
            <a:endParaRPr lang="en-US" sz="3000" dirty="0"/>
          </a:p>
        </p:txBody>
      </p:sp>
      <p:sp>
        <p:nvSpPr>
          <p:cNvPr id="3" name="Text 1"/>
          <p:cNvSpPr txBox="1"/>
          <p:nvPr/>
        </p:nvSpPr>
        <p:spPr>
          <a:xfrm>
            <a:off x="548640" y="1371600"/>
            <a:ext cx="5212080" cy="365760"/>
          </a:xfrm>
          <a:prstGeom prst="rect">
            <a:avLst/>
          </a:prstGeom>
          <a:noFill/>
          <a:ln/>
        </p:spPr>
        <p:txBody>
          <a:bodyPr wrap="square" lIns="0" tIns="0" rIns="0" bIns="0" rtlCol="0" anchor="t"/>
          <a:lstStyle/>
          <a:p>
            <a:pPr indent="0" marL="0">
              <a:buNone/>
            </a:pPr>
            <a:r>
              <a:rPr lang="en-US" sz="2000" b="1" dirty="0">
                <a:solidFill>
                  <a:srgbClr val="14213D"/>
                </a:solidFill>
                <a:latin typeface="Arial" pitchFamily="34" charset="0"/>
                <a:ea typeface="Arial" pitchFamily="34" charset="-122"/>
                <a:cs typeface="Arial" pitchFamily="34" charset="-120"/>
              </a:rPr>
              <a:t>Federated learning (FL)</a:t>
            </a:r>
            <a:endParaRPr lang="en-US" sz="2000" dirty="0"/>
          </a:p>
        </p:txBody>
      </p:sp>
      <p:sp>
        <p:nvSpPr>
          <p:cNvPr id="4" name="Text 2"/>
          <p:cNvSpPr txBox="1"/>
          <p:nvPr/>
        </p:nvSpPr>
        <p:spPr>
          <a:xfrm>
            <a:off x="548640" y="1783080"/>
            <a:ext cx="5212080" cy="822960"/>
          </a:xfrm>
          <a:prstGeom prst="rect">
            <a:avLst/>
          </a:prstGeom>
          <a:noFill/>
          <a:ln/>
        </p:spPr>
        <p:txBody>
          <a:bodyPr wrap="square" lIns="0" tIns="0" rIns="0" bIns="0" rtlCol="0" anchor="t"/>
          <a:lstStyle/>
          <a:p>
            <a:pPr indent="0" marL="0">
              <a:buNone/>
            </a:pPr>
            <a:r>
              <a:rPr lang="en-US" sz="1800" dirty="0">
                <a:solidFill>
                  <a:srgbClr val="3A4560"/>
                </a:solidFill>
                <a:latin typeface="Arial" pitchFamily="34" charset="0"/>
                <a:ea typeface="Arial" pitchFamily="34" charset="-122"/>
                <a:cs typeface="Arial" pitchFamily="34" charset="-120"/>
              </a:rPr>
              <a:t>Clients train a shared model together without pooling their raw local datasets.</a:t>
            </a:r>
            <a:endParaRPr lang="en-US" sz="1800" dirty="0"/>
          </a:p>
        </p:txBody>
      </p:sp>
      <p:sp>
        <p:nvSpPr>
          <p:cNvPr id="5" name="Text 3"/>
          <p:cNvSpPr txBox="1"/>
          <p:nvPr/>
        </p:nvSpPr>
        <p:spPr>
          <a:xfrm>
            <a:off x="548640" y="2834640"/>
            <a:ext cx="5212080" cy="365760"/>
          </a:xfrm>
          <a:prstGeom prst="rect">
            <a:avLst/>
          </a:prstGeom>
          <a:noFill/>
          <a:ln/>
        </p:spPr>
        <p:txBody>
          <a:bodyPr wrap="square" lIns="0" tIns="0" rIns="0" bIns="0" rtlCol="0" anchor="t"/>
          <a:lstStyle/>
          <a:p>
            <a:pPr indent="0" marL="0">
              <a:buNone/>
            </a:pPr>
            <a:r>
              <a:rPr lang="en-US" sz="2000" b="1" dirty="0">
                <a:solidFill>
                  <a:srgbClr val="B3001B"/>
                </a:solidFill>
                <a:latin typeface="Arial" pitchFamily="34" charset="0"/>
                <a:ea typeface="Arial" pitchFamily="34" charset="-122"/>
                <a:cs typeface="Arial" pitchFamily="34" charset="-120"/>
              </a:rPr>
              <a:t>Backdoor poisoning</a:t>
            </a:r>
            <a:endParaRPr lang="en-US" sz="2000" dirty="0"/>
          </a:p>
        </p:txBody>
      </p:sp>
      <p:sp>
        <p:nvSpPr>
          <p:cNvPr id="6" name="Text 4"/>
          <p:cNvSpPr txBox="1"/>
          <p:nvPr/>
        </p:nvSpPr>
        <p:spPr>
          <a:xfrm>
            <a:off x="548640" y="3246120"/>
            <a:ext cx="5212080" cy="822960"/>
          </a:xfrm>
          <a:prstGeom prst="rect">
            <a:avLst/>
          </a:prstGeom>
          <a:noFill/>
          <a:ln/>
        </p:spPr>
        <p:txBody>
          <a:bodyPr wrap="square" lIns="0" tIns="0" rIns="0" bIns="0" rtlCol="0" anchor="t"/>
          <a:lstStyle/>
          <a:p>
            <a:pPr indent="0" marL="0">
              <a:buNone/>
            </a:pPr>
            <a:r>
              <a:rPr lang="en-US" sz="1800" dirty="0">
                <a:solidFill>
                  <a:srgbClr val="3A4560"/>
                </a:solidFill>
                <a:latin typeface="Arial" pitchFamily="34" charset="0"/>
                <a:ea typeface="Arial" pitchFamily="34" charset="-122"/>
                <a:cs typeface="Arial" pitchFamily="34" charset="-120"/>
              </a:rPr>
              <a:t>A malicious client poisons some local examples, so a small trigger becomes tied to a target label.</a:t>
            </a:r>
            <a:endParaRPr lang="en-US" sz="1800" dirty="0"/>
          </a:p>
        </p:txBody>
      </p:sp>
      <p:sp>
        <p:nvSpPr>
          <p:cNvPr id="7" name="Text 5"/>
          <p:cNvSpPr txBox="1"/>
          <p:nvPr/>
        </p:nvSpPr>
        <p:spPr>
          <a:xfrm>
            <a:off x="548640" y="4297680"/>
            <a:ext cx="5212080" cy="365760"/>
          </a:xfrm>
          <a:prstGeom prst="rect">
            <a:avLst/>
          </a:prstGeom>
          <a:noFill/>
          <a:ln/>
        </p:spPr>
        <p:txBody>
          <a:bodyPr wrap="square" lIns="0" tIns="0" rIns="0" bIns="0" rtlCol="0" anchor="t"/>
          <a:lstStyle/>
          <a:p>
            <a:pPr indent="0" marL="0">
              <a:buNone/>
            </a:pPr>
            <a:r>
              <a:rPr lang="en-US" sz="2000" b="1" dirty="0">
                <a:solidFill>
                  <a:srgbClr val="B3001B"/>
                </a:solidFill>
                <a:latin typeface="Arial" pitchFamily="34" charset="0"/>
                <a:ea typeface="Arial" pitchFamily="34" charset="-122"/>
                <a:cs typeface="Arial" pitchFamily="34" charset="-120"/>
              </a:rPr>
              <a:t>This project</a:t>
            </a:r>
            <a:endParaRPr lang="en-US" sz="2000" dirty="0"/>
          </a:p>
        </p:txBody>
      </p:sp>
      <p:sp>
        <p:nvSpPr>
          <p:cNvPr id="8" name="Text 6"/>
          <p:cNvSpPr txBox="1"/>
          <p:nvPr/>
        </p:nvSpPr>
        <p:spPr>
          <a:xfrm>
            <a:off x="548640" y="4709160"/>
            <a:ext cx="5212080" cy="822960"/>
          </a:xfrm>
          <a:prstGeom prst="rect">
            <a:avLst/>
          </a:prstGeom>
          <a:noFill/>
          <a:ln/>
        </p:spPr>
        <p:txBody>
          <a:bodyPr wrap="square" lIns="0" tIns="0" rIns="0" bIns="0" rtlCol="0" anchor="t"/>
          <a:lstStyle/>
          <a:p>
            <a:pPr indent="0" marL="0">
              <a:buNone/>
            </a:pPr>
            <a:r>
              <a:rPr lang="en-US" sz="1800" dirty="0">
                <a:solidFill>
                  <a:srgbClr val="3A4560"/>
                </a:solidFill>
                <a:latin typeface="Arial" pitchFamily="34" charset="0"/>
                <a:ea typeface="Arial" pitchFamily="34" charset="-122"/>
                <a:cs typeface="Arial" pitchFamily="34" charset="-120"/>
              </a:rPr>
              <a:t>A corner patch makes non-Airplane images get classified as Airplane.</a:t>
            </a:r>
            <a:endParaRPr lang="en-US" sz="1800" dirty="0"/>
          </a:p>
        </p:txBody>
      </p:sp>
      <p:sp>
        <p:nvSpPr>
          <p:cNvPr id="9" name="Shape 7"/>
          <p:cNvSpPr txBox="1"/>
          <p:nvPr/>
        </p:nvSpPr>
        <p:spPr>
          <a:xfrm>
            <a:off x="6583680" y="1371600"/>
            <a:ext cx="1188720" cy="1188720"/>
          </a:xfrm>
          <a:prstGeom prst="rect">
            <a:avLst/>
          </a:prstGeom>
          <a:solidFill>
            <a:srgbClr val="8C9BB0"/>
          </a:solidFill>
          <a:ln/>
        </p:spPr>
      </p:sp>
      <p:sp>
        <p:nvSpPr>
          <p:cNvPr id="10" name="Text 8"/>
          <p:cNvSpPr txBox="1"/>
          <p:nvPr/>
        </p:nvSpPr>
        <p:spPr>
          <a:xfrm>
            <a:off x="6583680" y="1417320"/>
            <a:ext cx="1188720" cy="228600"/>
          </a:xfrm>
          <a:prstGeom prst="rect">
            <a:avLst/>
          </a:prstGeom>
          <a:noFill/>
          <a:ln/>
        </p:spPr>
        <p:txBody>
          <a:bodyPr wrap="square" lIns="0" tIns="0" rIns="0" bIns="0" rtlCol="0" anchor="t"/>
          <a:lstStyle/>
          <a:p>
            <a:pPr algn="ctr" indent="0" marL="0">
              <a:buNone/>
            </a:pPr>
            <a:r>
              <a:rPr lang="en-US" sz="1100" dirty="0">
                <a:solidFill>
                  <a:srgbClr val="FFFFFF"/>
                </a:solidFill>
                <a:latin typeface="Arial" pitchFamily="34" charset="0"/>
                <a:ea typeface="Arial" pitchFamily="34" charset="-122"/>
                <a:cs typeface="Arial" pitchFamily="34" charset="-120"/>
              </a:rPr>
              <a:t>schematic tile</a:t>
            </a:r>
            <a:endParaRPr lang="en-US" sz="1100" dirty="0"/>
          </a:p>
        </p:txBody>
      </p:sp>
      <p:sp>
        <p:nvSpPr>
          <p:cNvPr id="11" name="Text 9"/>
          <p:cNvSpPr txBox="1"/>
          <p:nvPr/>
        </p:nvSpPr>
        <p:spPr>
          <a:xfrm>
            <a:off x="6400800" y="2633472"/>
            <a:ext cx="2194560" cy="502920"/>
          </a:xfrm>
          <a:prstGeom prst="rect">
            <a:avLst/>
          </a:prstGeom>
          <a:noFill/>
          <a:ln/>
        </p:spPr>
        <p:txBody>
          <a:bodyPr wrap="square" lIns="0" tIns="0" rIns="0" bIns="0" rtlCol="0" anchor="t"/>
          <a:lstStyle/>
          <a:p>
            <a:pPr algn="l" indent="0" marL="0">
              <a:buNone/>
            </a:pPr>
            <a:r>
              <a:rPr lang="en-US" sz="1400" dirty="0">
                <a:solidFill>
                  <a:srgbClr val="3A4560"/>
                </a:solidFill>
                <a:latin typeface="Arial" pitchFamily="34" charset="0"/>
                <a:ea typeface="Arial" pitchFamily="34" charset="-122"/>
                <a:cs typeface="Arial" pitchFamily="34" charset="-120"/>
              </a:rPr>
              <a:t>Clean input</a:t>
            </a:r>
            <a:endParaRPr lang="en-US" sz="1400" dirty="0"/>
          </a:p>
        </p:txBody>
      </p:sp>
      <p:sp>
        <p:nvSpPr>
          <p:cNvPr id="12" name="Shape 10"/>
          <p:cNvSpPr/>
          <p:nvPr/>
        </p:nvSpPr>
        <p:spPr>
          <a:xfrm>
            <a:off x="7863840" y="1965960"/>
            <a:ext cx="411480" cy="0"/>
          </a:xfrm>
          <a:prstGeom prst="line">
            <a:avLst/>
          </a:prstGeom>
          <a:noFill/>
          <a:ln w="25400">
            <a:solidFill>
              <a:srgbClr val="14213D"/>
            </a:solidFill>
            <a:prstDash val="solid"/>
            <a:tailEnd type="triangle"/>
          </a:ln>
        </p:spPr>
      </p:sp>
      <p:sp>
        <p:nvSpPr>
          <p:cNvPr id="13" name="Text 11"/>
          <p:cNvSpPr txBox="1"/>
          <p:nvPr/>
        </p:nvSpPr>
        <p:spPr>
          <a:xfrm>
            <a:off x="8321040" y="1554480"/>
            <a:ext cx="1371600" cy="822960"/>
          </a:xfrm>
          <a:prstGeom prst="roundRect">
            <a:avLst>
              <a:gd name="adj" fmla="val 8889"/>
            </a:avLst>
          </a:prstGeom>
          <a:solidFill>
            <a:srgbClr val="14213D"/>
          </a:solidFill>
          <a:ln/>
        </p:spPr>
        <p:txBody>
          <a:bodyPr wrap="square" lIns="101600" tIns="101600" rIns="101600" bIns="10160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Global model</a:t>
            </a:r>
            <a:endParaRPr lang="en-US" sz="1500" dirty="0"/>
          </a:p>
        </p:txBody>
      </p:sp>
      <p:sp>
        <p:nvSpPr>
          <p:cNvPr id="14" name="Shape 12"/>
          <p:cNvSpPr/>
          <p:nvPr/>
        </p:nvSpPr>
        <p:spPr>
          <a:xfrm>
            <a:off x="9738360" y="1965960"/>
            <a:ext cx="411480" cy="0"/>
          </a:xfrm>
          <a:prstGeom prst="line">
            <a:avLst/>
          </a:prstGeom>
          <a:noFill/>
          <a:ln w="25400">
            <a:solidFill>
              <a:srgbClr val="14213D"/>
            </a:solidFill>
            <a:prstDash val="solid"/>
            <a:tailEnd type="triangle"/>
          </a:ln>
        </p:spPr>
      </p:sp>
      <p:sp>
        <p:nvSpPr>
          <p:cNvPr id="15" name="Text 13"/>
          <p:cNvSpPr txBox="1"/>
          <p:nvPr/>
        </p:nvSpPr>
        <p:spPr>
          <a:xfrm>
            <a:off x="10195560" y="1463040"/>
            <a:ext cx="1417320" cy="1005840"/>
          </a:xfrm>
          <a:prstGeom prst="roundRect">
            <a:avLst>
              <a:gd name="adj" fmla="val 7273"/>
            </a:avLst>
          </a:prstGeom>
          <a:solidFill>
            <a:srgbClr val="E8ECF1"/>
          </a:solidFill>
          <a:ln w="15875">
            <a:solidFill>
              <a:srgbClr val="6B7C93"/>
            </a:solidFill>
            <a:prstDash val="solid"/>
          </a:ln>
        </p:spPr>
        <p:txBody>
          <a:bodyPr wrap="square" lIns="101600" tIns="101600" rIns="101600" bIns="101600" rtlCol="0" anchor="ctr"/>
          <a:lstStyle/>
          <a:p>
            <a:pPr algn="ctr" indent="0" marL="0">
              <a:buNone/>
            </a:pPr>
            <a:r>
              <a:rPr lang="en-US" sz="1400" b="1" dirty="0">
                <a:solidFill>
                  <a:srgbClr val="14213D"/>
                </a:solidFill>
                <a:latin typeface="Arial" pitchFamily="34" charset="0"/>
                <a:ea typeface="Arial" pitchFamily="34" charset="-122"/>
                <a:cs typeface="Arial" pitchFamily="34" charset="-120"/>
              </a:rPr>
              <a:t>Predicted: its true class</a:t>
            </a:r>
            <a:endParaRPr lang="en-US" sz="1400" dirty="0"/>
          </a:p>
        </p:txBody>
      </p:sp>
      <p:sp>
        <p:nvSpPr>
          <p:cNvPr id="16" name="Shape 14"/>
          <p:cNvSpPr txBox="1"/>
          <p:nvPr/>
        </p:nvSpPr>
        <p:spPr>
          <a:xfrm>
            <a:off x="6583680" y="3657600"/>
            <a:ext cx="1188720" cy="1188720"/>
          </a:xfrm>
          <a:prstGeom prst="rect">
            <a:avLst/>
          </a:prstGeom>
          <a:solidFill>
            <a:srgbClr val="8C9BB0"/>
          </a:solidFill>
          <a:ln/>
        </p:spPr>
      </p:sp>
      <p:sp>
        <p:nvSpPr>
          <p:cNvPr id="17" name="Text 15"/>
          <p:cNvSpPr txBox="1"/>
          <p:nvPr/>
        </p:nvSpPr>
        <p:spPr>
          <a:xfrm>
            <a:off x="6583680" y="3703320"/>
            <a:ext cx="1188720" cy="228600"/>
          </a:xfrm>
          <a:prstGeom prst="rect">
            <a:avLst/>
          </a:prstGeom>
          <a:noFill/>
          <a:ln/>
        </p:spPr>
        <p:txBody>
          <a:bodyPr wrap="square" lIns="0" tIns="0" rIns="0" bIns="0" rtlCol="0" anchor="t"/>
          <a:lstStyle/>
          <a:p>
            <a:pPr algn="ctr" indent="0" marL="0">
              <a:buNone/>
            </a:pPr>
            <a:r>
              <a:rPr lang="en-US" sz="1100" dirty="0">
                <a:solidFill>
                  <a:srgbClr val="FFFFFF"/>
                </a:solidFill>
                <a:latin typeface="Arial" pitchFamily="34" charset="0"/>
                <a:ea typeface="Arial" pitchFamily="34" charset="-122"/>
                <a:cs typeface="Arial" pitchFamily="34" charset="-120"/>
              </a:rPr>
              <a:t>schematic tile</a:t>
            </a:r>
            <a:endParaRPr lang="en-US" sz="1100" dirty="0"/>
          </a:p>
        </p:txBody>
      </p:sp>
      <p:sp>
        <p:nvSpPr>
          <p:cNvPr id="18" name="Shape 16"/>
          <p:cNvSpPr txBox="1"/>
          <p:nvPr/>
        </p:nvSpPr>
        <p:spPr>
          <a:xfrm>
            <a:off x="7552944" y="4626864"/>
            <a:ext cx="155448" cy="155448"/>
          </a:xfrm>
          <a:prstGeom prst="rect">
            <a:avLst/>
          </a:prstGeom>
          <a:solidFill>
            <a:srgbClr val="FFFFFF"/>
          </a:solidFill>
          <a:ln w="9525">
            <a:solidFill>
              <a:srgbClr val="14213D"/>
            </a:solidFill>
            <a:prstDash val="solid"/>
          </a:ln>
        </p:spPr>
      </p:sp>
      <p:sp>
        <p:nvSpPr>
          <p:cNvPr id="19" name="Text 17"/>
          <p:cNvSpPr txBox="1"/>
          <p:nvPr/>
        </p:nvSpPr>
        <p:spPr>
          <a:xfrm>
            <a:off x="6400800" y="4919472"/>
            <a:ext cx="2194560" cy="502920"/>
          </a:xfrm>
          <a:prstGeom prst="rect">
            <a:avLst/>
          </a:prstGeom>
          <a:noFill/>
          <a:ln/>
        </p:spPr>
        <p:txBody>
          <a:bodyPr wrap="square" lIns="0" tIns="0" rIns="0" bIns="0" rtlCol="0" anchor="t"/>
          <a:lstStyle/>
          <a:p>
            <a:pPr algn="l" indent="0" marL="0">
              <a:buNone/>
            </a:pPr>
            <a:r>
              <a:rPr lang="en-US" sz="1400" dirty="0">
                <a:solidFill>
                  <a:srgbClr val="3A4560"/>
                </a:solidFill>
                <a:latin typeface="Arial" pitchFamily="34" charset="0"/>
                <a:ea typeface="Arial" pitchFamily="34" charset="-122"/>
                <a:cs typeface="Arial" pitchFamily="34" charset="-120"/>
              </a:rPr>
              <a:t>Triggered input: 3×3 white patch, bottom-right</a:t>
            </a:r>
            <a:endParaRPr lang="en-US" sz="1400" dirty="0"/>
          </a:p>
        </p:txBody>
      </p:sp>
      <p:sp>
        <p:nvSpPr>
          <p:cNvPr id="20" name="Shape 18"/>
          <p:cNvSpPr/>
          <p:nvPr/>
        </p:nvSpPr>
        <p:spPr>
          <a:xfrm>
            <a:off x="7863840" y="4251960"/>
            <a:ext cx="411480" cy="0"/>
          </a:xfrm>
          <a:prstGeom prst="line">
            <a:avLst/>
          </a:prstGeom>
          <a:noFill/>
          <a:ln w="25400">
            <a:solidFill>
              <a:srgbClr val="14213D"/>
            </a:solidFill>
            <a:prstDash val="solid"/>
            <a:tailEnd type="triangle"/>
          </a:ln>
        </p:spPr>
      </p:sp>
      <p:sp>
        <p:nvSpPr>
          <p:cNvPr id="21" name="Text 19"/>
          <p:cNvSpPr txBox="1"/>
          <p:nvPr/>
        </p:nvSpPr>
        <p:spPr>
          <a:xfrm>
            <a:off x="8321040" y="3840480"/>
            <a:ext cx="1371600" cy="822960"/>
          </a:xfrm>
          <a:prstGeom prst="roundRect">
            <a:avLst>
              <a:gd name="adj" fmla="val 8889"/>
            </a:avLst>
          </a:prstGeom>
          <a:solidFill>
            <a:srgbClr val="14213D"/>
          </a:solidFill>
          <a:ln/>
        </p:spPr>
        <p:txBody>
          <a:bodyPr wrap="square" lIns="101600" tIns="101600" rIns="101600" bIns="10160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Global model</a:t>
            </a:r>
            <a:endParaRPr lang="en-US" sz="1500" dirty="0"/>
          </a:p>
        </p:txBody>
      </p:sp>
      <p:sp>
        <p:nvSpPr>
          <p:cNvPr id="22" name="Shape 20"/>
          <p:cNvSpPr/>
          <p:nvPr/>
        </p:nvSpPr>
        <p:spPr>
          <a:xfrm>
            <a:off x="9738360" y="4251960"/>
            <a:ext cx="411480" cy="0"/>
          </a:xfrm>
          <a:prstGeom prst="line">
            <a:avLst/>
          </a:prstGeom>
          <a:noFill/>
          <a:ln w="25400">
            <a:solidFill>
              <a:srgbClr val="14213D"/>
            </a:solidFill>
            <a:prstDash val="solid"/>
            <a:tailEnd type="triangle"/>
          </a:ln>
        </p:spPr>
      </p:sp>
      <p:sp>
        <p:nvSpPr>
          <p:cNvPr id="23" name="Text 21"/>
          <p:cNvSpPr txBox="1"/>
          <p:nvPr/>
        </p:nvSpPr>
        <p:spPr>
          <a:xfrm>
            <a:off x="10195560" y="3749040"/>
            <a:ext cx="1417320" cy="1005840"/>
          </a:xfrm>
          <a:prstGeom prst="roundRect">
            <a:avLst>
              <a:gd name="adj" fmla="val 7273"/>
            </a:avLst>
          </a:prstGeom>
          <a:solidFill>
            <a:srgbClr val="FCE9EB"/>
          </a:solidFill>
          <a:ln w="15875">
            <a:solidFill>
              <a:srgbClr val="D62839"/>
            </a:solidFill>
            <a:prstDash val="solid"/>
          </a:ln>
        </p:spPr>
        <p:txBody>
          <a:bodyPr wrap="square" lIns="101600" tIns="101600" rIns="101600" bIns="101600" rtlCol="0" anchor="ctr"/>
          <a:lstStyle/>
          <a:p>
            <a:pPr algn="ctr" indent="0" marL="0">
              <a:buNone/>
            </a:pPr>
            <a:r>
              <a:rPr lang="en-US" sz="1400" b="1" dirty="0">
                <a:solidFill>
                  <a:srgbClr val="B3001B"/>
                </a:solidFill>
                <a:latin typeface="Arial" pitchFamily="34" charset="0"/>
                <a:ea typeface="Arial" pitchFamily="34" charset="-122"/>
                <a:cs typeface="Arial" pitchFamily="34" charset="-120"/>
              </a:rPr>
              <a:t>Predicted: Airplane (class 0)</a:t>
            </a:r>
            <a:endParaRPr lang="en-US" sz="1400" dirty="0"/>
          </a:p>
        </p:txBody>
      </p:sp>
      <p:sp>
        <p:nvSpPr>
          <p:cNvPr id="24" name="Text 22"/>
          <p:cNvSpPr txBox="1"/>
          <p:nvPr/>
        </p:nvSpPr>
        <p:spPr>
          <a:xfrm>
            <a:off x="548640" y="5989320"/>
            <a:ext cx="11094415" cy="347472"/>
          </a:xfrm>
          <a:prstGeom prst="rect">
            <a:avLst/>
          </a:prstGeom>
          <a:noFill/>
          <a:ln/>
        </p:spPr>
        <p:txBody>
          <a:bodyPr wrap="square" lIns="0" tIns="0" rIns="0" bIns="0" rtlCol="0" anchor="t"/>
          <a:lstStyle/>
          <a:p>
            <a:pPr indent="0" marL="0">
              <a:buNone/>
            </a:pPr>
            <a:r>
              <a:rPr lang="en-US" sz="1150" dirty="0">
                <a:solidFill>
                  <a:srgbClr val="6B7280"/>
                </a:solidFill>
                <a:latin typeface="Arial" pitchFamily="34" charset="0"/>
                <a:ea typeface="Arial" pitchFamily="34" charset="-122"/>
                <a:cs typeface="Arial" pitchFamily="34" charset="-120"/>
              </a:rPr>
              <a:t>FL does not by itself guarantee privacy or security. Tiles are schematic illustrations, not CIFAR-10 samples.</a:t>
            </a:r>
            <a:endParaRPr lang="en-US" sz="115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A8394"/>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1672" cy="731520"/>
          </a:xfrm>
          <a:prstGeom prst="rect">
            <a:avLst/>
          </a:prstGeom>
          <a:noFill/>
          <a:ln/>
        </p:spPr>
        <p:txBody>
          <a:bodyPr wrap="square" lIns="0" tIns="0" rIns="0" bIns="0" rtlCol="0" anchor="ctr"/>
          <a:lstStyle/>
          <a:p>
            <a:pPr algn="l" indent="0" marL="0">
              <a:buNone/>
            </a:pPr>
            <a:r>
              <a:rPr lang="en-US" sz="3000" b="1" dirty="0">
                <a:solidFill>
                  <a:srgbClr val="14213D"/>
                </a:solidFill>
                <a:latin typeface="Arial" pitchFamily="34" charset="0"/>
                <a:ea typeface="Arial" pitchFamily="34" charset="-122"/>
                <a:cs typeface="Arial" pitchFamily="34" charset="-120"/>
              </a:rPr>
              <a:t>Where the attack enters the federated loop</a:t>
            </a:r>
            <a:endParaRPr lang="en-US" sz="3000" dirty="0"/>
          </a:p>
        </p:txBody>
      </p:sp>
      <p:sp>
        <p:nvSpPr>
          <p:cNvPr id="3" name="Shape 1"/>
          <p:cNvSpPr txBox="1"/>
          <p:nvPr/>
        </p:nvSpPr>
        <p:spPr>
          <a:xfrm>
            <a:off x="822960" y="1371600"/>
            <a:ext cx="3657600" cy="1417320"/>
          </a:xfrm>
          <a:prstGeom prst="roundRect">
            <a:avLst>
              <a:gd name="adj" fmla="val 5161"/>
            </a:avLst>
          </a:prstGeom>
          <a:solidFill>
            <a:srgbClr val="FCE9EB"/>
          </a:solidFill>
          <a:ln w="25400">
            <a:solidFill>
              <a:srgbClr val="D62839"/>
            </a:solidFill>
            <a:prstDash val="solid"/>
          </a:ln>
        </p:spPr>
      </p:sp>
      <p:sp>
        <p:nvSpPr>
          <p:cNvPr id="4" name="Text 2"/>
          <p:cNvSpPr txBox="1"/>
          <p:nvPr/>
        </p:nvSpPr>
        <p:spPr>
          <a:xfrm>
            <a:off x="1005840" y="1508760"/>
            <a:ext cx="3291840" cy="1188720"/>
          </a:xfrm>
          <a:prstGeom prst="rect">
            <a:avLst/>
          </a:prstGeom>
          <a:noFill/>
          <a:ln/>
        </p:spPr>
        <p:txBody>
          <a:bodyPr wrap="square" lIns="0" tIns="0" rIns="0" bIns="0" rtlCol="0" anchor="t"/>
          <a:lstStyle/>
          <a:p>
            <a:pPr indent="0" marL="0">
              <a:spcAft>
                <a:spcPts val="400"/>
              </a:spcAft>
              <a:buNone/>
            </a:pPr>
            <a:r>
              <a:rPr lang="en-US" sz="1800" b="1" dirty="0">
                <a:solidFill>
                  <a:srgbClr val="B3001B"/>
                </a:solidFill>
                <a:latin typeface="Arial" pitchFamily="34" charset="0"/>
                <a:ea typeface="Arial" pitchFamily="34" charset="-122"/>
                <a:cs typeface="Arial" pitchFamily="34" charset="-120"/>
              </a:rPr>
              <a:t>C0 · malicious client</a:t>
            </a:r>
            <a:endParaRPr lang="en-US" sz="1600" dirty="0"/>
          </a:p>
          <a:p>
            <a:pPr indent="0" marL="0">
              <a:spcAft>
                <a:spcPts val="400"/>
              </a:spcAft>
              <a:buNone/>
            </a:pPr>
            <a:r>
              <a:rPr lang="en-US" sz="1500" dirty="0">
                <a:solidFill>
                  <a:srgbClr val="3A4560"/>
                </a:solidFill>
                <a:latin typeface="Arial" pitchFamily="34" charset="0"/>
                <a:ea typeface="Arial" pitchFamily="34" charset="-122"/>
                <a:cs typeface="Arial" pitchFamily="34" charset="-120"/>
              </a:rPr>
              <a:t>Poisons ~10% of its local data with the trigger patch</a:t>
            </a:r>
            <a:endParaRPr lang="en-US" sz="1600" dirty="0"/>
          </a:p>
        </p:txBody>
      </p:sp>
      <p:sp>
        <p:nvSpPr>
          <p:cNvPr id="5" name="Shape 3"/>
          <p:cNvSpPr txBox="1"/>
          <p:nvPr/>
        </p:nvSpPr>
        <p:spPr>
          <a:xfrm>
            <a:off x="822960" y="3246120"/>
            <a:ext cx="3657600" cy="1417320"/>
          </a:xfrm>
          <a:prstGeom prst="roundRect">
            <a:avLst>
              <a:gd name="adj" fmla="val 5161"/>
            </a:avLst>
          </a:prstGeom>
          <a:solidFill>
            <a:srgbClr val="E4F4F2"/>
          </a:solidFill>
          <a:ln w="25400">
            <a:solidFill>
              <a:srgbClr val="0B7A75"/>
            </a:solidFill>
            <a:prstDash val="solid"/>
          </a:ln>
        </p:spPr>
      </p:sp>
      <p:sp>
        <p:nvSpPr>
          <p:cNvPr id="6" name="Text 4"/>
          <p:cNvSpPr txBox="1"/>
          <p:nvPr/>
        </p:nvSpPr>
        <p:spPr>
          <a:xfrm>
            <a:off x="1005840" y="3383280"/>
            <a:ext cx="3291840" cy="1188720"/>
          </a:xfrm>
          <a:prstGeom prst="rect">
            <a:avLst/>
          </a:prstGeom>
          <a:noFill/>
          <a:ln/>
        </p:spPr>
        <p:txBody>
          <a:bodyPr wrap="square" lIns="0" tIns="0" rIns="0" bIns="0" rtlCol="0" anchor="t"/>
          <a:lstStyle/>
          <a:p>
            <a:pPr indent="0" marL="0">
              <a:spcAft>
                <a:spcPts val="400"/>
              </a:spcAft>
              <a:buNone/>
            </a:pPr>
            <a:r>
              <a:rPr lang="en-US" sz="1800" b="1" dirty="0">
                <a:solidFill>
                  <a:srgbClr val="0B7A75"/>
                </a:solidFill>
                <a:latin typeface="Arial" pitchFamily="34" charset="0"/>
                <a:ea typeface="Arial" pitchFamily="34" charset="-122"/>
                <a:cs typeface="Arial" pitchFamily="34" charset="-120"/>
              </a:rPr>
              <a:t>C1–C9 · retained clients</a:t>
            </a:r>
            <a:endParaRPr lang="en-US" sz="1600" dirty="0"/>
          </a:p>
          <a:p>
            <a:pPr indent="0" marL="0">
              <a:spcAft>
                <a:spcPts val="400"/>
              </a:spcAft>
              <a:buNone/>
            </a:pPr>
            <a:r>
              <a:rPr lang="en-US" sz="1500" dirty="0">
                <a:solidFill>
                  <a:srgbClr val="3A4560"/>
                </a:solidFill>
                <a:latin typeface="Arial" pitchFamily="34" charset="0"/>
                <a:ea typeface="Arial" pitchFamily="34" charset="-122"/>
                <a:cs typeface="Arial" pitchFamily="34" charset="-120"/>
              </a:rPr>
              <a:t>Train on clean local data</a:t>
            </a:r>
            <a:endParaRPr lang="en-US" sz="1600" dirty="0"/>
          </a:p>
        </p:txBody>
      </p:sp>
      <p:sp>
        <p:nvSpPr>
          <p:cNvPr id="7" name="Text 5"/>
          <p:cNvSpPr txBox="1"/>
          <p:nvPr/>
        </p:nvSpPr>
        <p:spPr>
          <a:xfrm>
            <a:off x="630936" y="1179576"/>
            <a:ext cx="384048" cy="384048"/>
          </a:xfrm>
          <a:prstGeom prst="ellipse">
            <a:avLst/>
          </a:prstGeom>
          <a:solidFill>
            <a:srgbClr val="14213D"/>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txBox="1"/>
          <p:nvPr/>
        </p:nvSpPr>
        <p:spPr>
          <a:xfrm>
            <a:off x="822960" y="1005840"/>
            <a:ext cx="3291840" cy="274320"/>
          </a:xfrm>
          <a:prstGeom prst="rect">
            <a:avLst/>
          </a:prstGeom>
          <a:noFill/>
          <a:ln/>
        </p:spPr>
        <p:txBody>
          <a:bodyPr wrap="square" lIns="0" tIns="0" rIns="0" bIns="0" rtlCol="0" anchor="t"/>
          <a:lstStyle/>
          <a:p>
            <a:pPr indent="0" marL="0">
              <a:buNone/>
            </a:pPr>
            <a:r>
              <a:rPr lang="en-US" sz="1400" b="1" dirty="0">
                <a:solidFill>
                  <a:srgbClr val="3A4560"/>
                </a:solidFill>
                <a:latin typeface="Arial" pitchFamily="34" charset="0"/>
                <a:ea typeface="Arial" pitchFamily="34" charset="-122"/>
                <a:cs typeface="Arial" pitchFamily="34" charset="-120"/>
              </a:rPr>
              <a:t>Train locally (2 epochs)</a:t>
            </a:r>
            <a:endParaRPr lang="en-US" sz="1400" dirty="0"/>
          </a:p>
        </p:txBody>
      </p:sp>
      <p:sp>
        <p:nvSpPr>
          <p:cNvPr id="9" name="Shape 7"/>
          <p:cNvSpPr txBox="1"/>
          <p:nvPr/>
        </p:nvSpPr>
        <p:spPr>
          <a:xfrm>
            <a:off x="7315200" y="1920240"/>
            <a:ext cx="4297680" cy="2377440"/>
          </a:xfrm>
          <a:prstGeom prst="roundRect">
            <a:avLst>
              <a:gd name="adj" fmla="val 3077"/>
            </a:avLst>
          </a:prstGeom>
          <a:solidFill>
            <a:srgbClr val="F4F6F9"/>
          </a:solidFill>
          <a:ln w="25400">
            <a:solidFill>
              <a:srgbClr val="14213D"/>
            </a:solidFill>
            <a:prstDash val="solid"/>
          </a:ln>
        </p:spPr>
      </p:sp>
      <p:sp>
        <p:nvSpPr>
          <p:cNvPr id="10" name="Text 8"/>
          <p:cNvSpPr txBox="1"/>
          <p:nvPr/>
        </p:nvSpPr>
        <p:spPr>
          <a:xfrm>
            <a:off x="7543800" y="2103120"/>
            <a:ext cx="3840480" cy="365760"/>
          </a:xfrm>
          <a:prstGeom prst="rect">
            <a:avLst/>
          </a:prstGeom>
          <a:noFill/>
          <a:ln/>
        </p:spPr>
        <p:txBody>
          <a:bodyPr wrap="square" lIns="0" tIns="0" rIns="0" bIns="0" rtlCol="0" anchor="t"/>
          <a:lstStyle/>
          <a:p>
            <a:pPr indent="0" marL="0">
              <a:buNone/>
            </a:pPr>
            <a:r>
              <a:rPr lang="en-US" sz="2000" b="1" dirty="0">
                <a:solidFill>
                  <a:srgbClr val="14213D"/>
                </a:solidFill>
                <a:latin typeface="Arial" pitchFamily="34" charset="0"/>
                <a:ea typeface="Arial" pitchFamily="34" charset="-122"/>
                <a:cs typeface="Arial" pitchFamily="34" charset="-120"/>
              </a:rPr>
              <a:t>Central server</a:t>
            </a:r>
            <a:endParaRPr lang="en-US" sz="2000" dirty="0"/>
          </a:p>
        </p:txBody>
      </p:sp>
      <p:sp>
        <p:nvSpPr>
          <p:cNvPr id="11" name="Text 9"/>
          <p:cNvSpPr txBox="1"/>
          <p:nvPr/>
        </p:nvSpPr>
        <p:spPr>
          <a:xfrm>
            <a:off x="7543800" y="2560320"/>
            <a:ext cx="3840480" cy="731520"/>
          </a:xfrm>
          <a:prstGeom prst="rect">
            <a:avLst/>
          </a:prstGeom>
          <a:noFill/>
          <a:ln/>
        </p:spPr>
        <p:txBody>
          <a:bodyPr wrap="square" lIns="0" tIns="0" rIns="0" bIns="0" rtlCol="0" anchor="t"/>
          <a:lstStyle/>
          <a:p>
            <a:pPr indent="0" marL="0">
              <a:buNone/>
            </a:pPr>
            <a:r>
              <a:rPr lang="en-US" sz="1600" dirty="0">
                <a:solidFill>
                  <a:srgbClr val="3A4560"/>
                </a:solidFill>
                <a:latin typeface="Arial" pitchFamily="34" charset="0"/>
                <a:ea typeface="Arial" pitchFamily="34" charset="-122"/>
                <a:cs typeface="Arial" pitchFamily="34" charset="-120"/>
              </a:rPr>
              <a:t>Aggregates the updates from all 10 clients into a new global model</a:t>
            </a:r>
            <a:endParaRPr lang="en-US" sz="1600" dirty="0"/>
          </a:p>
        </p:txBody>
      </p:sp>
      <p:sp>
        <p:nvSpPr>
          <p:cNvPr id="12" name="Text 10"/>
          <p:cNvSpPr txBox="1"/>
          <p:nvPr/>
        </p:nvSpPr>
        <p:spPr>
          <a:xfrm>
            <a:off x="7543800" y="3429000"/>
            <a:ext cx="3840480" cy="640080"/>
          </a:xfrm>
          <a:prstGeom prst="rect">
            <a:avLst/>
          </a:prstGeom>
          <a:noFill/>
          <a:ln/>
        </p:spPr>
        <p:txBody>
          <a:bodyPr wrap="square" lIns="0" tIns="0" rIns="0" bIns="0" rtlCol="0" anchor="t"/>
          <a:lstStyle/>
          <a:p>
            <a:pPr indent="0" marL="0">
              <a:buNone/>
            </a:pPr>
            <a:r>
              <a:rPr lang="en-US" sz="1500" b="1" dirty="0">
                <a:solidFill>
                  <a:srgbClr val="B3001B"/>
                </a:solidFill>
                <a:latin typeface="Arial" pitchFamily="34" charset="0"/>
                <a:ea typeface="Arial" pitchFamily="34" charset="-122"/>
                <a:cs typeface="Arial" pitchFamily="34" charset="-120"/>
              </a:rPr>
              <a:t>C0's poisoned update is mixed in with the others</a:t>
            </a:r>
            <a:endParaRPr lang="en-US" sz="1500" dirty="0"/>
          </a:p>
        </p:txBody>
      </p:sp>
      <p:sp>
        <p:nvSpPr>
          <p:cNvPr id="13" name="Text 11"/>
          <p:cNvSpPr txBox="1"/>
          <p:nvPr/>
        </p:nvSpPr>
        <p:spPr>
          <a:xfrm>
            <a:off x="7123176" y="1728216"/>
            <a:ext cx="384048" cy="384048"/>
          </a:xfrm>
          <a:prstGeom prst="ellipse">
            <a:avLst/>
          </a:prstGeom>
          <a:solidFill>
            <a:srgbClr val="14213D"/>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4" name="Shape 12"/>
          <p:cNvSpPr/>
          <p:nvPr/>
        </p:nvSpPr>
        <p:spPr>
          <a:xfrm>
            <a:off x="4526280" y="2103120"/>
            <a:ext cx="2743200" cy="548640"/>
          </a:xfrm>
          <a:prstGeom prst="line">
            <a:avLst/>
          </a:prstGeom>
          <a:noFill/>
          <a:ln w="38100">
            <a:solidFill>
              <a:srgbClr val="D62839"/>
            </a:solidFill>
            <a:prstDash val="solid"/>
            <a:tailEnd type="triangle"/>
          </a:ln>
        </p:spPr>
      </p:sp>
      <p:sp>
        <p:nvSpPr>
          <p:cNvPr id="15" name="Shape 13"/>
          <p:cNvSpPr/>
          <p:nvPr/>
        </p:nvSpPr>
        <p:spPr>
          <a:xfrm flipV="1">
            <a:off x="4526280" y="3566160"/>
            <a:ext cx="2743200" cy="365760"/>
          </a:xfrm>
          <a:prstGeom prst="line">
            <a:avLst/>
          </a:prstGeom>
          <a:noFill/>
          <a:ln w="38100">
            <a:solidFill>
              <a:srgbClr val="0B7A75"/>
            </a:solidFill>
            <a:prstDash val="solid"/>
            <a:tailEnd type="triangle"/>
          </a:ln>
        </p:spPr>
      </p:sp>
      <p:sp>
        <p:nvSpPr>
          <p:cNvPr id="16" name="Text 14"/>
          <p:cNvSpPr txBox="1"/>
          <p:nvPr/>
        </p:nvSpPr>
        <p:spPr>
          <a:xfrm>
            <a:off x="5705856" y="1984248"/>
            <a:ext cx="384048" cy="384048"/>
          </a:xfrm>
          <a:prstGeom prst="ellipse">
            <a:avLst/>
          </a:prstGeom>
          <a:solidFill>
            <a:srgbClr val="14213D"/>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7" name="Text 15"/>
          <p:cNvSpPr txBox="1"/>
          <p:nvPr/>
        </p:nvSpPr>
        <p:spPr>
          <a:xfrm>
            <a:off x="4754880" y="4160520"/>
            <a:ext cx="2468880" cy="274320"/>
          </a:xfrm>
          <a:prstGeom prst="rect">
            <a:avLst/>
          </a:prstGeom>
          <a:noFill/>
          <a:ln/>
        </p:spPr>
        <p:txBody>
          <a:bodyPr wrap="square" lIns="0" tIns="0" rIns="0" bIns="0" rtlCol="0" anchor="t"/>
          <a:lstStyle/>
          <a:p>
            <a:pPr algn="ctr" indent="0" marL="0">
              <a:buNone/>
            </a:pPr>
            <a:r>
              <a:rPr lang="en-US" sz="1400" b="1" dirty="0">
                <a:solidFill>
                  <a:srgbClr val="3A4560"/>
                </a:solidFill>
                <a:latin typeface="Arial" pitchFamily="34" charset="0"/>
                <a:ea typeface="Arial" pitchFamily="34" charset="-122"/>
                <a:cs typeface="Arial" pitchFamily="34" charset="-120"/>
              </a:rPr>
              <a:t>Updates sent to server</a:t>
            </a:r>
            <a:endParaRPr lang="en-US" sz="1400" dirty="0"/>
          </a:p>
        </p:txBody>
      </p:sp>
      <p:sp>
        <p:nvSpPr>
          <p:cNvPr id="18" name="Shape 16"/>
          <p:cNvSpPr/>
          <p:nvPr/>
        </p:nvSpPr>
        <p:spPr>
          <a:xfrm>
            <a:off x="9464040" y="4343400"/>
            <a:ext cx="0" cy="914400"/>
          </a:xfrm>
          <a:prstGeom prst="line">
            <a:avLst/>
          </a:prstGeom>
          <a:noFill/>
          <a:ln w="38100">
            <a:solidFill>
              <a:srgbClr val="14213D"/>
            </a:solidFill>
            <a:prstDash val="solid"/>
          </a:ln>
        </p:spPr>
      </p:sp>
      <p:sp>
        <p:nvSpPr>
          <p:cNvPr id="19" name="Shape 17"/>
          <p:cNvSpPr/>
          <p:nvPr/>
        </p:nvSpPr>
        <p:spPr>
          <a:xfrm flipH="1">
            <a:off x="2651760" y="5257800"/>
            <a:ext cx="6812280" cy="0"/>
          </a:xfrm>
          <a:prstGeom prst="line">
            <a:avLst/>
          </a:prstGeom>
          <a:noFill/>
          <a:ln w="38100">
            <a:solidFill>
              <a:srgbClr val="14213D"/>
            </a:solidFill>
            <a:prstDash val="solid"/>
          </a:ln>
        </p:spPr>
      </p:sp>
      <p:sp>
        <p:nvSpPr>
          <p:cNvPr id="20" name="Shape 18"/>
          <p:cNvSpPr/>
          <p:nvPr/>
        </p:nvSpPr>
        <p:spPr>
          <a:xfrm flipV="1">
            <a:off x="2651760" y="4709160"/>
            <a:ext cx="0" cy="548640"/>
          </a:xfrm>
          <a:prstGeom prst="line">
            <a:avLst/>
          </a:prstGeom>
          <a:noFill/>
          <a:ln w="38100">
            <a:solidFill>
              <a:srgbClr val="14213D"/>
            </a:solidFill>
            <a:prstDash val="solid"/>
            <a:tailEnd type="triangle"/>
          </a:ln>
        </p:spPr>
      </p:sp>
      <p:sp>
        <p:nvSpPr>
          <p:cNvPr id="21" name="Text 19"/>
          <p:cNvSpPr txBox="1"/>
          <p:nvPr/>
        </p:nvSpPr>
        <p:spPr>
          <a:xfrm>
            <a:off x="5843016" y="5065776"/>
            <a:ext cx="384048" cy="384048"/>
          </a:xfrm>
          <a:prstGeom prst="ellipse">
            <a:avLst/>
          </a:prstGeom>
          <a:solidFill>
            <a:srgbClr val="14213D"/>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3291840" y="5394960"/>
            <a:ext cx="5486400" cy="274320"/>
          </a:xfrm>
          <a:prstGeom prst="rect">
            <a:avLst/>
          </a:prstGeom>
          <a:noFill/>
          <a:ln/>
        </p:spPr>
        <p:txBody>
          <a:bodyPr wrap="square" lIns="0" tIns="0" rIns="0" bIns="0" rtlCol="0" anchor="t"/>
          <a:lstStyle/>
          <a:p>
            <a:pPr algn="ctr" indent="0" marL="0">
              <a:buNone/>
            </a:pPr>
            <a:r>
              <a:rPr lang="en-US" sz="1400" b="1" dirty="0">
                <a:solidFill>
                  <a:srgbClr val="3A4560"/>
                </a:solidFill>
                <a:latin typeface="Arial" pitchFamily="34" charset="0"/>
                <a:ea typeface="Arial" pitchFamily="34" charset="-122"/>
                <a:cs typeface="Arial" pitchFamily="34" charset="-120"/>
              </a:rPr>
              <a:t>Updated global model returns to every client, including C0</a:t>
            </a:r>
            <a:endParaRPr lang="en-US" sz="1400" dirty="0"/>
          </a:p>
        </p:txBody>
      </p:sp>
      <p:sp>
        <p:nvSpPr>
          <p:cNvPr id="23" name="Text 21"/>
          <p:cNvSpPr txBox="1"/>
          <p:nvPr/>
        </p:nvSpPr>
        <p:spPr>
          <a:xfrm>
            <a:off x="548640" y="5806440"/>
            <a:ext cx="11094415" cy="502920"/>
          </a:xfrm>
          <a:prstGeom prst="roundRect">
            <a:avLst>
              <a:gd name="adj" fmla="val 14545"/>
            </a:avLst>
          </a:prstGeom>
          <a:solidFill>
            <a:srgbClr val="14213D"/>
          </a:solidFill>
          <a:ln/>
        </p:spPr>
        <p:txBody>
          <a:bodyPr wrap="square" lIns="101600" tIns="101600" rIns="101600" bIns="10160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Takeaway: the attacker takes part as an ordinary client during training.</a:t>
            </a:r>
            <a:endParaRPr lang="en-US" sz="180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A8394"/>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1672" cy="731520"/>
          </a:xfrm>
          <a:prstGeom prst="rect">
            <a:avLst/>
          </a:prstGeom>
          <a:noFill/>
          <a:ln/>
        </p:spPr>
        <p:txBody>
          <a:bodyPr wrap="square" lIns="0" tIns="0" rIns="0" bIns="0" rtlCol="0" anchor="ctr"/>
          <a:lstStyle/>
          <a:p>
            <a:pPr algn="l" indent="0" marL="0">
              <a:buNone/>
            </a:pPr>
            <a:r>
              <a:rPr lang="en-US" sz="3000" b="1" dirty="0">
                <a:solidFill>
                  <a:srgbClr val="14213D"/>
                </a:solidFill>
                <a:latin typeface="Arial" pitchFamily="34" charset="0"/>
                <a:ea typeface="Arial" pitchFamily="34" charset="-122"/>
                <a:cs typeface="Arial" pitchFamily="34" charset="-120"/>
              </a:rPr>
              <a:t>Research question and scope</a:t>
            </a:r>
            <a:endParaRPr lang="en-US" sz="3000" dirty="0"/>
          </a:p>
        </p:txBody>
      </p:sp>
      <p:sp>
        <p:nvSpPr>
          <p:cNvPr id="3" name="Shape 1"/>
          <p:cNvSpPr txBox="1"/>
          <p:nvPr/>
        </p:nvSpPr>
        <p:spPr>
          <a:xfrm>
            <a:off x="548640" y="1280160"/>
            <a:ext cx="11094415" cy="1143000"/>
          </a:xfrm>
          <a:prstGeom prst="roundRect">
            <a:avLst>
              <a:gd name="adj" fmla="val 6400"/>
            </a:avLst>
          </a:prstGeom>
          <a:solidFill>
            <a:srgbClr val="F4F6F9"/>
          </a:solidFill>
          <a:ln/>
        </p:spPr>
      </p:sp>
      <p:sp>
        <p:nvSpPr>
          <p:cNvPr id="4" name="Text 2"/>
          <p:cNvSpPr txBox="1"/>
          <p:nvPr/>
        </p:nvSpPr>
        <p:spPr>
          <a:xfrm>
            <a:off x="868680" y="1371600"/>
            <a:ext cx="10454335" cy="960120"/>
          </a:xfrm>
          <a:prstGeom prst="rect">
            <a:avLst/>
          </a:prstGeom>
          <a:noFill/>
          <a:ln/>
        </p:spPr>
        <p:txBody>
          <a:bodyPr wrap="square" lIns="0" tIns="0" rIns="0" bIns="0" rtlCol="0" anchor="ctr"/>
          <a:lstStyle/>
          <a:p>
            <a:pPr indent="0" marL="0">
              <a:buNone/>
            </a:pPr>
            <a:r>
              <a:rPr lang="en-US" sz="2200" b="1" dirty="0">
                <a:solidFill>
                  <a:srgbClr val="14213D"/>
                </a:solidFill>
                <a:latin typeface="Arial" pitchFamily="34" charset="0"/>
                <a:ea typeface="Arial" pitchFamily="34" charset="-122"/>
                <a:cs typeface="Arial" pitchFamily="34" charset="-120"/>
              </a:rPr>
              <a:t>Can we reduce the influence of a malicious federated client and suppress its backdoor while preserving clean-model utility?</a:t>
            </a:r>
            <a:endParaRPr lang="en-US" sz="2200" dirty="0"/>
          </a:p>
        </p:txBody>
      </p:sp>
      <p:sp>
        <p:nvSpPr>
          <p:cNvPr id="5" name="Shape 3"/>
          <p:cNvSpPr txBox="1"/>
          <p:nvPr/>
        </p:nvSpPr>
        <p:spPr>
          <a:xfrm>
            <a:off x="548640" y="2697480"/>
            <a:ext cx="3593592" cy="1371600"/>
          </a:xfrm>
          <a:prstGeom prst="roundRect">
            <a:avLst>
              <a:gd name="adj" fmla="val 5333"/>
            </a:avLst>
          </a:prstGeom>
          <a:solidFill>
            <a:srgbClr val="FCE9EB"/>
          </a:solidFill>
          <a:ln w="22225">
            <a:solidFill>
              <a:srgbClr val="D62839"/>
            </a:solidFill>
            <a:prstDash val="solid"/>
          </a:ln>
        </p:spPr>
      </p:sp>
      <p:sp>
        <p:nvSpPr>
          <p:cNvPr id="6" name="Text 4"/>
          <p:cNvSpPr txBox="1"/>
          <p:nvPr/>
        </p:nvSpPr>
        <p:spPr>
          <a:xfrm>
            <a:off x="777240" y="2807208"/>
            <a:ext cx="3154680" cy="365760"/>
          </a:xfrm>
          <a:prstGeom prst="rect">
            <a:avLst/>
          </a:prstGeom>
          <a:noFill/>
          <a:ln/>
        </p:spPr>
        <p:txBody>
          <a:bodyPr wrap="square" lIns="0" tIns="0" rIns="0" bIns="0" rtlCol="0" anchor="t"/>
          <a:lstStyle/>
          <a:p>
            <a:pPr indent="0" marL="0">
              <a:buNone/>
            </a:pPr>
            <a:r>
              <a:rPr lang="en-US" sz="2000" b="1" dirty="0">
                <a:solidFill>
                  <a:srgbClr val="D62839"/>
                </a:solidFill>
                <a:latin typeface="Arial" pitchFamily="34" charset="0"/>
                <a:ea typeface="Arial" pitchFamily="34" charset="-122"/>
                <a:cs typeface="Arial" pitchFamily="34" charset="-120"/>
              </a:rPr>
              <a:t>Suppress</a:t>
            </a:r>
            <a:endParaRPr lang="en-US" sz="2000" dirty="0"/>
          </a:p>
        </p:txBody>
      </p:sp>
      <p:sp>
        <p:nvSpPr>
          <p:cNvPr id="7" name="Text 5"/>
          <p:cNvSpPr txBox="1"/>
          <p:nvPr/>
        </p:nvSpPr>
        <p:spPr>
          <a:xfrm>
            <a:off x="777240" y="3218688"/>
            <a:ext cx="3154680" cy="822960"/>
          </a:xfrm>
          <a:prstGeom prst="rect">
            <a:avLst/>
          </a:prstGeom>
          <a:noFill/>
          <a:ln/>
        </p:spPr>
        <p:txBody>
          <a:bodyPr wrap="square" lIns="0" tIns="0" rIns="0" bIns="0" rtlCol="0" anchor="t"/>
          <a:lstStyle/>
          <a:p>
            <a:pPr indent="0" marL="0">
              <a:buNone/>
            </a:pPr>
            <a:r>
              <a:rPr lang="en-US" sz="1600" dirty="0">
                <a:solidFill>
                  <a:srgbClr val="3A4560"/>
                </a:solidFill>
                <a:latin typeface="Arial" pitchFamily="34" charset="0"/>
                <a:ea typeface="Arial" pitchFamily="34" charset="-122"/>
                <a:cs typeface="Arial" pitchFamily="34" charset="-120"/>
              </a:rPr>
              <a:t>triggered target predictions</a:t>
            </a:r>
            <a:endParaRPr lang="en-US" sz="1600" dirty="0"/>
          </a:p>
        </p:txBody>
      </p:sp>
      <p:sp>
        <p:nvSpPr>
          <p:cNvPr id="8" name="Shape 6"/>
          <p:cNvSpPr txBox="1"/>
          <p:nvPr/>
        </p:nvSpPr>
        <p:spPr>
          <a:xfrm>
            <a:off x="4297680" y="2697480"/>
            <a:ext cx="3593592" cy="1371600"/>
          </a:xfrm>
          <a:prstGeom prst="roundRect">
            <a:avLst>
              <a:gd name="adj" fmla="val 5333"/>
            </a:avLst>
          </a:prstGeom>
          <a:solidFill>
            <a:srgbClr val="E8ECF1"/>
          </a:solidFill>
          <a:ln w="22225">
            <a:solidFill>
              <a:srgbClr val="14213D"/>
            </a:solidFill>
            <a:prstDash val="solid"/>
          </a:ln>
        </p:spPr>
      </p:sp>
      <p:sp>
        <p:nvSpPr>
          <p:cNvPr id="9" name="Text 7"/>
          <p:cNvSpPr txBox="1"/>
          <p:nvPr/>
        </p:nvSpPr>
        <p:spPr>
          <a:xfrm>
            <a:off x="4526280" y="2807208"/>
            <a:ext cx="3154680" cy="365760"/>
          </a:xfrm>
          <a:prstGeom prst="rect">
            <a:avLst/>
          </a:prstGeom>
          <a:noFill/>
          <a:ln/>
        </p:spPr>
        <p:txBody>
          <a:bodyPr wrap="square" lIns="0" tIns="0" rIns="0" bIns="0" rtlCol="0" anchor="t"/>
          <a:lstStyle/>
          <a:p>
            <a:pPr indent="0" marL="0">
              <a:buNone/>
            </a:pPr>
            <a:r>
              <a:rPr lang="en-US" sz="2000" b="1" dirty="0">
                <a:solidFill>
                  <a:srgbClr val="14213D"/>
                </a:solidFill>
                <a:latin typeface="Arial" pitchFamily="34" charset="0"/>
                <a:ea typeface="Arial" pitchFamily="34" charset="-122"/>
                <a:cs typeface="Arial" pitchFamily="34" charset="-120"/>
              </a:rPr>
              <a:t>Preserve</a:t>
            </a:r>
            <a:endParaRPr lang="en-US" sz="2000" dirty="0"/>
          </a:p>
        </p:txBody>
      </p:sp>
      <p:sp>
        <p:nvSpPr>
          <p:cNvPr id="10" name="Text 8"/>
          <p:cNvSpPr txBox="1"/>
          <p:nvPr/>
        </p:nvSpPr>
        <p:spPr>
          <a:xfrm>
            <a:off x="4526280" y="3218688"/>
            <a:ext cx="3154680" cy="822960"/>
          </a:xfrm>
          <a:prstGeom prst="rect">
            <a:avLst/>
          </a:prstGeom>
          <a:noFill/>
          <a:ln/>
        </p:spPr>
        <p:txBody>
          <a:bodyPr wrap="square" lIns="0" tIns="0" rIns="0" bIns="0" rtlCol="0" anchor="t"/>
          <a:lstStyle/>
          <a:p>
            <a:pPr indent="0" marL="0">
              <a:buNone/>
            </a:pPr>
            <a:r>
              <a:rPr lang="en-US" sz="1600" dirty="0">
                <a:solidFill>
                  <a:srgbClr val="3A4560"/>
                </a:solidFill>
                <a:latin typeface="Arial" pitchFamily="34" charset="0"/>
                <a:ea typeface="Arial" pitchFamily="34" charset="-122"/>
                <a:cs typeface="Arial" pitchFamily="34" charset="-120"/>
              </a:rPr>
              <a:t>clean utility</a:t>
            </a:r>
            <a:endParaRPr lang="en-US" sz="1600" dirty="0"/>
          </a:p>
        </p:txBody>
      </p:sp>
      <p:sp>
        <p:nvSpPr>
          <p:cNvPr id="11" name="Shape 9"/>
          <p:cNvSpPr txBox="1"/>
          <p:nvPr/>
        </p:nvSpPr>
        <p:spPr>
          <a:xfrm>
            <a:off x="8046720" y="2697480"/>
            <a:ext cx="3593592" cy="1371600"/>
          </a:xfrm>
          <a:prstGeom prst="roundRect">
            <a:avLst>
              <a:gd name="adj" fmla="val 5333"/>
            </a:avLst>
          </a:prstGeom>
          <a:solidFill>
            <a:srgbClr val="ECEDEF"/>
          </a:solidFill>
          <a:ln w="22225">
            <a:solidFill>
              <a:srgbClr val="4A4F57"/>
            </a:solidFill>
            <a:prstDash val="dash"/>
          </a:ln>
        </p:spPr>
      </p:sp>
      <p:sp>
        <p:nvSpPr>
          <p:cNvPr id="12" name="Text 10"/>
          <p:cNvSpPr txBox="1"/>
          <p:nvPr/>
        </p:nvSpPr>
        <p:spPr>
          <a:xfrm>
            <a:off x="8275320" y="2807208"/>
            <a:ext cx="3154680" cy="365760"/>
          </a:xfrm>
          <a:prstGeom prst="rect">
            <a:avLst/>
          </a:prstGeom>
          <a:noFill/>
          <a:ln/>
        </p:spPr>
        <p:txBody>
          <a:bodyPr wrap="square" lIns="0" tIns="0" rIns="0" bIns="0" rtlCol="0" anchor="t"/>
          <a:lstStyle/>
          <a:p>
            <a:pPr indent="0" marL="0">
              <a:buNone/>
            </a:pPr>
            <a:r>
              <a:rPr lang="en-US" sz="2000" b="1" dirty="0">
                <a:solidFill>
                  <a:srgbClr val="4A4F57"/>
                </a:solidFill>
                <a:latin typeface="Arial" pitchFamily="34" charset="0"/>
                <a:ea typeface="Arial" pitchFamily="34" charset="-122"/>
                <a:cs typeface="Arial" pitchFamily="34" charset="-120"/>
              </a:rPr>
              <a:t>Approach</a:t>
            </a:r>
            <a:endParaRPr lang="en-US" sz="2000" dirty="0"/>
          </a:p>
        </p:txBody>
      </p:sp>
      <p:sp>
        <p:nvSpPr>
          <p:cNvPr id="13" name="Text 11"/>
          <p:cNvSpPr txBox="1"/>
          <p:nvPr/>
        </p:nvSpPr>
        <p:spPr>
          <a:xfrm>
            <a:off x="8275320" y="3218688"/>
            <a:ext cx="3154680" cy="822960"/>
          </a:xfrm>
          <a:prstGeom prst="rect">
            <a:avLst/>
          </a:prstGeom>
          <a:noFill/>
          <a:ln/>
        </p:spPr>
        <p:txBody>
          <a:bodyPr wrap="square" lIns="0" tIns="0" rIns="0" bIns="0" rtlCol="0" anchor="t"/>
          <a:lstStyle/>
          <a:p>
            <a:pPr indent="0" marL="0">
              <a:buNone/>
            </a:pPr>
            <a:r>
              <a:rPr lang="en-US" sz="1600" dirty="0">
                <a:solidFill>
                  <a:srgbClr val="3A4560"/>
                </a:solidFill>
                <a:latin typeface="Arial" pitchFamily="34" charset="0"/>
                <a:ea typeface="Arial" pitchFamily="34" charset="-122"/>
                <a:cs typeface="Arial" pitchFamily="34" charset="-120"/>
              </a:rPr>
              <a:t>the behavior of the counterfactual model trained without C0</a:t>
            </a:r>
            <a:endParaRPr lang="en-US" sz="1600" dirty="0"/>
          </a:p>
        </p:txBody>
      </p:sp>
      <p:sp>
        <p:nvSpPr>
          <p:cNvPr id="14" name="Shape 12"/>
          <p:cNvSpPr txBox="1"/>
          <p:nvPr/>
        </p:nvSpPr>
        <p:spPr>
          <a:xfrm>
            <a:off x="548640" y="4343400"/>
            <a:ext cx="6858000" cy="1783080"/>
          </a:xfrm>
          <a:prstGeom prst="roundRect">
            <a:avLst>
              <a:gd name="adj" fmla="val 4103"/>
            </a:avLst>
          </a:prstGeom>
          <a:solidFill>
            <a:srgbClr val="FFFFFF"/>
          </a:solidFill>
          <a:ln w="15875">
            <a:solidFill>
              <a:srgbClr val="D5DAE3"/>
            </a:solidFill>
            <a:prstDash val="solid"/>
          </a:ln>
        </p:spPr>
      </p:sp>
      <p:sp>
        <p:nvSpPr>
          <p:cNvPr id="15" name="Text 13"/>
          <p:cNvSpPr txBox="1"/>
          <p:nvPr/>
        </p:nvSpPr>
        <p:spPr>
          <a:xfrm>
            <a:off x="777240" y="4434840"/>
            <a:ext cx="2743200" cy="320040"/>
          </a:xfrm>
          <a:prstGeom prst="rect">
            <a:avLst/>
          </a:prstGeom>
          <a:noFill/>
          <a:ln/>
        </p:spPr>
        <p:txBody>
          <a:bodyPr wrap="square" lIns="0" tIns="0" rIns="0" bIns="0" rtlCol="0" anchor="t"/>
          <a:lstStyle/>
          <a:p>
            <a:pPr indent="0" marL="0">
              <a:buNone/>
            </a:pPr>
            <a:r>
              <a:rPr lang="en-US" sz="1800" b="1" dirty="0">
                <a:solidFill>
                  <a:srgbClr val="14213D"/>
                </a:solidFill>
                <a:latin typeface="Arial" pitchFamily="34" charset="0"/>
                <a:ea typeface="Arial" pitchFamily="34" charset="-122"/>
                <a:cs typeface="Arial" pitchFamily="34" charset="-120"/>
              </a:rPr>
              <a:t>In scope</a:t>
            </a:r>
            <a:endParaRPr lang="en-US" sz="1800" dirty="0"/>
          </a:p>
        </p:txBody>
      </p:sp>
      <p:sp>
        <p:nvSpPr>
          <p:cNvPr id="16" name="Text 14"/>
          <p:cNvSpPr txBox="1"/>
          <p:nvPr/>
        </p:nvSpPr>
        <p:spPr>
          <a:xfrm>
            <a:off x="777240" y="4800600"/>
            <a:ext cx="6400800" cy="1280160"/>
          </a:xfrm>
          <a:prstGeom prst="rect">
            <a:avLst/>
          </a:prstGeom>
          <a:noFill/>
          <a:ln/>
        </p:spPr>
        <p:txBody>
          <a:bodyPr wrap="square" lIns="0" tIns="0" rIns="0" bIns="0" rtlCol="0" anchor="t"/>
          <a:lstStyle/>
          <a:p>
            <a:pPr marL="342900" indent="-342900">
              <a:spcAft>
                <a:spcPts val="300"/>
              </a:spcAft>
              <a:buSzPct val="100000"/>
              <a:buChar char="•"/>
            </a:pPr>
            <a:r>
              <a:rPr lang="en-US" sz="1600" dirty="0">
                <a:solidFill>
                  <a:srgbClr val="3A4560"/>
                </a:solidFill>
                <a:latin typeface="Arial" pitchFamily="34" charset="0"/>
                <a:ea typeface="Arial" pitchFamily="34" charset="-122"/>
                <a:cs typeface="Arial" pitchFamily="34" charset="-120"/>
              </a:rPr>
              <a:t>CIFAR-10 with a SmallCNN</a:t>
            </a:r>
            <a:endParaRPr lang="en-US" sz="1600" dirty="0"/>
          </a:p>
          <a:p>
            <a:pPr marL="342900" indent="-342900">
              <a:spcAft>
                <a:spcPts val="300"/>
              </a:spcAft>
              <a:buSzPct val="100000"/>
              <a:buChar char="•"/>
            </a:pPr>
            <a:r>
              <a:rPr lang="en-US" sz="1600" dirty="0">
                <a:solidFill>
                  <a:srgbClr val="3A4560"/>
                </a:solidFill>
                <a:latin typeface="Arial" pitchFamily="34" charset="0"/>
                <a:ea typeface="Arial" pitchFamily="34" charset="-122"/>
                <a:cs typeface="Arial" pitchFamily="34" charset="-120"/>
              </a:rPr>
              <a:t>IID and one saved Dirichlet Non-IID split (α = 0.5)</a:t>
            </a:r>
            <a:endParaRPr lang="en-US" sz="1600" dirty="0"/>
          </a:p>
          <a:p>
            <a:pPr marL="342900" indent="-342900">
              <a:spcAft>
                <a:spcPts val="300"/>
              </a:spcAft>
              <a:buSzPct val="100000"/>
              <a:buChar char="•"/>
            </a:pPr>
            <a:r>
              <a:rPr lang="en-US" sz="1600" dirty="0">
                <a:solidFill>
                  <a:srgbClr val="3A4560"/>
                </a:solidFill>
                <a:latin typeface="Arial" pitchFamily="34" charset="0"/>
                <a:ea typeface="Arial" pitchFamily="34" charset="-122"/>
                <a:cs typeface="Arial" pitchFamily="34" charset="-120"/>
              </a:rPr>
              <a:t>Subtraction, KD and FedEraser-style reconstruction compared</a:t>
            </a:r>
            <a:endParaRPr lang="en-US" sz="1600" dirty="0"/>
          </a:p>
        </p:txBody>
      </p:sp>
      <p:sp>
        <p:nvSpPr>
          <p:cNvPr id="17" name="Shape 15"/>
          <p:cNvSpPr txBox="1"/>
          <p:nvPr/>
        </p:nvSpPr>
        <p:spPr>
          <a:xfrm>
            <a:off x="7635240" y="4343400"/>
            <a:ext cx="4005072" cy="1783080"/>
          </a:xfrm>
          <a:prstGeom prst="roundRect">
            <a:avLst>
              <a:gd name="adj" fmla="val 4103"/>
            </a:avLst>
          </a:prstGeom>
          <a:solidFill>
            <a:srgbClr val="FDF1DF"/>
          </a:solidFill>
          <a:ln w="15875">
            <a:solidFill>
              <a:srgbClr val="E8890C"/>
            </a:solidFill>
            <a:prstDash val="dash"/>
          </a:ln>
        </p:spPr>
      </p:sp>
      <p:sp>
        <p:nvSpPr>
          <p:cNvPr id="18" name="Text 16"/>
          <p:cNvSpPr txBox="1"/>
          <p:nvPr/>
        </p:nvSpPr>
        <p:spPr>
          <a:xfrm>
            <a:off x="7863840" y="4434840"/>
            <a:ext cx="3566160" cy="320040"/>
          </a:xfrm>
          <a:prstGeom prst="rect">
            <a:avLst/>
          </a:prstGeom>
          <a:noFill/>
          <a:ln/>
        </p:spPr>
        <p:txBody>
          <a:bodyPr wrap="square" lIns="0" tIns="0" rIns="0" bIns="0" rtlCol="0" anchor="t"/>
          <a:lstStyle/>
          <a:p>
            <a:pPr indent="0" marL="0">
              <a:buNone/>
            </a:pPr>
            <a:r>
              <a:rPr lang="en-US" sz="1800" b="1" dirty="0">
                <a:solidFill>
                  <a:srgbClr val="A85500"/>
                </a:solidFill>
                <a:latin typeface="Arial" pitchFamily="34" charset="0"/>
                <a:ea typeface="Arial" pitchFamily="34" charset="-122"/>
                <a:cs typeface="Arial" pitchFamily="34" charset="-120"/>
              </a:rPr>
              <a:t>Not yet decided</a:t>
            </a:r>
            <a:endParaRPr lang="en-US" sz="1800" dirty="0"/>
          </a:p>
        </p:txBody>
      </p:sp>
      <p:sp>
        <p:nvSpPr>
          <p:cNvPr id="19" name="Text 17"/>
          <p:cNvSpPr txBox="1"/>
          <p:nvPr/>
        </p:nvSpPr>
        <p:spPr>
          <a:xfrm>
            <a:off x="7863840" y="4846320"/>
            <a:ext cx="3566160" cy="1188720"/>
          </a:xfrm>
          <a:prstGeom prst="rect">
            <a:avLst/>
          </a:prstGeom>
          <a:noFill/>
          <a:ln/>
        </p:spPr>
        <p:txBody>
          <a:bodyPr wrap="square" lIns="0" tIns="0" rIns="0" bIns="0" rtlCol="0" anchor="t"/>
          <a:lstStyle/>
          <a:p>
            <a:pPr indent="0" marL="0">
              <a:buNone/>
            </a:pPr>
            <a:r>
              <a:rPr lang="en-US" sz="1600" dirty="0">
                <a:solidFill>
                  <a:srgbClr val="3A4560"/>
                </a:solidFill>
                <a:latin typeface="Arial" pitchFamily="34" charset="0"/>
                <a:ea typeface="Arial" pitchFamily="34" charset="-122"/>
                <a:cs typeface="Arial" pitchFamily="34" charset="-120"/>
              </a:rPr>
              <a:t>The final research contribution will be chosen only after a literature and gap review.</a:t>
            </a:r>
            <a:endParaRPr lang="en-US" sz="160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A8394"/>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1672" cy="731520"/>
          </a:xfrm>
          <a:prstGeom prst="rect">
            <a:avLst/>
          </a:prstGeom>
          <a:noFill/>
          <a:ln/>
        </p:spPr>
        <p:txBody>
          <a:bodyPr wrap="square" lIns="0" tIns="0" rIns="0" bIns="0" rtlCol="0" anchor="ctr"/>
          <a:lstStyle/>
          <a:p>
            <a:pPr algn="l" indent="0" marL="0">
              <a:buNone/>
            </a:pPr>
            <a:r>
              <a:rPr lang="en-US" sz="3000" b="1" dirty="0">
                <a:solidFill>
                  <a:srgbClr val="14213D"/>
                </a:solidFill>
                <a:latin typeface="Arial" pitchFamily="34" charset="0"/>
                <a:ea typeface="Arial" pitchFamily="34" charset="-122"/>
                <a:cs typeface="Arial" pitchFamily="34" charset="-120"/>
              </a:rPr>
              <a:t>Experimental setup at a glance</a:t>
            </a:r>
            <a:endParaRPr lang="en-US" sz="3000" dirty="0"/>
          </a:p>
        </p:txBody>
      </p:sp>
      <p:sp>
        <p:nvSpPr>
          <p:cNvPr id="3" name="Shape 1"/>
          <p:cNvSpPr txBox="1"/>
          <p:nvPr/>
        </p:nvSpPr>
        <p:spPr>
          <a:xfrm>
            <a:off x="548640" y="1325880"/>
            <a:ext cx="2075688" cy="1188720"/>
          </a:xfrm>
          <a:prstGeom prst="roundRect">
            <a:avLst>
              <a:gd name="adj" fmla="val 6154"/>
            </a:avLst>
          </a:prstGeom>
          <a:solidFill>
            <a:srgbClr val="F4F6F9"/>
          </a:solidFill>
          <a:ln/>
        </p:spPr>
      </p:sp>
      <p:sp>
        <p:nvSpPr>
          <p:cNvPr id="4" name="Text 2"/>
          <p:cNvSpPr txBox="1"/>
          <p:nvPr/>
        </p:nvSpPr>
        <p:spPr>
          <a:xfrm>
            <a:off x="713232" y="1453896"/>
            <a:ext cx="1801368" cy="274320"/>
          </a:xfrm>
          <a:prstGeom prst="rect">
            <a:avLst/>
          </a:prstGeom>
          <a:noFill/>
          <a:ln/>
        </p:spPr>
        <p:txBody>
          <a:bodyPr wrap="square" lIns="0" tIns="0" rIns="0" bIns="0" rtlCol="0" anchor="t"/>
          <a:lstStyle/>
          <a:p>
            <a:pPr indent="0" marL="0">
              <a:buNone/>
            </a:pPr>
            <a:r>
              <a:rPr lang="en-US" sz="1300" b="1" dirty="0">
                <a:solidFill>
                  <a:srgbClr val="6B7280"/>
                </a:solidFill>
                <a:latin typeface="Arial" pitchFamily="34" charset="0"/>
                <a:ea typeface="Arial" pitchFamily="34" charset="-122"/>
                <a:cs typeface="Arial" pitchFamily="34" charset="-120"/>
              </a:rPr>
              <a:t>Dataset</a:t>
            </a:r>
            <a:endParaRPr lang="en-US" sz="1300" dirty="0"/>
          </a:p>
        </p:txBody>
      </p:sp>
      <p:sp>
        <p:nvSpPr>
          <p:cNvPr id="5" name="Text 3"/>
          <p:cNvSpPr txBox="1"/>
          <p:nvPr/>
        </p:nvSpPr>
        <p:spPr>
          <a:xfrm>
            <a:off x="713232" y="1764792"/>
            <a:ext cx="1801368" cy="685800"/>
          </a:xfrm>
          <a:prstGeom prst="rect">
            <a:avLst/>
          </a:prstGeom>
          <a:noFill/>
          <a:ln/>
        </p:spPr>
        <p:txBody>
          <a:bodyPr wrap="square" lIns="0" tIns="0" rIns="0" bIns="0" rtlCol="0" anchor="t"/>
          <a:lstStyle/>
          <a:p>
            <a:pPr indent="0" marL="0">
              <a:buNone/>
            </a:pPr>
            <a:r>
              <a:rPr lang="en-US" sz="1700" b="1" dirty="0">
                <a:solidFill>
                  <a:srgbClr val="14213D"/>
                </a:solidFill>
                <a:latin typeface="Arial" pitchFamily="34" charset="0"/>
                <a:ea typeface="Arial" pitchFamily="34" charset="-122"/>
                <a:cs typeface="Arial" pitchFamily="34" charset="-120"/>
              </a:rPr>
              <a:t>CIFAR-10</a:t>
            </a:r>
            <a:endParaRPr lang="en-US" sz="1700" dirty="0"/>
          </a:p>
        </p:txBody>
      </p:sp>
      <p:sp>
        <p:nvSpPr>
          <p:cNvPr id="6" name="Shape 4"/>
          <p:cNvSpPr txBox="1"/>
          <p:nvPr/>
        </p:nvSpPr>
        <p:spPr>
          <a:xfrm>
            <a:off x="2802636" y="1325880"/>
            <a:ext cx="2075688" cy="1188720"/>
          </a:xfrm>
          <a:prstGeom prst="roundRect">
            <a:avLst>
              <a:gd name="adj" fmla="val 6154"/>
            </a:avLst>
          </a:prstGeom>
          <a:solidFill>
            <a:srgbClr val="F4F6F9"/>
          </a:solidFill>
          <a:ln/>
        </p:spPr>
      </p:sp>
      <p:sp>
        <p:nvSpPr>
          <p:cNvPr id="7" name="Text 5"/>
          <p:cNvSpPr txBox="1"/>
          <p:nvPr/>
        </p:nvSpPr>
        <p:spPr>
          <a:xfrm>
            <a:off x="2967228" y="1453896"/>
            <a:ext cx="1801368" cy="274320"/>
          </a:xfrm>
          <a:prstGeom prst="rect">
            <a:avLst/>
          </a:prstGeom>
          <a:noFill/>
          <a:ln/>
        </p:spPr>
        <p:txBody>
          <a:bodyPr wrap="square" lIns="0" tIns="0" rIns="0" bIns="0" rtlCol="0" anchor="t"/>
          <a:lstStyle/>
          <a:p>
            <a:pPr indent="0" marL="0">
              <a:buNone/>
            </a:pPr>
            <a:r>
              <a:rPr lang="en-US" sz="1300" b="1" dirty="0">
                <a:solidFill>
                  <a:srgbClr val="6B7280"/>
                </a:solidFill>
                <a:latin typeface="Arial" pitchFamily="34" charset="0"/>
                <a:ea typeface="Arial" pitchFamily="34" charset="-122"/>
                <a:cs typeface="Arial" pitchFamily="34" charset="-120"/>
              </a:rPr>
              <a:t>Model</a:t>
            </a:r>
            <a:endParaRPr lang="en-US" sz="1300" dirty="0"/>
          </a:p>
        </p:txBody>
      </p:sp>
      <p:sp>
        <p:nvSpPr>
          <p:cNvPr id="8" name="Text 6"/>
          <p:cNvSpPr txBox="1"/>
          <p:nvPr/>
        </p:nvSpPr>
        <p:spPr>
          <a:xfrm>
            <a:off x="2967228" y="1764792"/>
            <a:ext cx="1801368" cy="685800"/>
          </a:xfrm>
          <a:prstGeom prst="rect">
            <a:avLst/>
          </a:prstGeom>
          <a:noFill/>
          <a:ln/>
        </p:spPr>
        <p:txBody>
          <a:bodyPr wrap="square" lIns="0" tIns="0" rIns="0" bIns="0" rtlCol="0" anchor="t"/>
          <a:lstStyle/>
          <a:p>
            <a:pPr indent="0" marL="0">
              <a:buNone/>
            </a:pPr>
            <a:r>
              <a:rPr lang="en-US" sz="1700" b="1" dirty="0">
                <a:solidFill>
                  <a:srgbClr val="14213D"/>
                </a:solidFill>
                <a:latin typeface="Arial" pitchFamily="34" charset="0"/>
                <a:ea typeface="Arial" pitchFamily="34" charset="-122"/>
                <a:cs typeface="Arial" pitchFamily="34" charset="-120"/>
              </a:rPr>
              <a:t>SmallCNN</a:t>
            </a:r>
            <a:endParaRPr lang="en-US" sz="1700" dirty="0"/>
          </a:p>
        </p:txBody>
      </p:sp>
      <p:sp>
        <p:nvSpPr>
          <p:cNvPr id="9" name="Shape 7"/>
          <p:cNvSpPr txBox="1"/>
          <p:nvPr/>
        </p:nvSpPr>
        <p:spPr>
          <a:xfrm>
            <a:off x="5056632" y="1325880"/>
            <a:ext cx="2075688" cy="1188720"/>
          </a:xfrm>
          <a:prstGeom prst="roundRect">
            <a:avLst>
              <a:gd name="adj" fmla="val 6154"/>
            </a:avLst>
          </a:prstGeom>
          <a:solidFill>
            <a:srgbClr val="F4F6F9"/>
          </a:solidFill>
          <a:ln/>
        </p:spPr>
      </p:sp>
      <p:sp>
        <p:nvSpPr>
          <p:cNvPr id="10" name="Text 8"/>
          <p:cNvSpPr txBox="1"/>
          <p:nvPr/>
        </p:nvSpPr>
        <p:spPr>
          <a:xfrm>
            <a:off x="5221224" y="1453896"/>
            <a:ext cx="1801368" cy="274320"/>
          </a:xfrm>
          <a:prstGeom prst="rect">
            <a:avLst/>
          </a:prstGeom>
          <a:noFill/>
          <a:ln/>
        </p:spPr>
        <p:txBody>
          <a:bodyPr wrap="square" lIns="0" tIns="0" rIns="0" bIns="0" rtlCol="0" anchor="t"/>
          <a:lstStyle/>
          <a:p>
            <a:pPr indent="0" marL="0">
              <a:buNone/>
            </a:pPr>
            <a:r>
              <a:rPr lang="en-US" sz="1300" b="1" dirty="0">
                <a:solidFill>
                  <a:srgbClr val="6B7280"/>
                </a:solidFill>
                <a:latin typeface="Arial" pitchFamily="34" charset="0"/>
                <a:ea typeface="Arial" pitchFamily="34" charset="-122"/>
                <a:cs typeface="Arial" pitchFamily="34" charset="-120"/>
              </a:rPr>
              <a:t>Clients</a:t>
            </a:r>
            <a:endParaRPr lang="en-US" sz="1300" dirty="0"/>
          </a:p>
        </p:txBody>
      </p:sp>
      <p:sp>
        <p:nvSpPr>
          <p:cNvPr id="11" name="Text 9"/>
          <p:cNvSpPr txBox="1"/>
          <p:nvPr/>
        </p:nvSpPr>
        <p:spPr>
          <a:xfrm>
            <a:off x="5221224" y="1764792"/>
            <a:ext cx="1801368" cy="685800"/>
          </a:xfrm>
          <a:prstGeom prst="rect">
            <a:avLst/>
          </a:prstGeom>
          <a:noFill/>
          <a:ln/>
        </p:spPr>
        <p:txBody>
          <a:bodyPr wrap="square" lIns="0" tIns="0" rIns="0" bIns="0" rtlCol="0" anchor="t"/>
          <a:lstStyle/>
          <a:p>
            <a:pPr indent="0" marL="0">
              <a:buNone/>
            </a:pPr>
            <a:r>
              <a:rPr lang="en-US" sz="1700" b="1" dirty="0">
                <a:solidFill>
                  <a:srgbClr val="14213D"/>
                </a:solidFill>
                <a:latin typeface="Arial" pitchFamily="34" charset="0"/>
                <a:ea typeface="Arial" pitchFamily="34" charset="-122"/>
                <a:cs typeface="Arial" pitchFamily="34" charset="-120"/>
              </a:rPr>
              <a:t>10 (C0–C9)</a:t>
            </a:r>
            <a:endParaRPr lang="en-US" sz="1700" dirty="0"/>
          </a:p>
        </p:txBody>
      </p:sp>
      <p:sp>
        <p:nvSpPr>
          <p:cNvPr id="12" name="Shape 10"/>
          <p:cNvSpPr txBox="1"/>
          <p:nvPr/>
        </p:nvSpPr>
        <p:spPr>
          <a:xfrm>
            <a:off x="7310628" y="1325880"/>
            <a:ext cx="2075688" cy="1188720"/>
          </a:xfrm>
          <a:prstGeom prst="roundRect">
            <a:avLst>
              <a:gd name="adj" fmla="val 6154"/>
            </a:avLst>
          </a:prstGeom>
          <a:solidFill>
            <a:srgbClr val="F4F6F9"/>
          </a:solidFill>
          <a:ln/>
        </p:spPr>
      </p:sp>
      <p:sp>
        <p:nvSpPr>
          <p:cNvPr id="13" name="Text 11"/>
          <p:cNvSpPr txBox="1"/>
          <p:nvPr/>
        </p:nvSpPr>
        <p:spPr>
          <a:xfrm>
            <a:off x="7475220" y="1453896"/>
            <a:ext cx="1801368" cy="274320"/>
          </a:xfrm>
          <a:prstGeom prst="rect">
            <a:avLst/>
          </a:prstGeom>
          <a:noFill/>
          <a:ln/>
        </p:spPr>
        <p:txBody>
          <a:bodyPr wrap="square" lIns="0" tIns="0" rIns="0" bIns="0" rtlCol="0" anchor="t"/>
          <a:lstStyle/>
          <a:p>
            <a:pPr indent="0" marL="0">
              <a:buNone/>
            </a:pPr>
            <a:r>
              <a:rPr lang="en-US" sz="1300" b="1" dirty="0">
                <a:solidFill>
                  <a:srgbClr val="6B7280"/>
                </a:solidFill>
                <a:latin typeface="Arial" pitchFamily="34" charset="0"/>
                <a:ea typeface="Arial" pitchFamily="34" charset="-122"/>
                <a:cs typeface="Arial" pitchFamily="34" charset="-120"/>
              </a:rPr>
              <a:t>Participation</a:t>
            </a:r>
            <a:endParaRPr lang="en-US" sz="1300" dirty="0"/>
          </a:p>
        </p:txBody>
      </p:sp>
      <p:sp>
        <p:nvSpPr>
          <p:cNvPr id="14" name="Text 12"/>
          <p:cNvSpPr txBox="1"/>
          <p:nvPr/>
        </p:nvSpPr>
        <p:spPr>
          <a:xfrm>
            <a:off x="7475220" y="1764792"/>
            <a:ext cx="1801368" cy="685800"/>
          </a:xfrm>
          <a:prstGeom prst="rect">
            <a:avLst/>
          </a:prstGeom>
          <a:noFill/>
          <a:ln/>
        </p:spPr>
        <p:txBody>
          <a:bodyPr wrap="square" lIns="0" tIns="0" rIns="0" bIns="0" rtlCol="0" anchor="t"/>
          <a:lstStyle/>
          <a:p>
            <a:pPr indent="0" marL="0">
              <a:buNone/>
            </a:pPr>
            <a:r>
              <a:rPr lang="en-US" sz="1700" b="1" dirty="0">
                <a:solidFill>
                  <a:srgbClr val="14213D"/>
                </a:solidFill>
                <a:latin typeface="Arial" pitchFamily="34" charset="0"/>
                <a:ea typeface="Arial" pitchFamily="34" charset="-122"/>
                <a:cs typeface="Arial" pitchFamily="34" charset="-120"/>
              </a:rPr>
              <a:t>All clients, every round</a:t>
            </a:r>
            <a:endParaRPr lang="en-US" sz="1700" dirty="0"/>
          </a:p>
        </p:txBody>
      </p:sp>
      <p:sp>
        <p:nvSpPr>
          <p:cNvPr id="15" name="Shape 13"/>
          <p:cNvSpPr txBox="1"/>
          <p:nvPr/>
        </p:nvSpPr>
        <p:spPr>
          <a:xfrm>
            <a:off x="9564624" y="1325880"/>
            <a:ext cx="2075688" cy="1188720"/>
          </a:xfrm>
          <a:prstGeom prst="roundRect">
            <a:avLst>
              <a:gd name="adj" fmla="val 6154"/>
            </a:avLst>
          </a:prstGeom>
          <a:solidFill>
            <a:srgbClr val="F4F6F9"/>
          </a:solidFill>
          <a:ln/>
        </p:spPr>
      </p:sp>
      <p:sp>
        <p:nvSpPr>
          <p:cNvPr id="16" name="Text 14"/>
          <p:cNvSpPr txBox="1"/>
          <p:nvPr/>
        </p:nvSpPr>
        <p:spPr>
          <a:xfrm>
            <a:off x="9729216" y="1453896"/>
            <a:ext cx="1801368" cy="274320"/>
          </a:xfrm>
          <a:prstGeom prst="rect">
            <a:avLst/>
          </a:prstGeom>
          <a:noFill/>
          <a:ln/>
        </p:spPr>
        <p:txBody>
          <a:bodyPr wrap="square" lIns="0" tIns="0" rIns="0" bIns="0" rtlCol="0" anchor="t"/>
          <a:lstStyle/>
          <a:p>
            <a:pPr indent="0" marL="0">
              <a:buNone/>
            </a:pPr>
            <a:r>
              <a:rPr lang="en-US" sz="1300" b="1" dirty="0">
                <a:solidFill>
                  <a:srgbClr val="6B7280"/>
                </a:solidFill>
                <a:latin typeface="Arial" pitchFamily="34" charset="0"/>
                <a:ea typeface="Arial" pitchFamily="34" charset="-122"/>
                <a:cs typeface="Arial" pitchFamily="34" charset="-120"/>
              </a:rPr>
              <a:t>Rounds</a:t>
            </a:r>
            <a:endParaRPr lang="en-US" sz="1300" dirty="0"/>
          </a:p>
        </p:txBody>
      </p:sp>
      <p:sp>
        <p:nvSpPr>
          <p:cNvPr id="17" name="Text 15"/>
          <p:cNvSpPr txBox="1"/>
          <p:nvPr/>
        </p:nvSpPr>
        <p:spPr>
          <a:xfrm>
            <a:off x="9729216" y="1764792"/>
            <a:ext cx="1801368" cy="685800"/>
          </a:xfrm>
          <a:prstGeom prst="rect">
            <a:avLst/>
          </a:prstGeom>
          <a:noFill/>
          <a:ln/>
        </p:spPr>
        <p:txBody>
          <a:bodyPr wrap="square" lIns="0" tIns="0" rIns="0" bIns="0" rtlCol="0" anchor="t"/>
          <a:lstStyle/>
          <a:p>
            <a:pPr indent="0" marL="0">
              <a:buNone/>
            </a:pPr>
            <a:r>
              <a:rPr lang="en-US" sz="1700" b="1" dirty="0">
                <a:solidFill>
                  <a:srgbClr val="14213D"/>
                </a:solidFill>
                <a:latin typeface="Arial" pitchFamily="34" charset="0"/>
                <a:ea typeface="Arial" pitchFamily="34" charset="-122"/>
                <a:cs typeface="Arial" pitchFamily="34" charset="-120"/>
              </a:rPr>
              <a:t>50</a:t>
            </a:r>
            <a:endParaRPr lang="en-US" sz="1700" dirty="0"/>
          </a:p>
        </p:txBody>
      </p:sp>
      <p:sp>
        <p:nvSpPr>
          <p:cNvPr id="18" name="Shape 16"/>
          <p:cNvSpPr txBox="1"/>
          <p:nvPr/>
        </p:nvSpPr>
        <p:spPr>
          <a:xfrm>
            <a:off x="548640" y="2697480"/>
            <a:ext cx="2075688" cy="1188720"/>
          </a:xfrm>
          <a:prstGeom prst="roundRect">
            <a:avLst>
              <a:gd name="adj" fmla="val 6154"/>
            </a:avLst>
          </a:prstGeom>
          <a:solidFill>
            <a:srgbClr val="F4F6F9"/>
          </a:solidFill>
          <a:ln/>
        </p:spPr>
      </p:sp>
      <p:sp>
        <p:nvSpPr>
          <p:cNvPr id="19" name="Text 17"/>
          <p:cNvSpPr txBox="1"/>
          <p:nvPr/>
        </p:nvSpPr>
        <p:spPr>
          <a:xfrm>
            <a:off x="713232" y="2825496"/>
            <a:ext cx="1801368" cy="274320"/>
          </a:xfrm>
          <a:prstGeom prst="rect">
            <a:avLst/>
          </a:prstGeom>
          <a:noFill/>
          <a:ln/>
        </p:spPr>
        <p:txBody>
          <a:bodyPr wrap="square" lIns="0" tIns="0" rIns="0" bIns="0" rtlCol="0" anchor="t"/>
          <a:lstStyle/>
          <a:p>
            <a:pPr indent="0" marL="0">
              <a:buNone/>
            </a:pPr>
            <a:r>
              <a:rPr lang="en-US" sz="1300" b="1" dirty="0">
                <a:solidFill>
                  <a:srgbClr val="6B7280"/>
                </a:solidFill>
                <a:latin typeface="Arial" pitchFamily="34" charset="0"/>
                <a:ea typeface="Arial" pitchFamily="34" charset="-122"/>
                <a:cs typeface="Arial" pitchFamily="34" charset="-120"/>
              </a:rPr>
              <a:t>Local epochs</a:t>
            </a:r>
            <a:endParaRPr lang="en-US" sz="1300" dirty="0"/>
          </a:p>
        </p:txBody>
      </p:sp>
      <p:sp>
        <p:nvSpPr>
          <p:cNvPr id="20" name="Text 18"/>
          <p:cNvSpPr txBox="1"/>
          <p:nvPr/>
        </p:nvSpPr>
        <p:spPr>
          <a:xfrm>
            <a:off x="713232" y="3136392"/>
            <a:ext cx="1801368" cy="685800"/>
          </a:xfrm>
          <a:prstGeom prst="rect">
            <a:avLst/>
          </a:prstGeom>
          <a:noFill/>
          <a:ln/>
        </p:spPr>
        <p:txBody>
          <a:bodyPr wrap="square" lIns="0" tIns="0" rIns="0" bIns="0" rtlCol="0" anchor="t"/>
          <a:lstStyle/>
          <a:p>
            <a:pPr indent="0" marL="0">
              <a:buNone/>
            </a:pPr>
            <a:r>
              <a:rPr lang="en-US" sz="1700" b="1" dirty="0">
                <a:solidFill>
                  <a:srgbClr val="14213D"/>
                </a:solidFill>
                <a:latin typeface="Arial" pitchFamily="34" charset="0"/>
                <a:ea typeface="Arial" pitchFamily="34" charset="-122"/>
                <a:cs typeface="Arial" pitchFamily="34" charset="-120"/>
              </a:rPr>
              <a:t>2</a:t>
            </a:r>
            <a:endParaRPr lang="en-US" sz="1700" dirty="0"/>
          </a:p>
        </p:txBody>
      </p:sp>
      <p:sp>
        <p:nvSpPr>
          <p:cNvPr id="21" name="Shape 19"/>
          <p:cNvSpPr txBox="1"/>
          <p:nvPr/>
        </p:nvSpPr>
        <p:spPr>
          <a:xfrm>
            <a:off x="2802636" y="2697480"/>
            <a:ext cx="2075688" cy="1188720"/>
          </a:xfrm>
          <a:prstGeom prst="roundRect">
            <a:avLst>
              <a:gd name="adj" fmla="val 6154"/>
            </a:avLst>
          </a:prstGeom>
          <a:solidFill>
            <a:srgbClr val="F4F6F9"/>
          </a:solidFill>
          <a:ln/>
        </p:spPr>
      </p:sp>
      <p:sp>
        <p:nvSpPr>
          <p:cNvPr id="22" name="Text 20"/>
          <p:cNvSpPr txBox="1"/>
          <p:nvPr/>
        </p:nvSpPr>
        <p:spPr>
          <a:xfrm>
            <a:off x="2967228" y="2825496"/>
            <a:ext cx="1801368" cy="274320"/>
          </a:xfrm>
          <a:prstGeom prst="rect">
            <a:avLst/>
          </a:prstGeom>
          <a:noFill/>
          <a:ln/>
        </p:spPr>
        <p:txBody>
          <a:bodyPr wrap="square" lIns="0" tIns="0" rIns="0" bIns="0" rtlCol="0" anchor="t"/>
          <a:lstStyle/>
          <a:p>
            <a:pPr indent="0" marL="0">
              <a:buNone/>
            </a:pPr>
            <a:r>
              <a:rPr lang="en-US" sz="1300" b="1" dirty="0">
                <a:solidFill>
                  <a:srgbClr val="6B7280"/>
                </a:solidFill>
                <a:latin typeface="Arial" pitchFamily="34" charset="0"/>
                <a:ea typeface="Arial" pitchFamily="34" charset="-122"/>
                <a:cs typeface="Arial" pitchFamily="34" charset="-120"/>
              </a:rPr>
              <a:t>Optimizer</a:t>
            </a:r>
            <a:endParaRPr lang="en-US" sz="1300" dirty="0"/>
          </a:p>
        </p:txBody>
      </p:sp>
      <p:sp>
        <p:nvSpPr>
          <p:cNvPr id="23" name="Text 21"/>
          <p:cNvSpPr txBox="1"/>
          <p:nvPr/>
        </p:nvSpPr>
        <p:spPr>
          <a:xfrm>
            <a:off x="2967228" y="3136392"/>
            <a:ext cx="1801368" cy="685800"/>
          </a:xfrm>
          <a:prstGeom prst="rect">
            <a:avLst/>
          </a:prstGeom>
          <a:noFill/>
          <a:ln/>
        </p:spPr>
        <p:txBody>
          <a:bodyPr wrap="square" lIns="0" tIns="0" rIns="0" bIns="0" rtlCol="0" anchor="t"/>
          <a:lstStyle/>
          <a:p>
            <a:pPr indent="0" marL="0">
              <a:buNone/>
            </a:pPr>
            <a:r>
              <a:rPr lang="en-US" sz="1700" b="1" dirty="0">
                <a:solidFill>
                  <a:srgbClr val="14213D"/>
                </a:solidFill>
                <a:latin typeface="Arial" pitchFamily="34" charset="0"/>
                <a:ea typeface="Arial" pitchFamily="34" charset="-122"/>
                <a:cs typeface="Arial" pitchFamily="34" charset="-120"/>
              </a:rPr>
              <a:t>SGD · lr 0.01 · momentum 0.9</a:t>
            </a:r>
            <a:endParaRPr lang="en-US" sz="1700" dirty="0"/>
          </a:p>
        </p:txBody>
      </p:sp>
      <p:sp>
        <p:nvSpPr>
          <p:cNvPr id="24" name="Shape 22"/>
          <p:cNvSpPr txBox="1"/>
          <p:nvPr/>
        </p:nvSpPr>
        <p:spPr>
          <a:xfrm>
            <a:off x="5056632" y="2697480"/>
            <a:ext cx="2075688" cy="1188720"/>
          </a:xfrm>
          <a:prstGeom prst="roundRect">
            <a:avLst>
              <a:gd name="adj" fmla="val 6154"/>
            </a:avLst>
          </a:prstGeom>
          <a:solidFill>
            <a:srgbClr val="F4F6F9"/>
          </a:solidFill>
          <a:ln/>
        </p:spPr>
      </p:sp>
      <p:sp>
        <p:nvSpPr>
          <p:cNvPr id="25" name="Text 23"/>
          <p:cNvSpPr txBox="1"/>
          <p:nvPr/>
        </p:nvSpPr>
        <p:spPr>
          <a:xfrm>
            <a:off x="5221224" y="2825496"/>
            <a:ext cx="1801368" cy="274320"/>
          </a:xfrm>
          <a:prstGeom prst="rect">
            <a:avLst/>
          </a:prstGeom>
          <a:noFill/>
          <a:ln/>
        </p:spPr>
        <p:txBody>
          <a:bodyPr wrap="square" lIns="0" tIns="0" rIns="0" bIns="0" rtlCol="0" anchor="t"/>
          <a:lstStyle/>
          <a:p>
            <a:pPr indent="0" marL="0">
              <a:buNone/>
            </a:pPr>
            <a:r>
              <a:rPr lang="en-US" sz="1300" b="1" dirty="0">
                <a:solidFill>
                  <a:srgbClr val="6B7280"/>
                </a:solidFill>
                <a:latin typeface="Arial" pitchFamily="34" charset="0"/>
                <a:ea typeface="Arial" pitchFamily="34" charset="-122"/>
                <a:cs typeface="Arial" pitchFamily="34" charset="-120"/>
              </a:rPr>
              <a:t>Batch size</a:t>
            </a:r>
            <a:endParaRPr lang="en-US" sz="1300" dirty="0"/>
          </a:p>
        </p:txBody>
      </p:sp>
      <p:sp>
        <p:nvSpPr>
          <p:cNvPr id="26" name="Text 24"/>
          <p:cNvSpPr txBox="1"/>
          <p:nvPr/>
        </p:nvSpPr>
        <p:spPr>
          <a:xfrm>
            <a:off x="5221224" y="3136392"/>
            <a:ext cx="1801368" cy="685800"/>
          </a:xfrm>
          <a:prstGeom prst="rect">
            <a:avLst/>
          </a:prstGeom>
          <a:noFill/>
          <a:ln/>
        </p:spPr>
        <p:txBody>
          <a:bodyPr wrap="square" lIns="0" tIns="0" rIns="0" bIns="0" rtlCol="0" anchor="t"/>
          <a:lstStyle/>
          <a:p>
            <a:pPr indent="0" marL="0">
              <a:buNone/>
            </a:pPr>
            <a:r>
              <a:rPr lang="en-US" sz="1700" b="1" dirty="0">
                <a:solidFill>
                  <a:srgbClr val="14213D"/>
                </a:solidFill>
                <a:latin typeface="Arial" pitchFamily="34" charset="0"/>
                <a:ea typeface="Arial" pitchFamily="34" charset="-122"/>
                <a:cs typeface="Arial" pitchFamily="34" charset="-120"/>
              </a:rPr>
              <a:t>64</a:t>
            </a:r>
            <a:endParaRPr lang="en-US" sz="1700" dirty="0"/>
          </a:p>
        </p:txBody>
      </p:sp>
      <p:sp>
        <p:nvSpPr>
          <p:cNvPr id="27" name="Shape 25"/>
          <p:cNvSpPr txBox="1"/>
          <p:nvPr/>
        </p:nvSpPr>
        <p:spPr>
          <a:xfrm>
            <a:off x="7310628" y="2697480"/>
            <a:ext cx="2075688" cy="1188720"/>
          </a:xfrm>
          <a:prstGeom prst="roundRect">
            <a:avLst>
              <a:gd name="adj" fmla="val 6154"/>
            </a:avLst>
          </a:prstGeom>
          <a:solidFill>
            <a:srgbClr val="F4F6F9"/>
          </a:solidFill>
          <a:ln/>
        </p:spPr>
      </p:sp>
      <p:sp>
        <p:nvSpPr>
          <p:cNvPr id="28" name="Text 26"/>
          <p:cNvSpPr txBox="1"/>
          <p:nvPr/>
        </p:nvSpPr>
        <p:spPr>
          <a:xfrm>
            <a:off x="7475220" y="2825496"/>
            <a:ext cx="1801368" cy="274320"/>
          </a:xfrm>
          <a:prstGeom prst="rect">
            <a:avLst/>
          </a:prstGeom>
          <a:noFill/>
          <a:ln/>
        </p:spPr>
        <p:txBody>
          <a:bodyPr wrap="square" lIns="0" tIns="0" rIns="0" bIns="0" rtlCol="0" anchor="t"/>
          <a:lstStyle/>
          <a:p>
            <a:pPr indent="0" marL="0">
              <a:buNone/>
            </a:pPr>
            <a:r>
              <a:rPr lang="en-US" sz="1300" b="1" dirty="0">
                <a:solidFill>
                  <a:srgbClr val="6B7280"/>
                </a:solidFill>
                <a:latin typeface="Arial" pitchFamily="34" charset="0"/>
                <a:ea typeface="Arial" pitchFamily="34" charset="-122"/>
                <a:cs typeface="Arial" pitchFamily="34" charset="-120"/>
              </a:rPr>
              <a:t>Project seed</a:t>
            </a:r>
            <a:endParaRPr lang="en-US" sz="1300" dirty="0"/>
          </a:p>
        </p:txBody>
      </p:sp>
      <p:sp>
        <p:nvSpPr>
          <p:cNvPr id="29" name="Text 27"/>
          <p:cNvSpPr txBox="1"/>
          <p:nvPr/>
        </p:nvSpPr>
        <p:spPr>
          <a:xfrm>
            <a:off x="7475220" y="3136392"/>
            <a:ext cx="1801368" cy="685800"/>
          </a:xfrm>
          <a:prstGeom prst="rect">
            <a:avLst/>
          </a:prstGeom>
          <a:noFill/>
          <a:ln/>
        </p:spPr>
        <p:txBody>
          <a:bodyPr wrap="square" lIns="0" tIns="0" rIns="0" bIns="0" rtlCol="0" anchor="t"/>
          <a:lstStyle/>
          <a:p>
            <a:pPr indent="0" marL="0">
              <a:buNone/>
            </a:pPr>
            <a:r>
              <a:rPr lang="en-US" sz="1700" b="1" dirty="0">
                <a:solidFill>
                  <a:srgbClr val="14213D"/>
                </a:solidFill>
                <a:latin typeface="Arial" pitchFamily="34" charset="0"/>
                <a:ea typeface="Arial" pitchFamily="34" charset="-122"/>
                <a:cs typeface="Arial" pitchFamily="34" charset="-120"/>
              </a:rPr>
              <a:t>42 (recorded)</a:t>
            </a:r>
            <a:endParaRPr lang="en-US" sz="1700" dirty="0"/>
          </a:p>
        </p:txBody>
      </p:sp>
      <p:sp>
        <p:nvSpPr>
          <p:cNvPr id="30" name="Shape 28"/>
          <p:cNvSpPr txBox="1"/>
          <p:nvPr/>
        </p:nvSpPr>
        <p:spPr>
          <a:xfrm>
            <a:off x="9564624" y="2697480"/>
            <a:ext cx="2075688" cy="1188720"/>
          </a:xfrm>
          <a:prstGeom prst="roundRect">
            <a:avLst>
              <a:gd name="adj" fmla="val 6154"/>
            </a:avLst>
          </a:prstGeom>
          <a:solidFill>
            <a:srgbClr val="F4F6F9"/>
          </a:solidFill>
          <a:ln/>
        </p:spPr>
      </p:sp>
      <p:sp>
        <p:nvSpPr>
          <p:cNvPr id="31" name="Text 29"/>
          <p:cNvSpPr txBox="1"/>
          <p:nvPr/>
        </p:nvSpPr>
        <p:spPr>
          <a:xfrm>
            <a:off x="9729216" y="2825496"/>
            <a:ext cx="1801368" cy="274320"/>
          </a:xfrm>
          <a:prstGeom prst="rect">
            <a:avLst/>
          </a:prstGeom>
          <a:noFill/>
          <a:ln/>
        </p:spPr>
        <p:txBody>
          <a:bodyPr wrap="square" lIns="0" tIns="0" rIns="0" bIns="0" rtlCol="0" anchor="t"/>
          <a:lstStyle/>
          <a:p>
            <a:pPr indent="0" marL="0">
              <a:buNone/>
            </a:pPr>
            <a:r>
              <a:rPr lang="en-US" sz="1300" b="1" dirty="0">
                <a:solidFill>
                  <a:srgbClr val="6B7280"/>
                </a:solidFill>
                <a:latin typeface="Arial" pitchFamily="34" charset="0"/>
                <a:ea typeface="Arial" pitchFamily="34" charset="-122"/>
                <a:cs typeface="Arial" pitchFamily="34" charset="-120"/>
              </a:rPr>
              <a:t>Partitions</a:t>
            </a:r>
            <a:endParaRPr lang="en-US" sz="1300" dirty="0"/>
          </a:p>
        </p:txBody>
      </p:sp>
      <p:sp>
        <p:nvSpPr>
          <p:cNvPr id="32" name="Text 30"/>
          <p:cNvSpPr txBox="1"/>
          <p:nvPr/>
        </p:nvSpPr>
        <p:spPr>
          <a:xfrm>
            <a:off x="9729216" y="3136392"/>
            <a:ext cx="1801368" cy="685800"/>
          </a:xfrm>
          <a:prstGeom prst="rect">
            <a:avLst/>
          </a:prstGeom>
          <a:noFill/>
          <a:ln/>
        </p:spPr>
        <p:txBody>
          <a:bodyPr wrap="square" lIns="0" tIns="0" rIns="0" bIns="0" rtlCol="0" anchor="t"/>
          <a:lstStyle/>
          <a:p>
            <a:pPr indent="0" marL="0">
              <a:buNone/>
            </a:pPr>
            <a:r>
              <a:rPr lang="en-US" sz="1700" b="1" dirty="0">
                <a:solidFill>
                  <a:srgbClr val="14213D"/>
                </a:solidFill>
                <a:latin typeface="Arial" pitchFamily="34" charset="0"/>
                <a:ea typeface="Arial" pitchFamily="34" charset="-122"/>
                <a:cs typeface="Arial" pitchFamily="34" charset="-120"/>
              </a:rPr>
              <a:t>IID vs Dirichlet Non-IID, α = 0.5</a:t>
            </a:r>
            <a:endParaRPr lang="en-US" sz="1700" dirty="0"/>
          </a:p>
        </p:txBody>
      </p:sp>
      <p:sp>
        <p:nvSpPr>
          <p:cNvPr id="33" name="Text 31"/>
          <p:cNvSpPr txBox="1"/>
          <p:nvPr/>
        </p:nvSpPr>
        <p:spPr>
          <a:xfrm>
            <a:off x="548640" y="4251960"/>
            <a:ext cx="1828800" cy="320040"/>
          </a:xfrm>
          <a:prstGeom prst="rect">
            <a:avLst/>
          </a:prstGeom>
          <a:noFill/>
          <a:ln/>
        </p:spPr>
        <p:txBody>
          <a:bodyPr wrap="square" lIns="0" tIns="0" rIns="0" bIns="0" rtlCol="0" anchor="t"/>
          <a:lstStyle/>
          <a:p>
            <a:pPr indent="0" marL="0">
              <a:buNone/>
            </a:pPr>
            <a:r>
              <a:rPr lang="en-US" sz="1800" b="1" dirty="0">
                <a:solidFill>
                  <a:srgbClr val="14213D"/>
                </a:solidFill>
                <a:latin typeface="Arial" pitchFamily="34" charset="0"/>
                <a:ea typeface="Arial" pitchFamily="34" charset="-122"/>
                <a:cs typeface="Arial" pitchFamily="34" charset="-120"/>
              </a:rPr>
              <a:t>Data</a:t>
            </a:r>
            <a:endParaRPr lang="en-US" sz="1800" dirty="0"/>
          </a:p>
        </p:txBody>
      </p:sp>
      <p:sp>
        <p:nvSpPr>
          <p:cNvPr id="34" name="Text 32"/>
          <p:cNvSpPr txBox="1"/>
          <p:nvPr/>
        </p:nvSpPr>
        <p:spPr>
          <a:xfrm>
            <a:off x="548640" y="4663440"/>
            <a:ext cx="8229600" cy="777240"/>
          </a:xfrm>
          <a:prstGeom prst="roundRect">
            <a:avLst>
              <a:gd name="adj" fmla="val 9412"/>
            </a:avLst>
          </a:prstGeom>
          <a:solidFill>
            <a:srgbClr val="14213D"/>
          </a:solidFill>
          <a:ln/>
        </p:spPr>
        <p:txBody>
          <a:bodyPr wrap="square" lIns="177800" tIns="177800" rIns="177800" bIns="177800" rtlCol="0" anchor="ctr"/>
          <a:lstStyle/>
          <a:p>
            <a:pPr algn="l" indent="0" marL="0">
              <a:buNone/>
            </a:pPr>
            <a:r>
              <a:rPr lang="en-US" sz="1800" b="1" dirty="0">
                <a:solidFill>
                  <a:srgbClr val="FFFFFF"/>
                </a:solidFill>
                <a:latin typeface="Arial" pitchFamily="34" charset="0"/>
                <a:ea typeface="Arial" pitchFamily="34" charset="-122"/>
                <a:cs typeface="Arial" pitchFamily="34" charset="-120"/>
              </a:rPr>
              <a:t>50,000 training images</a:t>
            </a:r>
            <a:endParaRPr lang="en-US" sz="1600" dirty="0"/>
          </a:p>
          <a:p>
            <a:pPr algn="l" indent="0" marL="0">
              <a:buNone/>
            </a:pPr>
            <a:r>
              <a:rPr lang="en-US" sz="1400" dirty="0">
                <a:solidFill>
                  <a:srgbClr val="FFFFFF"/>
                </a:solidFill>
                <a:latin typeface="Arial" pitchFamily="34" charset="0"/>
                <a:ea typeface="Arial" pitchFamily="34" charset="-122"/>
                <a:cs typeface="Arial" pitchFamily="34" charset="-120"/>
              </a:rPr>
              <a:t>partitioned across the 10 clients</a:t>
            </a:r>
            <a:endParaRPr lang="en-US" sz="1600" dirty="0"/>
          </a:p>
        </p:txBody>
      </p:sp>
      <p:sp>
        <p:nvSpPr>
          <p:cNvPr id="35" name="Text 33"/>
          <p:cNvSpPr txBox="1"/>
          <p:nvPr/>
        </p:nvSpPr>
        <p:spPr>
          <a:xfrm>
            <a:off x="9098280" y="4663440"/>
            <a:ext cx="1645920" cy="777240"/>
          </a:xfrm>
          <a:prstGeom prst="roundRect">
            <a:avLst>
              <a:gd name="adj" fmla="val 9412"/>
            </a:avLst>
          </a:prstGeom>
          <a:solidFill>
            <a:srgbClr val="6B7C93"/>
          </a:solidFill>
          <a:ln/>
        </p:spPr>
        <p:txBody>
          <a:bodyPr wrap="square" lIns="127000" tIns="127000" rIns="127000" bIns="127000" rtlCol="0" anchor="ctr"/>
          <a:lstStyle/>
          <a:p>
            <a:pPr algn="l" indent="0" marL="0">
              <a:buNone/>
            </a:pPr>
            <a:r>
              <a:rPr lang="en-US" sz="1800" b="1" dirty="0">
                <a:solidFill>
                  <a:srgbClr val="FFFFFF"/>
                </a:solidFill>
                <a:latin typeface="Arial" pitchFamily="34" charset="0"/>
                <a:ea typeface="Arial" pitchFamily="34" charset="-122"/>
                <a:cs typeface="Arial" pitchFamily="34" charset="-120"/>
              </a:rPr>
              <a:t>10,000</a:t>
            </a:r>
            <a:endParaRPr lang="en-US" sz="1600" dirty="0"/>
          </a:p>
          <a:p>
            <a:pPr algn="l" indent="0" marL="0">
              <a:buNone/>
            </a:pPr>
            <a:r>
              <a:rPr lang="en-US" sz="1300" dirty="0">
                <a:solidFill>
                  <a:srgbClr val="FFFFFF"/>
                </a:solidFill>
                <a:latin typeface="Arial" pitchFamily="34" charset="0"/>
                <a:ea typeface="Arial" pitchFamily="34" charset="-122"/>
                <a:cs typeface="Arial" pitchFamily="34" charset="-120"/>
              </a:rPr>
              <a:t>clean test images</a:t>
            </a:r>
            <a:endParaRPr lang="en-US" sz="1600" dirty="0"/>
          </a:p>
        </p:txBody>
      </p:sp>
      <p:sp>
        <p:nvSpPr>
          <p:cNvPr id="36" name="Text 34"/>
          <p:cNvSpPr txBox="1"/>
          <p:nvPr/>
        </p:nvSpPr>
        <p:spPr>
          <a:xfrm>
            <a:off x="548640" y="5623560"/>
            <a:ext cx="11094415" cy="320040"/>
          </a:xfrm>
          <a:prstGeom prst="rect">
            <a:avLst/>
          </a:prstGeom>
          <a:noFill/>
          <a:ln/>
        </p:spPr>
        <p:txBody>
          <a:bodyPr wrap="square" lIns="0" tIns="0" rIns="0" bIns="0" rtlCol="0" anchor="t"/>
          <a:lstStyle/>
          <a:p>
            <a:pPr indent="0" marL="0">
              <a:buNone/>
            </a:pPr>
            <a:r>
              <a:rPr lang="en-US" sz="1200" dirty="0">
                <a:solidFill>
                  <a:srgbClr val="6B7280"/>
                </a:solidFill>
                <a:latin typeface="Arial" pitchFamily="34" charset="0"/>
                <a:ea typeface="Arial" pitchFamily="34" charset="-122"/>
                <a:cs typeface="Arial" pitchFamily="34" charset="-120"/>
              </a:rPr>
              <a:t>Training bar and test bar are drawn to the same scale (5 : 1). The Non-IID results use one saved Dirichlet draw.</a:t>
            </a:r>
            <a:endParaRPr lang="en-US" sz="120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A8394"/>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1672" cy="731520"/>
          </a:xfrm>
          <a:prstGeom prst="rect">
            <a:avLst/>
          </a:prstGeom>
          <a:noFill/>
          <a:ln/>
        </p:spPr>
        <p:txBody>
          <a:bodyPr wrap="square" lIns="0" tIns="0" rIns="0" bIns="0" rtlCol="0" anchor="ctr"/>
          <a:lstStyle/>
          <a:p>
            <a:pPr algn="l" indent="0" marL="0">
              <a:buNone/>
            </a:pPr>
            <a:r>
              <a:rPr lang="en-US" sz="3000" b="1" dirty="0">
                <a:solidFill>
                  <a:srgbClr val="14213D"/>
                </a:solidFill>
                <a:latin typeface="Arial" pitchFamily="34" charset="0"/>
                <a:ea typeface="Arial" pitchFamily="34" charset="-122"/>
                <a:cs typeface="Arial" pitchFamily="34" charset="-120"/>
              </a:rPr>
              <a:t>Data heterogeneity and the attack timeline</a:t>
            </a:r>
            <a:endParaRPr lang="en-US" sz="3000" dirty="0"/>
          </a:p>
        </p:txBody>
      </p:sp>
      <p:sp>
        <p:nvSpPr>
          <p:cNvPr id="3" name="Text 1"/>
          <p:cNvSpPr txBox="1"/>
          <p:nvPr/>
        </p:nvSpPr>
        <p:spPr>
          <a:xfrm>
            <a:off x="548640" y="1280160"/>
            <a:ext cx="2834640" cy="320040"/>
          </a:xfrm>
          <a:prstGeom prst="rect">
            <a:avLst/>
          </a:prstGeom>
          <a:noFill/>
          <a:ln/>
        </p:spPr>
        <p:txBody>
          <a:bodyPr wrap="square" lIns="0" tIns="0" rIns="0" bIns="0" rtlCol="0" anchor="t"/>
          <a:lstStyle/>
          <a:p>
            <a:pPr indent="0" marL="0">
              <a:buNone/>
            </a:pPr>
            <a:r>
              <a:rPr lang="en-US" sz="1600" b="1" dirty="0">
                <a:solidFill>
                  <a:srgbClr val="14213D"/>
                </a:solidFill>
                <a:latin typeface="Arial" pitchFamily="34" charset="0"/>
                <a:ea typeface="Arial" pitchFamily="34" charset="-122"/>
                <a:cs typeface="Arial" pitchFamily="34" charset="-120"/>
              </a:rPr>
              <a:t>IID: similar mixes</a:t>
            </a:r>
            <a:endParaRPr lang="en-US" sz="1600" dirty="0"/>
          </a:p>
        </p:txBody>
      </p:sp>
      <p:sp>
        <p:nvSpPr>
          <p:cNvPr id="4" name="Text 2"/>
          <p:cNvSpPr txBox="1"/>
          <p:nvPr/>
        </p:nvSpPr>
        <p:spPr>
          <a:xfrm>
            <a:off x="548640" y="1737360"/>
            <a:ext cx="640080" cy="347472"/>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Client A</a:t>
            </a:r>
            <a:endParaRPr lang="en-US" sz="1200" dirty="0"/>
          </a:p>
        </p:txBody>
      </p:sp>
      <p:sp>
        <p:nvSpPr>
          <p:cNvPr id="5" name="Shape 3"/>
          <p:cNvSpPr txBox="1"/>
          <p:nvPr/>
        </p:nvSpPr>
        <p:spPr>
          <a:xfrm>
            <a:off x="1234440" y="1737360"/>
            <a:ext cx="567842" cy="347472"/>
          </a:xfrm>
          <a:prstGeom prst="rect">
            <a:avLst/>
          </a:prstGeom>
          <a:solidFill>
            <a:srgbClr val="3D5A80"/>
          </a:solidFill>
          <a:ln w="9525">
            <a:solidFill>
              <a:srgbClr val="FFFFFF"/>
            </a:solidFill>
            <a:prstDash val="solid"/>
          </a:ln>
        </p:spPr>
      </p:sp>
      <p:sp>
        <p:nvSpPr>
          <p:cNvPr id="6" name="Shape 4"/>
          <p:cNvSpPr txBox="1"/>
          <p:nvPr/>
        </p:nvSpPr>
        <p:spPr>
          <a:xfrm>
            <a:off x="1802282" y="1737360"/>
            <a:ext cx="504749" cy="347472"/>
          </a:xfrm>
          <a:prstGeom prst="rect">
            <a:avLst/>
          </a:prstGeom>
          <a:solidFill>
            <a:srgbClr val="98C1D9"/>
          </a:solidFill>
          <a:ln w="9525">
            <a:solidFill>
              <a:srgbClr val="FFFFFF"/>
            </a:solidFill>
            <a:prstDash val="solid"/>
          </a:ln>
        </p:spPr>
      </p:sp>
      <p:sp>
        <p:nvSpPr>
          <p:cNvPr id="7" name="Shape 5"/>
          <p:cNvSpPr txBox="1"/>
          <p:nvPr/>
        </p:nvSpPr>
        <p:spPr>
          <a:xfrm>
            <a:off x="2307031" y="1737360"/>
            <a:ext cx="546811" cy="347472"/>
          </a:xfrm>
          <a:prstGeom prst="rect">
            <a:avLst/>
          </a:prstGeom>
          <a:solidFill>
            <a:srgbClr val="E0B0A0"/>
          </a:solidFill>
          <a:ln w="9525">
            <a:solidFill>
              <a:srgbClr val="FFFFFF"/>
            </a:solidFill>
            <a:prstDash val="solid"/>
          </a:ln>
        </p:spPr>
      </p:sp>
      <p:sp>
        <p:nvSpPr>
          <p:cNvPr id="8" name="Shape 6"/>
          <p:cNvSpPr txBox="1"/>
          <p:nvPr/>
        </p:nvSpPr>
        <p:spPr>
          <a:xfrm>
            <a:off x="2853842" y="1737360"/>
            <a:ext cx="483718" cy="347472"/>
          </a:xfrm>
          <a:prstGeom prst="rect">
            <a:avLst/>
          </a:prstGeom>
          <a:solidFill>
            <a:srgbClr val="9AA5B5"/>
          </a:solidFill>
          <a:ln w="9525">
            <a:solidFill>
              <a:srgbClr val="FFFFFF"/>
            </a:solidFill>
            <a:prstDash val="solid"/>
          </a:ln>
        </p:spPr>
      </p:sp>
      <p:sp>
        <p:nvSpPr>
          <p:cNvPr id="9" name="Text 7"/>
          <p:cNvSpPr txBox="1"/>
          <p:nvPr/>
        </p:nvSpPr>
        <p:spPr>
          <a:xfrm>
            <a:off x="548640" y="2240280"/>
            <a:ext cx="640080" cy="347472"/>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Client B</a:t>
            </a:r>
            <a:endParaRPr lang="en-US" sz="1200" dirty="0"/>
          </a:p>
        </p:txBody>
      </p:sp>
      <p:sp>
        <p:nvSpPr>
          <p:cNvPr id="10" name="Shape 8"/>
          <p:cNvSpPr txBox="1"/>
          <p:nvPr/>
        </p:nvSpPr>
        <p:spPr>
          <a:xfrm>
            <a:off x="1234440" y="2240280"/>
            <a:ext cx="525780" cy="347472"/>
          </a:xfrm>
          <a:prstGeom prst="rect">
            <a:avLst/>
          </a:prstGeom>
          <a:solidFill>
            <a:srgbClr val="3D5A80"/>
          </a:solidFill>
          <a:ln w="9525">
            <a:solidFill>
              <a:srgbClr val="FFFFFF"/>
            </a:solidFill>
            <a:prstDash val="solid"/>
          </a:ln>
        </p:spPr>
      </p:sp>
      <p:sp>
        <p:nvSpPr>
          <p:cNvPr id="11" name="Shape 9"/>
          <p:cNvSpPr txBox="1"/>
          <p:nvPr/>
        </p:nvSpPr>
        <p:spPr>
          <a:xfrm>
            <a:off x="1760220" y="2240280"/>
            <a:ext cx="546811" cy="347472"/>
          </a:xfrm>
          <a:prstGeom prst="rect">
            <a:avLst/>
          </a:prstGeom>
          <a:solidFill>
            <a:srgbClr val="98C1D9"/>
          </a:solidFill>
          <a:ln w="9525">
            <a:solidFill>
              <a:srgbClr val="FFFFFF"/>
            </a:solidFill>
            <a:prstDash val="solid"/>
          </a:ln>
        </p:spPr>
      </p:sp>
      <p:sp>
        <p:nvSpPr>
          <p:cNvPr id="12" name="Shape 10"/>
          <p:cNvSpPr txBox="1"/>
          <p:nvPr/>
        </p:nvSpPr>
        <p:spPr>
          <a:xfrm>
            <a:off x="2307031" y="2240280"/>
            <a:ext cx="483718" cy="347472"/>
          </a:xfrm>
          <a:prstGeom prst="rect">
            <a:avLst/>
          </a:prstGeom>
          <a:solidFill>
            <a:srgbClr val="E0B0A0"/>
          </a:solidFill>
          <a:ln w="9525">
            <a:solidFill>
              <a:srgbClr val="FFFFFF"/>
            </a:solidFill>
            <a:prstDash val="solid"/>
          </a:ln>
        </p:spPr>
      </p:sp>
      <p:sp>
        <p:nvSpPr>
          <p:cNvPr id="13" name="Shape 11"/>
          <p:cNvSpPr txBox="1"/>
          <p:nvPr/>
        </p:nvSpPr>
        <p:spPr>
          <a:xfrm>
            <a:off x="2790749" y="2240280"/>
            <a:ext cx="546811" cy="347472"/>
          </a:xfrm>
          <a:prstGeom prst="rect">
            <a:avLst/>
          </a:prstGeom>
          <a:solidFill>
            <a:srgbClr val="9AA5B5"/>
          </a:solidFill>
          <a:ln w="9525">
            <a:solidFill>
              <a:srgbClr val="FFFFFF"/>
            </a:solidFill>
            <a:prstDash val="solid"/>
          </a:ln>
        </p:spPr>
      </p:sp>
      <p:sp>
        <p:nvSpPr>
          <p:cNvPr id="14" name="Text 12"/>
          <p:cNvSpPr txBox="1"/>
          <p:nvPr/>
        </p:nvSpPr>
        <p:spPr>
          <a:xfrm>
            <a:off x="548640" y="2743200"/>
            <a:ext cx="640080" cy="347472"/>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Client C</a:t>
            </a:r>
            <a:endParaRPr lang="en-US" sz="1200" dirty="0"/>
          </a:p>
        </p:txBody>
      </p:sp>
      <p:sp>
        <p:nvSpPr>
          <p:cNvPr id="15" name="Shape 13"/>
          <p:cNvSpPr txBox="1"/>
          <p:nvPr/>
        </p:nvSpPr>
        <p:spPr>
          <a:xfrm>
            <a:off x="1234440" y="2743200"/>
            <a:ext cx="504749" cy="347472"/>
          </a:xfrm>
          <a:prstGeom prst="rect">
            <a:avLst/>
          </a:prstGeom>
          <a:solidFill>
            <a:srgbClr val="3D5A80"/>
          </a:solidFill>
          <a:ln w="9525">
            <a:solidFill>
              <a:srgbClr val="FFFFFF"/>
            </a:solidFill>
            <a:prstDash val="solid"/>
          </a:ln>
        </p:spPr>
      </p:sp>
      <p:sp>
        <p:nvSpPr>
          <p:cNvPr id="16" name="Shape 14"/>
          <p:cNvSpPr txBox="1"/>
          <p:nvPr/>
        </p:nvSpPr>
        <p:spPr>
          <a:xfrm>
            <a:off x="1739189" y="2743200"/>
            <a:ext cx="525780" cy="347472"/>
          </a:xfrm>
          <a:prstGeom prst="rect">
            <a:avLst/>
          </a:prstGeom>
          <a:solidFill>
            <a:srgbClr val="98C1D9"/>
          </a:solidFill>
          <a:ln w="9525">
            <a:solidFill>
              <a:srgbClr val="FFFFFF"/>
            </a:solidFill>
            <a:prstDash val="solid"/>
          </a:ln>
        </p:spPr>
      </p:sp>
      <p:sp>
        <p:nvSpPr>
          <p:cNvPr id="17" name="Shape 15"/>
          <p:cNvSpPr txBox="1"/>
          <p:nvPr/>
        </p:nvSpPr>
        <p:spPr>
          <a:xfrm>
            <a:off x="2264969" y="2743200"/>
            <a:ext cx="567842" cy="347472"/>
          </a:xfrm>
          <a:prstGeom prst="rect">
            <a:avLst/>
          </a:prstGeom>
          <a:solidFill>
            <a:srgbClr val="E0B0A0"/>
          </a:solidFill>
          <a:ln w="9525">
            <a:solidFill>
              <a:srgbClr val="FFFFFF"/>
            </a:solidFill>
            <a:prstDash val="solid"/>
          </a:ln>
        </p:spPr>
      </p:sp>
      <p:sp>
        <p:nvSpPr>
          <p:cNvPr id="18" name="Shape 16"/>
          <p:cNvSpPr txBox="1"/>
          <p:nvPr/>
        </p:nvSpPr>
        <p:spPr>
          <a:xfrm>
            <a:off x="2832811" y="2743200"/>
            <a:ext cx="504749" cy="347472"/>
          </a:xfrm>
          <a:prstGeom prst="rect">
            <a:avLst/>
          </a:prstGeom>
          <a:solidFill>
            <a:srgbClr val="9AA5B5"/>
          </a:solidFill>
          <a:ln w="9525">
            <a:solidFill>
              <a:srgbClr val="FFFFFF"/>
            </a:solidFill>
            <a:prstDash val="solid"/>
          </a:ln>
        </p:spPr>
      </p:sp>
      <p:sp>
        <p:nvSpPr>
          <p:cNvPr id="19" name="Text 17"/>
          <p:cNvSpPr txBox="1"/>
          <p:nvPr/>
        </p:nvSpPr>
        <p:spPr>
          <a:xfrm>
            <a:off x="548640" y="3246120"/>
            <a:ext cx="640080" cy="347472"/>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Client D</a:t>
            </a:r>
            <a:endParaRPr lang="en-US" sz="1200" dirty="0"/>
          </a:p>
        </p:txBody>
      </p:sp>
      <p:sp>
        <p:nvSpPr>
          <p:cNvPr id="20" name="Shape 18"/>
          <p:cNvSpPr txBox="1"/>
          <p:nvPr/>
        </p:nvSpPr>
        <p:spPr>
          <a:xfrm>
            <a:off x="1234440" y="3246120"/>
            <a:ext cx="546811" cy="347472"/>
          </a:xfrm>
          <a:prstGeom prst="rect">
            <a:avLst/>
          </a:prstGeom>
          <a:solidFill>
            <a:srgbClr val="3D5A80"/>
          </a:solidFill>
          <a:ln w="9525">
            <a:solidFill>
              <a:srgbClr val="FFFFFF"/>
            </a:solidFill>
            <a:prstDash val="solid"/>
          </a:ln>
        </p:spPr>
      </p:sp>
      <p:sp>
        <p:nvSpPr>
          <p:cNvPr id="21" name="Shape 19"/>
          <p:cNvSpPr txBox="1"/>
          <p:nvPr/>
        </p:nvSpPr>
        <p:spPr>
          <a:xfrm>
            <a:off x="1781251" y="3246120"/>
            <a:ext cx="483718" cy="347472"/>
          </a:xfrm>
          <a:prstGeom prst="rect">
            <a:avLst/>
          </a:prstGeom>
          <a:solidFill>
            <a:srgbClr val="98C1D9"/>
          </a:solidFill>
          <a:ln w="9525">
            <a:solidFill>
              <a:srgbClr val="FFFFFF"/>
            </a:solidFill>
            <a:prstDash val="solid"/>
          </a:ln>
        </p:spPr>
      </p:sp>
      <p:sp>
        <p:nvSpPr>
          <p:cNvPr id="22" name="Shape 20"/>
          <p:cNvSpPr txBox="1"/>
          <p:nvPr/>
        </p:nvSpPr>
        <p:spPr>
          <a:xfrm>
            <a:off x="2264969" y="3246120"/>
            <a:ext cx="525780" cy="347472"/>
          </a:xfrm>
          <a:prstGeom prst="rect">
            <a:avLst/>
          </a:prstGeom>
          <a:solidFill>
            <a:srgbClr val="E0B0A0"/>
          </a:solidFill>
          <a:ln w="9525">
            <a:solidFill>
              <a:srgbClr val="FFFFFF"/>
            </a:solidFill>
            <a:prstDash val="solid"/>
          </a:ln>
        </p:spPr>
      </p:sp>
      <p:sp>
        <p:nvSpPr>
          <p:cNvPr id="23" name="Shape 21"/>
          <p:cNvSpPr txBox="1"/>
          <p:nvPr/>
        </p:nvSpPr>
        <p:spPr>
          <a:xfrm>
            <a:off x="2790749" y="3246120"/>
            <a:ext cx="546811" cy="347472"/>
          </a:xfrm>
          <a:prstGeom prst="rect">
            <a:avLst/>
          </a:prstGeom>
          <a:solidFill>
            <a:srgbClr val="9AA5B5"/>
          </a:solidFill>
          <a:ln w="9525">
            <a:solidFill>
              <a:srgbClr val="FFFFFF"/>
            </a:solidFill>
            <a:prstDash val="solid"/>
          </a:ln>
        </p:spPr>
      </p:sp>
      <p:sp>
        <p:nvSpPr>
          <p:cNvPr id="24" name="Text 22"/>
          <p:cNvSpPr txBox="1"/>
          <p:nvPr/>
        </p:nvSpPr>
        <p:spPr>
          <a:xfrm>
            <a:off x="548640" y="3794760"/>
            <a:ext cx="2834640" cy="274320"/>
          </a:xfrm>
          <a:prstGeom prst="rect">
            <a:avLst/>
          </a:prstGeom>
          <a:noFill/>
          <a:ln/>
        </p:spPr>
        <p:txBody>
          <a:bodyPr wrap="square" lIns="0" tIns="0" rIns="0" bIns="0" rtlCol="0" anchor="t"/>
          <a:lstStyle/>
          <a:p>
            <a:pPr indent="0" marL="0">
              <a:buNone/>
            </a:pPr>
            <a:r>
              <a:rPr lang="en-US" sz="1200" i="1" dirty="0">
                <a:solidFill>
                  <a:srgbClr val="6B7280"/>
                </a:solidFill>
                <a:latin typeface="Arial" pitchFamily="34" charset="0"/>
                <a:ea typeface="Arial" pitchFamily="34" charset="-122"/>
                <a:cs typeface="Arial" pitchFamily="34" charset="-120"/>
              </a:rPr>
              <a:t>schematic, not actual client counts</a:t>
            </a:r>
            <a:endParaRPr lang="en-US" sz="1200" dirty="0"/>
          </a:p>
        </p:txBody>
      </p:sp>
      <p:sp>
        <p:nvSpPr>
          <p:cNvPr id="25" name="Text 23"/>
          <p:cNvSpPr txBox="1"/>
          <p:nvPr/>
        </p:nvSpPr>
        <p:spPr>
          <a:xfrm>
            <a:off x="3566160" y="1280160"/>
            <a:ext cx="2834640" cy="320040"/>
          </a:xfrm>
          <a:prstGeom prst="rect">
            <a:avLst/>
          </a:prstGeom>
          <a:noFill/>
          <a:ln/>
        </p:spPr>
        <p:txBody>
          <a:bodyPr wrap="square" lIns="0" tIns="0" rIns="0" bIns="0" rtlCol="0" anchor="t"/>
          <a:lstStyle/>
          <a:p>
            <a:pPr indent="0" marL="0">
              <a:buNone/>
            </a:pPr>
            <a:r>
              <a:rPr lang="en-US" sz="1600" b="1" dirty="0">
                <a:solidFill>
                  <a:srgbClr val="14213D"/>
                </a:solidFill>
                <a:latin typeface="Arial" pitchFamily="34" charset="0"/>
                <a:ea typeface="Arial" pitchFamily="34" charset="-122"/>
                <a:cs typeface="Arial" pitchFamily="34" charset="-120"/>
              </a:rPr>
              <a:t>Non-IID: skewed mixes</a:t>
            </a:r>
            <a:endParaRPr lang="en-US" sz="1600" dirty="0"/>
          </a:p>
        </p:txBody>
      </p:sp>
      <p:sp>
        <p:nvSpPr>
          <p:cNvPr id="26" name="Text 24"/>
          <p:cNvSpPr txBox="1"/>
          <p:nvPr/>
        </p:nvSpPr>
        <p:spPr>
          <a:xfrm>
            <a:off x="3566160" y="1737360"/>
            <a:ext cx="640080" cy="347472"/>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Client A</a:t>
            </a:r>
            <a:endParaRPr lang="en-US" sz="1200" dirty="0"/>
          </a:p>
        </p:txBody>
      </p:sp>
      <p:sp>
        <p:nvSpPr>
          <p:cNvPr id="27" name="Shape 25"/>
          <p:cNvSpPr txBox="1"/>
          <p:nvPr/>
        </p:nvSpPr>
        <p:spPr>
          <a:xfrm>
            <a:off x="4251960" y="1737360"/>
            <a:ext cx="1303934" cy="347472"/>
          </a:xfrm>
          <a:prstGeom prst="rect">
            <a:avLst/>
          </a:prstGeom>
          <a:solidFill>
            <a:srgbClr val="3D5A80"/>
          </a:solidFill>
          <a:ln w="9525">
            <a:solidFill>
              <a:srgbClr val="FFFFFF"/>
            </a:solidFill>
            <a:prstDash val="solid"/>
          </a:ln>
        </p:spPr>
      </p:sp>
      <p:sp>
        <p:nvSpPr>
          <p:cNvPr id="28" name="Shape 26"/>
          <p:cNvSpPr txBox="1"/>
          <p:nvPr/>
        </p:nvSpPr>
        <p:spPr>
          <a:xfrm>
            <a:off x="5555894" y="1737360"/>
            <a:ext cx="420624" cy="347472"/>
          </a:xfrm>
          <a:prstGeom prst="rect">
            <a:avLst/>
          </a:prstGeom>
          <a:solidFill>
            <a:srgbClr val="98C1D9"/>
          </a:solidFill>
          <a:ln w="9525">
            <a:solidFill>
              <a:srgbClr val="FFFFFF"/>
            </a:solidFill>
            <a:prstDash val="solid"/>
          </a:ln>
        </p:spPr>
      </p:sp>
      <p:sp>
        <p:nvSpPr>
          <p:cNvPr id="29" name="Shape 27"/>
          <p:cNvSpPr txBox="1"/>
          <p:nvPr/>
        </p:nvSpPr>
        <p:spPr>
          <a:xfrm>
            <a:off x="5976518" y="1737360"/>
            <a:ext cx="210312" cy="347472"/>
          </a:xfrm>
          <a:prstGeom prst="rect">
            <a:avLst/>
          </a:prstGeom>
          <a:solidFill>
            <a:srgbClr val="E0B0A0"/>
          </a:solidFill>
          <a:ln w="9525">
            <a:solidFill>
              <a:srgbClr val="FFFFFF"/>
            </a:solidFill>
            <a:prstDash val="solid"/>
          </a:ln>
        </p:spPr>
      </p:sp>
      <p:sp>
        <p:nvSpPr>
          <p:cNvPr id="30" name="Shape 28"/>
          <p:cNvSpPr txBox="1"/>
          <p:nvPr/>
        </p:nvSpPr>
        <p:spPr>
          <a:xfrm>
            <a:off x="6186830" y="1737360"/>
            <a:ext cx="168250" cy="347472"/>
          </a:xfrm>
          <a:prstGeom prst="rect">
            <a:avLst/>
          </a:prstGeom>
          <a:solidFill>
            <a:srgbClr val="9AA5B5"/>
          </a:solidFill>
          <a:ln w="9525">
            <a:solidFill>
              <a:srgbClr val="FFFFFF"/>
            </a:solidFill>
            <a:prstDash val="solid"/>
          </a:ln>
        </p:spPr>
      </p:sp>
      <p:sp>
        <p:nvSpPr>
          <p:cNvPr id="31" name="Text 29"/>
          <p:cNvSpPr txBox="1"/>
          <p:nvPr/>
        </p:nvSpPr>
        <p:spPr>
          <a:xfrm>
            <a:off x="3566160" y="2240280"/>
            <a:ext cx="640080" cy="347472"/>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Client B</a:t>
            </a:r>
            <a:endParaRPr lang="en-US" sz="1200" dirty="0"/>
          </a:p>
        </p:txBody>
      </p:sp>
      <p:sp>
        <p:nvSpPr>
          <p:cNvPr id="32" name="Shape 30"/>
          <p:cNvSpPr txBox="1"/>
          <p:nvPr/>
        </p:nvSpPr>
        <p:spPr>
          <a:xfrm>
            <a:off x="4251960" y="2240280"/>
            <a:ext cx="105156" cy="347472"/>
          </a:xfrm>
          <a:prstGeom prst="rect">
            <a:avLst/>
          </a:prstGeom>
          <a:solidFill>
            <a:srgbClr val="3D5A80"/>
          </a:solidFill>
          <a:ln w="9525">
            <a:solidFill>
              <a:srgbClr val="FFFFFF"/>
            </a:solidFill>
            <a:prstDash val="solid"/>
          </a:ln>
        </p:spPr>
      </p:sp>
      <p:sp>
        <p:nvSpPr>
          <p:cNvPr id="33" name="Shape 31"/>
          <p:cNvSpPr txBox="1"/>
          <p:nvPr/>
        </p:nvSpPr>
        <p:spPr>
          <a:xfrm>
            <a:off x="4357116" y="2240280"/>
            <a:ext cx="1472184" cy="347472"/>
          </a:xfrm>
          <a:prstGeom prst="rect">
            <a:avLst/>
          </a:prstGeom>
          <a:solidFill>
            <a:srgbClr val="98C1D9"/>
          </a:solidFill>
          <a:ln w="9525">
            <a:solidFill>
              <a:srgbClr val="FFFFFF"/>
            </a:solidFill>
            <a:prstDash val="solid"/>
          </a:ln>
        </p:spPr>
      </p:sp>
      <p:sp>
        <p:nvSpPr>
          <p:cNvPr id="34" name="Shape 32"/>
          <p:cNvSpPr txBox="1"/>
          <p:nvPr/>
        </p:nvSpPr>
        <p:spPr>
          <a:xfrm>
            <a:off x="5829300" y="2240280"/>
            <a:ext cx="315468" cy="347472"/>
          </a:xfrm>
          <a:prstGeom prst="rect">
            <a:avLst/>
          </a:prstGeom>
          <a:solidFill>
            <a:srgbClr val="E0B0A0"/>
          </a:solidFill>
          <a:ln w="9525">
            <a:solidFill>
              <a:srgbClr val="FFFFFF"/>
            </a:solidFill>
            <a:prstDash val="solid"/>
          </a:ln>
        </p:spPr>
      </p:sp>
      <p:sp>
        <p:nvSpPr>
          <p:cNvPr id="35" name="Shape 33"/>
          <p:cNvSpPr txBox="1"/>
          <p:nvPr/>
        </p:nvSpPr>
        <p:spPr>
          <a:xfrm>
            <a:off x="6144768" y="2240280"/>
            <a:ext cx="210312" cy="347472"/>
          </a:xfrm>
          <a:prstGeom prst="rect">
            <a:avLst/>
          </a:prstGeom>
          <a:solidFill>
            <a:srgbClr val="9AA5B5"/>
          </a:solidFill>
          <a:ln w="9525">
            <a:solidFill>
              <a:srgbClr val="FFFFFF"/>
            </a:solidFill>
            <a:prstDash val="solid"/>
          </a:ln>
        </p:spPr>
      </p:sp>
      <p:sp>
        <p:nvSpPr>
          <p:cNvPr id="36" name="Text 34"/>
          <p:cNvSpPr txBox="1"/>
          <p:nvPr/>
        </p:nvSpPr>
        <p:spPr>
          <a:xfrm>
            <a:off x="3566160" y="2743200"/>
            <a:ext cx="640080" cy="347472"/>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Client C</a:t>
            </a:r>
            <a:endParaRPr lang="en-US" sz="1200" dirty="0"/>
          </a:p>
        </p:txBody>
      </p:sp>
      <p:sp>
        <p:nvSpPr>
          <p:cNvPr id="37" name="Shape 35"/>
          <p:cNvSpPr txBox="1"/>
          <p:nvPr/>
        </p:nvSpPr>
        <p:spPr>
          <a:xfrm>
            <a:off x="4251960" y="2743200"/>
            <a:ext cx="210312" cy="347472"/>
          </a:xfrm>
          <a:prstGeom prst="rect">
            <a:avLst/>
          </a:prstGeom>
          <a:solidFill>
            <a:srgbClr val="3D5A80"/>
          </a:solidFill>
          <a:ln w="9525">
            <a:solidFill>
              <a:srgbClr val="FFFFFF"/>
            </a:solidFill>
            <a:prstDash val="solid"/>
          </a:ln>
        </p:spPr>
      </p:sp>
      <p:sp>
        <p:nvSpPr>
          <p:cNvPr id="38" name="Shape 36"/>
          <p:cNvSpPr txBox="1"/>
          <p:nvPr/>
        </p:nvSpPr>
        <p:spPr>
          <a:xfrm>
            <a:off x="4462272" y="2743200"/>
            <a:ext cx="210312" cy="347472"/>
          </a:xfrm>
          <a:prstGeom prst="rect">
            <a:avLst/>
          </a:prstGeom>
          <a:solidFill>
            <a:srgbClr val="98C1D9"/>
          </a:solidFill>
          <a:ln w="9525">
            <a:solidFill>
              <a:srgbClr val="FFFFFF"/>
            </a:solidFill>
            <a:prstDash val="solid"/>
          </a:ln>
        </p:spPr>
      </p:sp>
      <p:sp>
        <p:nvSpPr>
          <p:cNvPr id="39" name="Shape 37"/>
          <p:cNvSpPr txBox="1"/>
          <p:nvPr/>
        </p:nvSpPr>
        <p:spPr>
          <a:xfrm>
            <a:off x="4672584" y="2743200"/>
            <a:ext cx="420624" cy="347472"/>
          </a:xfrm>
          <a:prstGeom prst="rect">
            <a:avLst/>
          </a:prstGeom>
          <a:solidFill>
            <a:srgbClr val="E0B0A0"/>
          </a:solidFill>
          <a:ln w="9525">
            <a:solidFill>
              <a:srgbClr val="FFFFFF"/>
            </a:solidFill>
            <a:prstDash val="solid"/>
          </a:ln>
        </p:spPr>
      </p:sp>
      <p:sp>
        <p:nvSpPr>
          <p:cNvPr id="40" name="Shape 38"/>
          <p:cNvSpPr txBox="1"/>
          <p:nvPr/>
        </p:nvSpPr>
        <p:spPr>
          <a:xfrm>
            <a:off x="5093208" y="2743200"/>
            <a:ext cx="1261872" cy="347472"/>
          </a:xfrm>
          <a:prstGeom prst="rect">
            <a:avLst/>
          </a:prstGeom>
          <a:solidFill>
            <a:srgbClr val="9AA5B5"/>
          </a:solidFill>
          <a:ln w="9525">
            <a:solidFill>
              <a:srgbClr val="FFFFFF"/>
            </a:solidFill>
            <a:prstDash val="solid"/>
          </a:ln>
        </p:spPr>
      </p:sp>
      <p:sp>
        <p:nvSpPr>
          <p:cNvPr id="41" name="Text 39"/>
          <p:cNvSpPr txBox="1"/>
          <p:nvPr/>
        </p:nvSpPr>
        <p:spPr>
          <a:xfrm>
            <a:off x="3566160" y="3246120"/>
            <a:ext cx="640080" cy="347472"/>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Client D</a:t>
            </a:r>
            <a:endParaRPr lang="en-US" sz="1200" dirty="0"/>
          </a:p>
        </p:txBody>
      </p:sp>
      <p:sp>
        <p:nvSpPr>
          <p:cNvPr id="42" name="Shape 40"/>
          <p:cNvSpPr txBox="1"/>
          <p:nvPr/>
        </p:nvSpPr>
        <p:spPr>
          <a:xfrm>
            <a:off x="4251960" y="3246120"/>
            <a:ext cx="630936" cy="347472"/>
          </a:xfrm>
          <a:prstGeom prst="rect">
            <a:avLst/>
          </a:prstGeom>
          <a:solidFill>
            <a:srgbClr val="3D5A80"/>
          </a:solidFill>
          <a:ln w="9525">
            <a:solidFill>
              <a:srgbClr val="FFFFFF"/>
            </a:solidFill>
            <a:prstDash val="solid"/>
          </a:ln>
        </p:spPr>
      </p:sp>
      <p:sp>
        <p:nvSpPr>
          <p:cNvPr id="43" name="Shape 41"/>
          <p:cNvSpPr txBox="1"/>
          <p:nvPr/>
        </p:nvSpPr>
        <p:spPr>
          <a:xfrm>
            <a:off x="4882896" y="3246120"/>
            <a:ext cx="105156" cy="347472"/>
          </a:xfrm>
          <a:prstGeom prst="rect">
            <a:avLst/>
          </a:prstGeom>
          <a:solidFill>
            <a:srgbClr val="98C1D9"/>
          </a:solidFill>
          <a:ln w="9525">
            <a:solidFill>
              <a:srgbClr val="FFFFFF"/>
            </a:solidFill>
            <a:prstDash val="solid"/>
          </a:ln>
        </p:spPr>
      </p:sp>
      <p:sp>
        <p:nvSpPr>
          <p:cNvPr id="44" name="Shape 42"/>
          <p:cNvSpPr txBox="1"/>
          <p:nvPr/>
        </p:nvSpPr>
        <p:spPr>
          <a:xfrm>
            <a:off x="4988052" y="3246120"/>
            <a:ext cx="105156" cy="347472"/>
          </a:xfrm>
          <a:prstGeom prst="rect">
            <a:avLst/>
          </a:prstGeom>
          <a:solidFill>
            <a:srgbClr val="E0B0A0"/>
          </a:solidFill>
          <a:ln w="9525">
            <a:solidFill>
              <a:srgbClr val="FFFFFF"/>
            </a:solidFill>
            <a:prstDash val="solid"/>
          </a:ln>
        </p:spPr>
      </p:sp>
      <p:sp>
        <p:nvSpPr>
          <p:cNvPr id="45" name="Shape 43"/>
          <p:cNvSpPr txBox="1"/>
          <p:nvPr/>
        </p:nvSpPr>
        <p:spPr>
          <a:xfrm>
            <a:off x="5093208" y="3246120"/>
            <a:ext cx="1261872" cy="347472"/>
          </a:xfrm>
          <a:prstGeom prst="rect">
            <a:avLst/>
          </a:prstGeom>
          <a:solidFill>
            <a:srgbClr val="9AA5B5"/>
          </a:solidFill>
          <a:ln w="9525">
            <a:solidFill>
              <a:srgbClr val="FFFFFF"/>
            </a:solidFill>
            <a:prstDash val="solid"/>
          </a:ln>
        </p:spPr>
      </p:sp>
      <p:sp>
        <p:nvSpPr>
          <p:cNvPr id="46" name="Text 44"/>
          <p:cNvSpPr txBox="1"/>
          <p:nvPr/>
        </p:nvSpPr>
        <p:spPr>
          <a:xfrm>
            <a:off x="3566160" y="3794760"/>
            <a:ext cx="2834640" cy="274320"/>
          </a:xfrm>
          <a:prstGeom prst="rect">
            <a:avLst/>
          </a:prstGeom>
          <a:noFill/>
          <a:ln/>
        </p:spPr>
        <p:txBody>
          <a:bodyPr wrap="square" lIns="0" tIns="0" rIns="0" bIns="0" rtlCol="0" anchor="t"/>
          <a:lstStyle/>
          <a:p>
            <a:pPr indent="0" marL="0">
              <a:buNone/>
            </a:pPr>
            <a:r>
              <a:rPr lang="en-US" sz="1200" i="1" dirty="0">
                <a:solidFill>
                  <a:srgbClr val="6B7280"/>
                </a:solidFill>
                <a:latin typeface="Arial" pitchFamily="34" charset="0"/>
                <a:ea typeface="Arial" pitchFamily="34" charset="-122"/>
                <a:cs typeface="Arial" pitchFamily="34" charset="-120"/>
              </a:rPr>
              <a:t>schematic, not actual client counts</a:t>
            </a:r>
            <a:endParaRPr lang="en-US" sz="1200" dirty="0"/>
          </a:p>
        </p:txBody>
      </p:sp>
      <p:sp>
        <p:nvSpPr>
          <p:cNvPr id="47" name="Shape 45"/>
          <p:cNvSpPr txBox="1"/>
          <p:nvPr/>
        </p:nvSpPr>
        <p:spPr>
          <a:xfrm>
            <a:off x="548640" y="4160520"/>
            <a:ext cx="201168" cy="201168"/>
          </a:xfrm>
          <a:prstGeom prst="rect">
            <a:avLst/>
          </a:prstGeom>
          <a:solidFill>
            <a:srgbClr val="3D5A80"/>
          </a:solidFill>
          <a:ln/>
        </p:spPr>
      </p:sp>
      <p:sp>
        <p:nvSpPr>
          <p:cNvPr id="48" name="Shape 46"/>
          <p:cNvSpPr txBox="1"/>
          <p:nvPr/>
        </p:nvSpPr>
        <p:spPr>
          <a:xfrm>
            <a:off x="1920240" y="4160520"/>
            <a:ext cx="201168" cy="201168"/>
          </a:xfrm>
          <a:prstGeom prst="rect">
            <a:avLst/>
          </a:prstGeom>
          <a:solidFill>
            <a:srgbClr val="98C1D9"/>
          </a:solidFill>
          <a:ln/>
        </p:spPr>
      </p:sp>
      <p:sp>
        <p:nvSpPr>
          <p:cNvPr id="49" name="Shape 47"/>
          <p:cNvSpPr txBox="1"/>
          <p:nvPr/>
        </p:nvSpPr>
        <p:spPr>
          <a:xfrm>
            <a:off x="3291840" y="4160520"/>
            <a:ext cx="201168" cy="201168"/>
          </a:xfrm>
          <a:prstGeom prst="rect">
            <a:avLst/>
          </a:prstGeom>
          <a:solidFill>
            <a:srgbClr val="E0B0A0"/>
          </a:solidFill>
          <a:ln/>
        </p:spPr>
      </p:sp>
      <p:sp>
        <p:nvSpPr>
          <p:cNvPr id="50" name="Shape 48"/>
          <p:cNvSpPr txBox="1"/>
          <p:nvPr/>
        </p:nvSpPr>
        <p:spPr>
          <a:xfrm>
            <a:off x="4663440" y="4160520"/>
            <a:ext cx="201168" cy="201168"/>
          </a:xfrm>
          <a:prstGeom prst="rect">
            <a:avLst/>
          </a:prstGeom>
          <a:solidFill>
            <a:srgbClr val="9AA5B5"/>
          </a:solidFill>
          <a:ln/>
        </p:spPr>
      </p:sp>
      <p:sp>
        <p:nvSpPr>
          <p:cNvPr id="51" name="Text 49"/>
          <p:cNvSpPr txBox="1"/>
          <p:nvPr/>
        </p:nvSpPr>
        <p:spPr>
          <a:xfrm>
            <a:off x="822960" y="4133088"/>
            <a:ext cx="1005840" cy="256032"/>
          </a:xfrm>
          <a:prstGeom prst="rect">
            <a:avLst/>
          </a:prstGeom>
          <a:noFill/>
          <a:ln/>
        </p:spPr>
        <p:txBody>
          <a:bodyPr wrap="square" lIns="0" tIns="0" rIns="0" bIns="0" rtlCol="0" anchor="t"/>
          <a:lstStyle/>
          <a:p>
            <a:pPr indent="0" marL="0">
              <a:buNone/>
            </a:pPr>
            <a:r>
              <a:rPr lang="en-US" sz="1200" dirty="0">
                <a:solidFill>
                  <a:srgbClr val="6B7280"/>
                </a:solidFill>
                <a:latin typeface="Arial" pitchFamily="34" charset="0"/>
                <a:ea typeface="Arial" pitchFamily="34" charset="-122"/>
                <a:cs typeface="Arial" pitchFamily="34" charset="-120"/>
              </a:rPr>
              <a:t>class w</a:t>
            </a:r>
            <a:endParaRPr lang="en-US" sz="1200" dirty="0"/>
          </a:p>
        </p:txBody>
      </p:sp>
      <p:sp>
        <p:nvSpPr>
          <p:cNvPr id="52" name="Text 50"/>
          <p:cNvSpPr txBox="1"/>
          <p:nvPr/>
        </p:nvSpPr>
        <p:spPr>
          <a:xfrm>
            <a:off x="2194560" y="4133088"/>
            <a:ext cx="1005840" cy="256032"/>
          </a:xfrm>
          <a:prstGeom prst="rect">
            <a:avLst/>
          </a:prstGeom>
          <a:noFill/>
          <a:ln/>
        </p:spPr>
        <p:txBody>
          <a:bodyPr wrap="square" lIns="0" tIns="0" rIns="0" bIns="0" rtlCol="0" anchor="t"/>
          <a:lstStyle/>
          <a:p>
            <a:pPr indent="0" marL="0">
              <a:buNone/>
            </a:pPr>
            <a:r>
              <a:rPr lang="en-US" sz="1200" dirty="0">
                <a:solidFill>
                  <a:srgbClr val="6B7280"/>
                </a:solidFill>
                <a:latin typeface="Arial" pitchFamily="34" charset="0"/>
                <a:ea typeface="Arial" pitchFamily="34" charset="-122"/>
                <a:cs typeface="Arial" pitchFamily="34" charset="-120"/>
              </a:rPr>
              <a:t>class x</a:t>
            </a:r>
            <a:endParaRPr lang="en-US" sz="1200" dirty="0"/>
          </a:p>
        </p:txBody>
      </p:sp>
      <p:sp>
        <p:nvSpPr>
          <p:cNvPr id="53" name="Text 51"/>
          <p:cNvSpPr txBox="1"/>
          <p:nvPr/>
        </p:nvSpPr>
        <p:spPr>
          <a:xfrm>
            <a:off x="3566160" y="4133088"/>
            <a:ext cx="1005840" cy="256032"/>
          </a:xfrm>
          <a:prstGeom prst="rect">
            <a:avLst/>
          </a:prstGeom>
          <a:noFill/>
          <a:ln/>
        </p:spPr>
        <p:txBody>
          <a:bodyPr wrap="square" lIns="0" tIns="0" rIns="0" bIns="0" rtlCol="0" anchor="t"/>
          <a:lstStyle/>
          <a:p>
            <a:pPr indent="0" marL="0">
              <a:buNone/>
            </a:pPr>
            <a:r>
              <a:rPr lang="en-US" sz="1200" dirty="0">
                <a:solidFill>
                  <a:srgbClr val="6B7280"/>
                </a:solidFill>
                <a:latin typeface="Arial" pitchFamily="34" charset="0"/>
                <a:ea typeface="Arial" pitchFamily="34" charset="-122"/>
                <a:cs typeface="Arial" pitchFamily="34" charset="-120"/>
              </a:rPr>
              <a:t>class y</a:t>
            </a:r>
            <a:endParaRPr lang="en-US" sz="1200" dirty="0"/>
          </a:p>
        </p:txBody>
      </p:sp>
      <p:sp>
        <p:nvSpPr>
          <p:cNvPr id="54" name="Text 52"/>
          <p:cNvSpPr txBox="1"/>
          <p:nvPr/>
        </p:nvSpPr>
        <p:spPr>
          <a:xfrm>
            <a:off x="4937760" y="4133088"/>
            <a:ext cx="1005840" cy="256032"/>
          </a:xfrm>
          <a:prstGeom prst="rect">
            <a:avLst/>
          </a:prstGeom>
          <a:noFill/>
          <a:ln/>
        </p:spPr>
        <p:txBody>
          <a:bodyPr wrap="square" lIns="0" tIns="0" rIns="0" bIns="0" rtlCol="0" anchor="t"/>
          <a:lstStyle/>
          <a:p>
            <a:pPr indent="0" marL="0">
              <a:buNone/>
            </a:pPr>
            <a:r>
              <a:rPr lang="en-US" sz="1200" dirty="0">
                <a:solidFill>
                  <a:srgbClr val="6B7280"/>
                </a:solidFill>
                <a:latin typeface="Arial" pitchFamily="34" charset="0"/>
                <a:ea typeface="Arial" pitchFamily="34" charset="-122"/>
                <a:cs typeface="Arial" pitchFamily="34" charset="-120"/>
              </a:rPr>
              <a:t>class z</a:t>
            </a:r>
            <a:endParaRPr lang="en-US" sz="1200" dirty="0"/>
          </a:p>
        </p:txBody>
      </p:sp>
      <p:sp>
        <p:nvSpPr>
          <p:cNvPr id="55" name="Shape 53"/>
          <p:cNvSpPr txBox="1"/>
          <p:nvPr/>
        </p:nvSpPr>
        <p:spPr>
          <a:xfrm>
            <a:off x="6812280" y="1280160"/>
            <a:ext cx="4828032" cy="1234440"/>
          </a:xfrm>
          <a:prstGeom prst="roundRect">
            <a:avLst>
              <a:gd name="adj" fmla="val 5926"/>
            </a:avLst>
          </a:prstGeom>
          <a:solidFill>
            <a:srgbClr val="FCE9EB"/>
          </a:solidFill>
          <a:ln w="15875">
            <a:solidFill>
              <a:srgbClr val="D62839"/>
            </a:solidFill>
            <a:prstDash val="solid"/>
          </a:ln>
        </p:spPr>
      </p:sp>
      <p:sp>
        <p:nvSpPr>
          <p:cNvPr id="56" name="Text 54"/>
          <p:cNvSpPr txBox="1"/>
          <p:nvPr/>
        </p:nvSpPr>
        <p:spPr>
          <a:xfrm>
            <a:off x="7040880" y="1389888"/>
            <a:ext cx="4389120" cy="274320"/>
          </a:xfrm>
          <a:prstGeom prst="rect">
            <a:avLst/>
          </a:prstGeom>
          <a:noFill/>
          <a:ln/>
        </p:spPr>
        <p:txBody>
          <a:bodyPr wrap="square" lIns="0" tIns="0" rIns="0" bIns="0" rtlCol="0" anchor="t"/>
          <a:lstStyle/>
          <a:p>
            <a:pPr indent="0" marL="0">
              <a:buNone/>
            </a:pPr>
            <a:r>
              <a:rPr lang="en-US" sz="1400" b="1" dirty="0">
                <a:solidFill>
                  <a:srgbClr val="B3001B"/>
                </a:solidFill>
                <a:latin typeface="Arial" pitchFamily="34" charset="0"/>
                <a:ea typeface="Arial" pitchFamily="34" charset="-122"/>
                <a:cs typeface="Arial" pitchFamily="34" charset="-120"/>
              </a:rPr>
              <a:t>C0 in IID</a:t>
            </a:r>
            <a:endParaRPr lang="en-US" sz="1400" dirty="0"/>
          </a:p>
        </p:txBody>
      </p:sp>
      <p:sp>
        <p:nvSpPr>
          <p:cNvPr id="57" name="Text 55"/>
          <p:cNvSpPr txBox="1"/>
          <p:nvPr/>
        </p:nvSpPr>
        <p:spPr>
          <a:xfrm>
            <a:off x="7040880" y="1664208"/>
            <a:ext cx="4389120" cy="411480"/>
          </a:xfrm>
          <a:prstGeom prst="rect">
            <a:avLst/>
          </a:prstGeom>
          <a:noFill/>
          <a:ln/>
        </p:spPr>
        <p:txBody>
          <a:bodyPr wrap="square" lIns="0" tIns="0" rIns="0" bIns="0" rtlCol="0" anchor="t"/>
          <a:lstStyle/>
          <a:p>
            <a:pPr indent="0" marL="0">
              <a:buNone/>
            </a:pPr>
            <a:r>
              <a:rPr lang="en-US" sz="2400" b="1" dirty="0">
                <a:solidFill>
                  <a:srgbClr val="14213D"/>
                </a:solidFill>
                <a:latin typeface="Arial" pitchFamily="34" charset="0"/>
                <a:ea typeface="Arial" pitchFamily="34" charset="-122"/>
                <a:cs typeface="Arial" pitchFamily="34" charset="-120"/>
              </a:rPr>
              <a:t>5,000 samples</a:t>
            </a:r>
            <a:endParaRPr lang="en-US" sz="2400" dirty="0"/>
          </a:p>
        </p:txBody>
      </p:sp>
      <p:sp>
        <p:nvSpPr>
          <p:cNvPr id="58" name="Text 56"/>
          <p:cNvSpPr txBox="1"/>
          <p:nvPr/>
        </p:nvSpPr>
        <p:spPr>
          <a:xfrm>
            <a:off x="7040880" y="2103120"/>
            <a:ext cx="4389120" cy="365760"/>
          </a:xfrm>
          <a:prstGeom prst="rect">
            <a:avLst/>
          </a:prstGeom>
          <a:noFill/>
          <a:ln/>
        </p:spPr>
        <p:txBody>
          <a:bodyPr wrap="square" lIns="0" tIns="0" rIns="0" bIns="0" rtlCol="0" anchor="t"/>
          <a:lstStyle/>
          <a:p>
            <a:pPr indent="0" marL="0">
              <a:buNone/>
            </a:pPr>
            <a:r>
              <a:rPr lang="en-US" sz="1400" dirty="0">
                <a:solidFill>
                  <a:srgbClr val="3A4560"/>
                </a:solidFill>
                <a:latin typeface="Arial" pitchFamily="34" charset="0"/>
                <a:ea typeface="Arial" pitchFamily="34" charset="-122"/>
                <a:cs typeface="Arial" pitchFamily="34" charset="-120"/>
              </a:rPr>
              <a:t>~500 poisoned</a:t>
            </a:r>
            <a:endParaRPr lang="en-US" sz="1400" dirty="0"/>
          </a:p>
        </p:txBody>
      </p:sp>
      <p:sp>
        <p:nvSpPr>
          <p:cNvPr id="59" name="Shape 57"/>
          <p:cNvSpPr txBox="1"/>
          <p:nvPr/>
        </p:nvSpPr>
        <p:spPr>
          <a:xfrm>
            <a:off x="6812280" y="2651760"/>
            <a:ext cx="4828032" cy="1234440"/>
          </a:xfrm>
          <a:prstGeom prst="roundRect">
            <a:avLst>
              <a:gd name="adj" fmla="val 5926"/>
            </a:avLst>
          </a:prstGeom>
          <a:solidFill>
            <a:srgbClr val="FCE9EB"/>
          </a:solidFill>
          <a:ln w="15875">
            <a:solidFill>
              <a:srgbClr val="D62839"/>
            </a:solidFill>
            <a:prstDash val="solid"/>
          </a:ln>
        </p:spPr>
      </p:sp>
      <p:sp>
        <p:nvSpPr>
          <p:cNvPr id="60" name="Text 58"/>
          <p:cNvSpPr txBox="1"/>
          <p:nvPr/>
        </p:nvSpPr>
        <p:spPr>
          <a:xfrm>
            <a:off x="7040880" y="2761488"/>
            <a:ext cx="4389120" cy="274320"/>
          </a:xfrm>
          <a:prstGeom prst="rect">
            <a:avLst/>
          </a:prstGeom>
          <a:noFill/>
          <a:ln/>
        </p:spPr>
        <p:txBody>
          <a:bodyPr wrap="square" lIns="0" tIns="0" rIns="0" bIns="0" rtlCol="0" anchor="t"/>
          <a:lstStyle/>
          <a:p>
            <a:pPr indent="0" marL="0">
              <a:buNone/>
            </a:pPr>
            <a:r>
              <a:rPr lang="en-US" sz="1400" b="1" dirty="0">
                <a:solidFill>
                  <a:srgbClr val="B3001B"/>
                </a:solidFill>
                <a:latin typeface="Arial" pitchFamily="34" charset="0"/>
                <a:ea typeface="Arial" pitchFamily="34" charset="-122"/>
                <a:cs typeface="Arial" pitchFamily="34" charset="-120"/>
              </a:rPr>
              <a:t>C0 in the saved Non-IID split</a:t>
            </a:r>
            <a:endParaRPr lang="en-US" sz="1400" dirty="0"/>
          </a:p>
        </p:txBody>
      </p:sp>
      <p:sp>
        <p:nvSpPr>
          <p:cNvPr id="61" name="Text 59"/>
          <p:cNvSpPr txBox="1"/>
          <p:nvPr/>
        </p:nvSpPr>
        <p:spPr>
          <a:xfrm>
            <a:off x="7040880" y="3035808"/>
            <a:ext cx="4389120" cy="411480"/>
          </a:xfrm>
          <a:prstGeom prst="rect">
            <a:avLst/>
          </a:prstGeom>
          <a:noFill/>
          <a:ln/>
        </p:spPr>
        <p:txBody>
          <a:bodyPr wrap="square" lIns="0" tIns="0" rIns="0" bIns="0" rtlCol="0" anchor="t"/>
          <a:lstStyle/>
          <a:p>
            <a:pPr indent="0" marL="0">
              <a:buNone/>
            </a:pPr>
            <a:r>
              <a:rPr lang="en-US" sz="2400" b="1" dirty="0">
                <a:solidFill>
                  <a:srgbClr val="14213D"/>
                </a:solidFill>
                <a:latin typeface="Arial" pitchFamily="34" charset="0"/>
                <a:ea typeface="Arial" pitchFamily="34" charset="-122"/>
                <a:cs typeface="Arial" pitchFamily="34" charset="-120"/>
              </a:rPr>
              <a:t>3,597 samples</a:t>
            </a:r>
            <a:endParaRPr lang="en-US" sz="2400" dirty="0"/>
          </a:p>
        </p:txBody>
      </p:sp>
      <p:sp>
        <p:nvSpPr>
          <p:cNvPr id="62" name="Text 60"/>
          <p:cNvSpPr txBox="1"/>
          <p:nvPr/>
        </p:nvSpPr>
        <p:spPr>
          <a:xfrm>
            <a:off x="7040880" y="3474720"/>
            <a:ext cx="4389120" cy="365760"/>
          </a:xfrm>
          <a:prstGeom prst="rect">
            <a:avLst/>
          </a:prstGeom>
          <a:noFill/>
          <a:ln/>
        </p:spPr>
        <p:txBody>
          <a:bodyPr wrap="square" lIns="0" tIns="0" rIns="0" bIns="0" rtlCol="0" anchor="t"/>
          <a:lstStyle/>
          <a:p>
            <a:pPr indent="0" marL="0">
              <a:buNone/>
            </a:pPr>
            <a:r>
              <a:rPr lang="en-US" sz="1400" dirty="0">
                <a:solidFill>
                  <a:srgbClr val="3A4560"/>
                </a:solidFill>
                <a:latin typeface="Arial" pitchFamily="34" charset="0"/>
                <a:ea typeface="Arial" pitchFamily="34" charset="-122"/>
                <a:cs typeface="Arial" pitchFamily="34" charset="-120"/>
              </a:rPr>
              <a:t>~359 poisoned · 7.194% of the 50,000 training set</a:t>
            </a:r>
            <a:endParaRPr lang="en-US" sz="1400" dirty="0"/>
          </a:p>
        </p:txBody>
      </p:sp>
      <p:sp>
        <p:nvSpPr>
          <p:cNvPr id="63" name="Text 61"/>
          <p:cNvSpPr txBox="1"/>
          <p:nvPr/>
        </p:nvSpPr>
        <p:spPr>
          <a:xfrm>
            <a:off x="548640" y="4526280"/>
            <a:ext cx="5486400" cy="320040"/>
          </a:xfrm>
          <a:prstGeom prst="rect">
            <a:avLst/>
          </a:prstGeom>
          <a:noFill/>
          <a:ln/>
        </p:spPr>
        <p:txBody>
          <a:bodyPr wrap="square" lIns="0" tIns="0" rIns="0" bIns="0" rtlCol="0" anchor="t"/>
          <a:lstStyle/>
          <a:p>
            <a:pPr indent="0" marL="0">
              <a:buNone/>
            </a:pPr>
            <a:r>
              <a:rPr lang="en-US" sz="1800" b="1" dirty="0">
                <a:solidFill>
                  <a:srgbClr val="14213D"/>
                </a:solidFill>
                <a:latin typeface="Arial" pitchFamily="34" charset="0"/>
                <a:ea typeface="Arial" pitchFamily="34" charset="-122"/>
                <a:cs typeface="Arial" pitchFamily="34" charset="-120"/>
              </a:rPr>
              <a:t>Attack timeline (50 rounds)</a:t>
            </a:r>
            <a:endParaRPr lang="en-US" sz="1800" dirty="0"/>
          </a:p>
        </p:txBody>
      </p:sp>
      <p:sp>
        <p:nvSpPr>
          <p:cNvPr id="64" name="Text 62"/>
          <p:cNvSpPr txBox="1"/>
          <p:nvPr/>
        </p:nvSpPr>
        <p:spPr>
          <a:xfrm>
            <a:off x="822960" y="4937760"/>
            <a:ext cx="6114959" cy="502920"/>
          </a:xfrm>
          <a:prstGeom prst="rect">
            <a:avLst/>
          </a:prstGeom>
          <a:solidFill>
            <a:srgbClr val="6B7C93"/>
          </a:solidFill>
          <a:ln/>
        </p:spPr>
        <p:txBody>
          <a:bodyPr wrap="square" lIns="101600" tIns="101600" rIns="101600" bIns="10160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Rounds 1–29 · pre-attack</a:t>
            </a:r>
            <a:endParaRPr lang="en-US" sz="1500" dirty="0"/>
          </a:p>
        </p:txBody>
      </p:sp>
      <p:sp>
        <p:nvSpPr>
          <p:cNvPr id="65" name="Text 63"/>
          <p:cNvSpPr txBox="1"/>
          <p:nvPr/>
        </p:nvSpPr>
        <p:spPr>
          <a:xfrm>
            <a:off x="6937919" y="4937760"/>
            <a:ext cx="4428073" cy="502920"/>
          </a:xfrm>
          <a:prstGeom prst="rect">
            <a:avLst/>
          </a:prstGeom>
          <a:solidFill>
            <a:srgbClr val="D62839"/>
          </a:solidFill>
          <a:ln/>
        </p:spPr>
        <p:txBody>
          <a:bodyPr wrap="square" lIns="101600" tIns="101600" rIns="101600" bIns="10160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Rounds 30–50 · attack active</a:t>
            </a:r>
            <a:endParaRPr lang="en-US" sz="1500" dirty="0"/>
          </a:p>
        </p:txBody>
      </p:sp>
      <p:sp>
        <p:nvSpPr>
          <p:cNvPr id="66" name="Text 64"/>
          <p:cNvSpPr txBox="1"/>
          <p:nvPr/>
        </p:nvSpPr>
        <p:spPr>
          <a:xfrm>
            <a:off x="640080" y="5486400"/>
            <a:ext cx="365760" cy="274320"/>
          </a:xfrm>
          <a:prstGeom prst="rect">
            <a:avLst/>
          </a:prstGeom>
          <a:noFill/>
          <a:ln/>
        </p:spPr>
        <p:txBody>
          <a:bodyPr wrap="square" lIns="0" tIns="0" rIns="0" bIns="0" rtlCol="0" anchor="t"/>
          <a:lstStyle/>
          <a:p>
            <a:pPr algn="ctr" indent="0" marL="0">
              <a:buNone/>
            </a:pPr>
            <a:r>
              <a:rPr lang="en-US" sz="1400" dirty="0">
                <a:solidFill>
                  <a:srgbClr val="3A4560"/>
                </a:solidFill>
                <a:latin typeface="Arial" pitchFamily="34" charset="0"/>
                <a:ea typeface="Arial" pitchFamily="34" charset="-122"/>
                <a:cs typeface="Arial" pitchFamily="34" charset="-120"/>
              </a:rPr>
              <a:t>1</a:t>
            </a:r>
            <a:endParaRPr lang="en-US" sz="1400" dirty="0"/>
          </a:p>
        </p:txBody>
      </p:sp>
      <p:sp>
        <p:nvSpPr>
          <p:cNvPr id="67" name="Text 65"/>
          <p:cNvSpPr txBox="1"/>
          <p:nvPr/>
        </p:nvSpPr>
        <p:spPr>
          <a:xfrm>
            <a:off x="6389279" y="5486400"/>
            <a:ext cx="1097280" cy="274320"/>
          </a:xfrm>
          <a:prstGeom prst="rect">
            <a:avLst/>
          </a:prstGeom>
          <a:noFill/>
          <a:ln/>
        </p:spPr>
        <p:txBody>
          <a:bodyPr wrap="square" lIns="0" tIns="0" rIns="0" bIns="0" rtlCol="0" anchor="t"/>
          <a:lstStyle/>
          <a:p>
            <a:pPr algn="ctr" indent="0" marL="0">
              <a:buNone/>
            </a:pPr>
            <a:r>
              <a:rPr lang="en-US" sz="1400" dirty="0">
                <a:solidFill>
                  <a:srgbClr val="3A4560"/>
                </a:solidFill>
                <a:latin typeface="Arial" pitchFamily="34" charset="0"/>
                <a:ea typeface="Arial" pitchFamily="34" charset="-122"/>
                <a:cs typeface="Arial" pitchFamily="34" charset="-120"/>
              </a:rPr>
              <a:t>29 | 30</a:t>
            </a:r>
            <a:endParaRPr lang="en-US" sz="1400" dirty="0"/>
          </a:p>
        </p:txBody>
      </p:sp>
      <p:sp>
        <p:nvSpPr>
          <p:cNvPr id="68" name="Text 66"/>
          <p:cNvSpPr txBox="1"/>
          <p:nvPr/>
        </p:nvSpPr>
        <p:spPr>
          <a:xfrm>
            <a:off x="11183112" y="5486400"/>
            <a:ext cx="365760" cy="274320"/>
          </a:xfrm>
          <a:prstGeom prst="rect">
            <a:avLst/>
          </a:prstGeom>
          <a:noFill/>
          <a:ln/>
        </p:spPr>
        <p:txBody>
          <a:bodyPr wrap="square" lIns="0" tIns="0" rIns="0" bIns="0" rtlCol="0" anchor="t"/>
          <a:lstStyle/>
          <a:p>
            <a:pPr algn="ctr" indent="0" marL="0">
              <a:buNone/>
            </a:pPr>
            <a:r>
              <a:rPr lang="en-US" sz="1400" dirty="0">
                <a:solidFill>
                  <a:srgbClr val="3A4560"/>
                </a:solidFill>
                <a:latin typeface="Arial" pitchFamily="34" charset="0"/>
                <a:ea typeface="Arial" pitchFamily="34" charset="-122"/>
                <a:cs typeface="Arial" pitchFamily="34" charset="-120"/>
              </a:rPr>
              <a:t>50</a:t>
            </a:r>
            <a:endParaRPr lang="en-US" sz="1400" dirty="0"/>
          </a:p>
        </p:txBody>
      </p:sp>
      <p:sp>
        <p:nvSpPr>
          <p:cNvPr id="69" name="Text 67"/>
          <p:cNvSpPr txBox="1"/>
          <p:nvPr/>
        </p:nvSpPr>
        <p:spPr>
          <a:xfrm>
            <a:off x="548640" y="5897880"/>
            <a:ext cx="11094415" cy="320040"/>
          </a:xfrm>
          <a:prstGeom prst="rect">
            <a:avLst/>
          </a:prstGeom>
          <a:noFill/>
          <a:ln/>
        </p:spPr>
        <p:txBody>
          <a:bodyPr wrap="square" lIns="0" tIns="0" rIns="0" bIns="0" rtlCol="0" anchor="t"/>
          <a:lstStyle/>
          <a:p>
            <a:pPr indent="0" marL="0">
              <a:buNone/>
            </a:pPr>
            <a:r>
              <a:rPr lang="en-US" sz="1200" dirty="0">
                <a:solidFill>
                  <a:srgbClr val="6B7280"/>
                </a:solidFill>
                <a:latin typeface="Arial" pitchFamily="34" charset="0"/>
                <a:ea typeface="Arial" pitchFamily="34" charset="-122"/>
                <a:cs typeface="Arial" pitchFamily="34" charset="-120"/>
              </a:rPr>
              <a:t>This is the training timeline. FedEraser's own reconstruction round 1 (which bypasses calibration) is a separate matter; see Appendix B.</a:t>
            </a:r>
            <a:endParaRPr lang="en-US" sz="120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A8394"/>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1672" cy="731520"/>
          </a:xfrm>
          <a:prstGeom prst="rect">
            <a:avLst/>
          </a:prstGeom>
          <a:noFill/>
          <a:ln/>
        </p:spPr>
        <p:txBody>
          <a:bodyPr wrap="square" lIns="0" tIns="0" rIns="0" bIns="0" rtlCol="0" anchor="ctr"/>
          <a:lstStyle/>
          <a:p>
            <a:pPr algn="l" indent="0" marL="0">
              <a:buNone/>
            </a:pPr>
            <a:r>
              <a:rPr lang="en-US" sz="3000" b="1" dirty="0">
                <a:solidFill>
                  <a:srgbClr val="14213D"/>
                </a:solidFill>
                <a:latin typeface="Arial" pitchFamily="34" charset="0"/>
                <a:ea typeface="Arial" pitchFamily="34" charset="-122"/>
                <a:cs typeface="Arial" pitchFamily="34" charset="-120"/>
              </a:rPr>
              <a:t>How do we measure success?</a:t>
            </a:r>
            <a:endParaRPr lang="en-US" sz="3000" dirty="0"/>
          </a:p>
        </p:txBody>
      </p:sp>
      <p:sp>
        <p:nvSpPr>
          <p:cNvPr id="3" name="Text 1"/>
          <p:cNvSpPr txBox="1"/>
          <p:nvPr/>
        </p:nvSpPr>
        <p:spPr>
          <a:xfrm>
            <a:off x="548640" y="1280160"/>
            <a:ext cx="1920240" cy="685800"/>
          </a:xfrm>
          <a:prstGeom prst="rect">
            <a:avLst/>
          </a:prstGeom>
          <a:noFill/>
          <a:ln/>
        </p:spPr>
        <p:txBody>
          <a:bodyPr wrap="square" lIns="0" tIns="0" rIns="0" bIns="0" rtlCol="0" anchor="t"/>
          <a:lstStyle/>
          <a:p>
            <a:pPr indent="0" marL="0">
              <a:buNone/>
            </a:pPr>
            <a:r>
              <a:rPr lang="en-US" sz="1500" b="1" dirty="0">
                <a:solidFill>
                  <a:srgbClr val="14213D"/>
                </a:solidFill>
                <a:latin typeface="Arial" pitchFamily="34" charset="0"/>
                <a:ea typeface="Arial" pitchFamily="34" charset="-122"/>
                <a:cs typeface="Arial" pitchFamily="34" charset="-120"/>
              </a:rPr>
              <a:t>Clean accuracy</a:t>
            </a:r>
            <a:endParaRPr lang="en-US" sz="1500" dirty="0"/>
          </a:p>
        </p:txBody>
      </p:sp>
      <p:sp>
        <p:nvSpPr>
          <p:cNvPr id="4" name="Text 2"/>
          <p:cNvSpPr txBox="1"/>
          <p:nvPr/>
        </p:nvSpPr>
        <p:spPr>
          <a:xfrm>
            <a:off x="2560320" y="1280160"/>
            <a:ext cx="4114800" cy="731520"/>
          </a:xfrm>
          <a:prstGeom prst="rect">
            <a:avLst/>
          </a:prstGeom>
          <a:noFill/>
          <a:ln/>
        </p:spPr>
        <p:txBody>
          <a:bodyPr wrap="square" lIns="0" tIns="0" rIns="0" bIns="0" rtlCol="0" anchor="t"/>
          <a:lstStyle/>
          <a:p>
            <a:pPr indent="0" marL="0">
              <a:buNone/>
            </a:pPr>
            <a:r>
              <a:rPr lang="en-US" sz="1400" dirty="0">
                <a:solidFill>
                  <a:srgbClr val="3A4560"/>
                </a:solidFill>
                <a:latin typeface="Arial" pitchFamily="34" charset="0"/>
                <a:ea typeface="Arial" pitchFamily="34" charset="-122"/>
                <a:cs typeface="Arial" pitchFamily="34" charset="-120"/>
              </a:rPr>
              <a:t>Accuracy on all 10,000 clean test images.</a:t>
            </a:r>
            <a:endParaRPr lang="en-US" sz="1400" dirty="0"/>
          </a:p>
        </p:txBody>
      </p:sp>
      <p:sp>
        <p:nvSpPr>
          <p:cNvPr id="5" name="Text 3"/>
          <p:cNvSpPr txBox="1"/>
          <p:nvPr/>
        </p:nvSpPr>
        <p:spPr>
          <a:xfrm>
            <a:off x="548640" y="2066544"/>
            <a:ext cx="1920240" cy="685800"/>
          </a:xfrm>
          <a:prstGeom prst="rect">
            <a:avLst/>
          </a:prstGeom>
          <a:noFill/>
          <a:ln/>
        </p:spPr>
        <p:txBody>
          <a:bodyPr wrap="square" lIns="0" tIns="0" rIns="0" bIns="0" rtlCol="0" anchor="t"/>
          <a:lstStyle/>
          <a:p>
            <a:pPr indent="0" marL="0">
              <a:buNone/>
            </a:pPr>
            <a:r>
              <a:rPr lang="en-US" sz="1500" b="1" dirty="0">
                <a:solidFill>
                  <a:srgbClr val="B3001B"/>
                </a:solidFill>
                <a:latin typeface="Arial" pitchFamily="34" charset="0"/>
                <a:ea typeface="Arial" pitchFamily="34" charset="-122"/>
                <a:cs typeface="Arial" pitchFamily="34" charset="-120"/>
              </a:rPr>
              <a:t>ASR / TTR</a:t>
            </a:r>
            <a:endParaRPr lang="en-US" sz="1500" dirty="0"/>
          </a:p>
        </p:txBody>
      </p:sp>
      <p:sp>
        <p:nvSpPr>
          <p:cNvPr id="6" name="Text 4"/>
          <p:cNvSpPr txBox="1"/>
          <p:nvPr/>
        </p:nvSpPr>
        <p:spPr>
          <a:xfrm>
            <a:off x="2560320" y="2066544"/>
            <a:ext cx="4114800" cy="731520"/>
          </a:xfrm>
          <a:prstGeom prst="rect">
            <a:avLst/>
          </a:prstGeom>
          <a:noFill/>
          <a:ln/>
        </p:spPr>
        <p:txBody>
          <a:bodyPr wrap="square" lIns="0" tIns="0" rIns="0" bIns="0" rtlCol="0" anchor="t"/>
          <a:lstStyle/>
          <a:p>
            <a:pPr indent="0" marL="0">
              <a:buNone/>
            </a:pPr>
            <a:r>
              <a:rPr lang="en-US" sz="1400" dirty="0">
                <a:solidFill>
                  <a:srgbClr val="3A4560"/>
                </a:solidFill>
                <a:latin typeface="Arial" pitchFamily="34" charset="0"/>
                <a:ea typeface="Arial" pitchFamily="34" charset="-122"/>
                <a:cs typeface="Arial" pitchFamily="34" charset="-120"/>
              </a:rPr>
              <a:t>Share of triggered non-Airplane images classified Airplane. Denominator 9,000.</a:t>
            </a:r>
            <a:endParaRPr lang="en-US" sz="1400" dirty="0"/>
          </a:p>
        </p:txBody>
      </p:sp>
      <p:sp>
        <p:nvSpPr>
          <p:cNvPr id="7" name="Text 5"/>
          <p:cNvSpPr txBox="1"/>
          <p:nvPr/>
        </p:nvSpPr>
        <p:spPr>
          <a:xfrm>
            <a:off x="548640" y="2852928"/>
            <a:ext cx="1920240" cy="685800"/>
          </a:xfrm>
          <a:prstGeom prst="rect">
            <a:avLst/>
          </a:prstGeom>
          <a:noFill/>
          <a:ln/>
        </p:spPr>
        <p:txBody>
          <a:bodyPr wrap="square" lIns="0" tIns="0" rIns="0" bIns="0" rtlCol="0" anchor="t"/>
          <a:lstStyle/>
          <a:p>
            <a:pPr indent="0" marL="0">
              <a:buNone/>
            </a:pPr>
            <a:r>
              <a:rPr lang="en-US" sz="1500" b="1" dirty="0">
                <a:solidFill>
                  <a:srgbClr val="B3001B"/>
                </a:solidFill>
                <a:latin typeface="Arial" pitchFamily="34" charset="0"/>
                <a:ea typeface="Arial" pitchFamily="34" charset="-122"/>
                <a:cs typeface="Arial" pitchFamily="34" charset="-120"/>
              </a:rPr>
              <a:t>UTR</a:t>
            </a:r>
            <a:endParaRPr lang="en-US" sz="1500" dirty="0"/>
          </a:p>
        </p:txBody>
      </p:sp>
      <p:sp>
        <p:nvSpPr>
          <p:cNvPr id="8" name="Text 6"/>
          <p:cNvSpPr txBox="1"/>
          <p:nvPr/>
        </p:nvSpPr>
        <p:spPr>
          <a:xfrm>
            <a:off x="2560320" y="2852928"/>
            <a:ext cx="4114800" cy="731520"/>
          </a:xfrm>
          <a:prstGeom prst="rect">
            <a:avLst/>
          </a:prstGeom>
          <a:noFill/>
          <a:ln/>
        </p:spPr>
        <p:txBody>
          <a:bodyPr wrap="square" lIns="0" tIns="0" rIns="0" bIns="0" rtlCol="0" anchor="t"/>
          <a:lstStyle/>
          <a:p>
            <a:pPr indent="0" marL="0">
              <a:buNone/>
            </a:pPr>
            <a:r>
              <a:rPr lang="en-US" sz="1400" dirty="0">
                <a:solidFill>
                  <a:srgbClr val="3A4560"/>
                </a:solidFill>
                <a:latin typeface="Arial" pitchFamily="34" charset="0"/>
                <a:ea typeface="Arial" pitchFamily="34" charset="-122"/>
                <a:cs typeface="Arial" pitchFamily="34" charset="-120"/>
              </a:rPr>
              <a:t>Share of untriggered non-Airplane images predicted Airplane. Denominator 9,000.</a:t>
            </a:r>
            <a:endParaRPr lang="en-US" sz="1400" dirty="0"/>
          </a:p>
        </p:txBody>
      </p:sp>
      <p:sp>
        <p:nvSpPr>
          <p:cNvPr id="9" name="Text 7"/>
          <p:cNvSpPr txBox="1"/>
          <p:nvPr/>
        </p:nvSpPr>
        <p:spPr>
          <a:xfrm>
            <a:off x="548640" y="3639312"/>
            <a:ext cx="1920240" cy="685800"/>
          </a:xfrm>
          <a:prstGeom prst="rect">
            <a:avLst/>
          </a:prstGeom>
          <a:noFill/>
          <a:ln/>
        </p:spPr>
        <p:txBody>
          <a:bodyPr wrap="square" lIns="0" tIns="0" rIns="0" bIns="0" rtlCol="0" anchor="t"/>
          <a:lstStyle/>
          <a:p>
            <a:pPr indent="0" marL="0">
              <a:buNone/>
            </a:pPr>
            <a:r>
              <a:rPr lang="en-US" sz="1500" b="1" dirty="0">
                <a:solidFill>
                  <a:srgbClr val="14213D"/>
                </a:solidFill>
                <a:latin typeface="Arial" pitchFamily="34" charset="0"/>
                <a:ea typeface="Arial" pitchFamily="34" charset="-122"/>
                <a:cs typeface="Arial" pitchFamily="34" charset="-120"/>
              </a:rPr>
              <a:t>Airplane recall</a:t>
            </a:r>
            <a:endParaRPr lang="en-US" sz="1500" dirty="0"/>
          </a:p>
        </p:txBody>
      </p:sp>
      <p:sp>
        <p:nvSpPr>
          <p:cNvPr id="10" name="Text 8"/>
          <p:cNvSpPr txBox="1"/>
          <p:nvPr/>
        </p:nvSpPr>
        <p:spPr>
          <a:xfrm>
            <a:off x="2560320" y="3639312"/>
            <a:ext cx="4114800" cy="731520"/>
          </a:xfrm>
          <a:prstGeom prst="rect">
            <a:avLst/>
          </a:prstGeom>
          <a:noFill/>
          <a:ln/>
        </p:spPr>
        <p:txBody>
          <a:bodyPr wrap="square" lIns="0" tIns="0" rIns="0" bIns="0" rtlCol="0" anchor="t"/>
          <a:lstStyle/>
          <a:p>
            <a:pPr indent="0" marL="0">
              <a:buNone/>
            </a:pPr>
            <a:r>
              <a:rPr lang="en-US" sz="1400" dirty="0">
                <a:solidFill>
                  <a:srgbClr val="3A4560"/>
                </a:solidFill>
                <a:latin typeface="Arial" pitchFamily="34" charset="0"/>
                <a:ea typeface="Arial" pitchFamily="34" charset="-122"/>
                <a:cs typeface="Arial" pitchFamily="34" charset="-120"/>
              </a:rPr>
              <a:t>Recall on the 1,000 true Airplane test images (class 0).</a:t>
            </a:r>
            <a:endParaRPr lang="en-US" sz="1400" dirty="0"/>
          </a:p>
        </p:txBody>
      </p:sp>
      <p:sp>
        <p:nvSpPr>
          <p:cNvPr id="11" name="Text 9"/>
          <p:cNvSpPr txBox="1"/>
          <p:nvPr/>
        </p:nvSpPr>
        <p:spPr>
          <a:xfrm>
            <a:off x="548640" y="4425696"/>
            <a:ext cx="1920240" cy="685800"/>
          </a:xfrm>
          <a:prstGeom prst="rect">
            <a:avLst/>
          </a:prstGeom>
          <a:noFill/>
          <a:ln/>
        </p:spPr>
        <p:txBody>
          <a:bodyPr wrap="square" lIns="0" tIns="0" rIns="0" bIns="0" rtlCol="0" anchor="t"/>
          <a:lstStyle/>
          <a:p>
            <a:pPr indent="0" marL="0">
              <a:buNone/>
            </a:pPr>
            <a:r>
              <a:rPr lang="en-US" sz="1500" b="1" dirty="0">
                <a:solidFill>
                  <a:srgbClr val="14213D"/>
                </a:solidFill>
                <a:latin typeface="Arial" pitchFamily="34" charset="0"/>
                <a:ea typeface="Arial" pitchFamily="34" charset="-122"/>
                <a:cs typeface="Arial" pitchFamily="34" charset="-120"/>
              </a:rPr>
              <a:t>Macro-F1</a:t>
            </a:r>
            <a:endParaRPr lang="en-US" sz="1500" dirty="0"/>
          </a:p>
        </p:txBody>
      </p:sp>
      <p:sp>
        <p:nvSpPr>
          <p:cNvPr id="12" name="Text 10"/>
          <p:cNvSpPr txBox="1"/>
          <p:nvPr/>
        </p:nvSpPr>
        <p:spPr>
          <a:xfrm>
            <a:off x="2560320" y="4425696"/>
            <a:ext cx="4114800" cy="731520"/>
          </a:xfrm>
          <a:prstGeom prst="rect">
            <a:avLst/>
          </a:prstGeom>
          <a:noFill/>
          <a:ln/>
        </p:spPr>
        <p:txBody>
          <a:bodyPr wrap="square" lIns="0" tIns="0" rIns="0" bIns="0" rtlCol="0" anchor="t"/>
          <a:lstStyle/>
          <a:p>
            <a:pPr indent="0" marL="0">
              <a:buNone/>
            </a:pPr>
            <a:r>
              <a:rPr lang="en-US" sz="1400" dirty="0">
                <a:solidFill>
                  <a:srgbClr val="3A4560"/>
                </a:solidFill>
                <a:latin typeface="Arial" pitchFamily="34" charset="0"/>
                <a:ea typeface="Arial" pitchFamily="34" charset="-122"/>
                <a:cs typeface="Arial" pitchFamily="34" charset="-120"/>
              </a:rPr>
              <a:t>Macro-average F1 across all 10 classes.</a:t>
            </a:r>
            <a:endParaRPr lang="en-US" sz="1400" dirty="0"/>
          </a:p>
        </p:txBody>
      </p:sp>
      <p:sp>
        <p:nvSpPr>
          <p:cNvPr id="13" name="Text 11"/>
          <p:cNvSpPr txBox="1"/>
          <p:nvPr/>
        </p:nvSpPr>
        <p:spPr>
          <a:xfrm>
            <a:off x="548640" y="5212080"/>
            <a:ext cx="1920240" cy="685800"/>
          </a:xfrm>
          <a:prstGeom prst="rect">
            <a:avLst/>
          </a:prstGeom>
          <a:noFill/>
          <a:ln/>
        </p:spPr>
        <p:txBody>
          <a:bodyPr wrap="square" lIns="0" tIns="0" rIns="0" bIns="0" rtlCol="0" anchor="t"/>
          <a:lstStyle/>
          <a:p>
            <a:pPr indent="0" marL="0">
              <a:buNone/>
            </a:pPr>
            <a:r>
              <a:rPr lang="en-US" sz="1500" b="1" dirty="0">
                <a:solidFill>
                  <a:srgbClr val="14213D"/>
                </a:solidFill>
                <a:latin typeface="Arial" pitchFamily="34" charset="0"/>
                <a:ea typeface="Arial" pitchFamily="34" charset="-122"/>
                <a:cs typeface="Arial" pitchFamily="34" charset="-120"/>
              </a:rPr>
              <a:t>Counterfactual agreement</a:t>
            </a:r>
            <a:endParaRPr lang="en-US" sz="1500" dirty="0"/>
          </a:p>
        </p:txBody>
      </p:sp>
      <p:sp>
        <p:nvSpPr>
          <p:cNvPr id="14" name="Text 12"/>
          <p:cNvSpPr txBox="1"/>
          <p:nvPr/>
        </p:nvSpPr>
        <p:spPr>
          <a:xfrm>
            <a:off x="2560320" y="5212080"/>
            <a:ext cx="4114800" cy="731520"/>
          </a:xfrm>
          <a:prstGeom prst="rect">
            <a:avLst/>
          </a:prstGeom>
          <a:noFill/>
          <a:ln/>
        </p:spPr>
        <p:txBody>
          <a:bodyPr wrap="square" lIns="0" tIns="0" rIns="0" bIns="0" rtlCol="0" anchor="t"/>
          <a:lstStyle/>
          <a:p>
            <a:pPr indent="0" marL="0">
              <a:buNone/>
            </a:pPr>
            <a:r>
              <a:rPr lang="en-US" sz="1400" dirty="0">
                <a:solidFill>
                  <a:srgbClr val="3A4560"/>
                </a:solidFill>
                <a:latin typeface="Arial" pitchFamily="34" charset="0"/>
                <a:ea typeface="Arial" pitchFamily="34" charset="-122"/>
                <a:cs typeface="Arial" pitchFamily="34" charset="-120"/>
              </a:rPr>
              <a:t>Share of examples where the model's argmax prediction matches M_CF. Prediction similarity, not accuracy.</a:t>
            </a:r>
            <a:endParaRPr lang="en-US" sz="1400" dirty="0"/>
          </a:p>
        </p:txBody>
      </p:sp>
      <p:sp>
        <p:nvSpPr>
          <p:cNvPr id="15" name="Shape 13"/>
          <p:cNvSpPr txBox="1"/>
          <p:nvPr/>
        </p:nvSpPr>
        <p:spPr>
          <a:xfrm>
            <a:off x="7086600" y="1280160"/>
            <a:ext cx="4553712" cy="1600200"/>
          </a:xfrm>
          <a:prstGeom prst="roundRect">
            <a:avLst>
              <a:gd name="adj" fmla="val 4571"/>
            </a:avLst>
          </a:prstGeom>
          <a:solidFill>
            <a:srgbClr val="F4F6F9"/>
          </a:solidFill>
          <a:ln w="19050">
            <a:solidFill>
              <a:srgbClr val="6B7C93"/>
            </a:solidFill>
            <a:prstDash val="solid"/>
          </a:ln>
        </p:spPr>
      </p:sp>
      <p:sp>
        <p:nvSpPr>
          <p:cNvPr id="16" name="Text 14"/>
          <p:cNvSpPr txBox="1"/>
          <p:nvPr/>
        </p:nvSpPr>
        <p:spPr>
          <a:xfrm>
            <a:off x="7223760" y="1344168"/>
            <a:ext cx="4279392" cy="274320"/>
          </a:xfrm>
          <a:prstGeom prst="rect">
            <a:avLst/>
          </a:prstGeom>
          <a:noFill/>
          <a:ln/>
        </p:spPr>
        <p:txBody>
          <a:bodyPr wrap="square" lIns="0" tIns="0" rIns="0" bIns="0" rtlCol="0" anchor="t"/>
          <a:lstStyle/>
          <a:p>
            <a:pPr indent="0" marL="0">
              <a:buNone/>
            </a:pPr>
            <a:r>
              <a:rPr lang="en-US" sz="1400" b="1" dirty="0">
                <a:solidFill>
                  <a:srgbClr val="14213D"/>
                </a:solidFill>
                <a:latin typeface="Arial" pitchFamily="34" charset="0"/>
                <a:ea typeface="Arial" pitchFamily="34" charset="-122"/>
                <a:cs typeface="Arial" pitchFamily="34" charset="-120"/>
              </a:rPr>
              <a:t>Clean test set · 10,000 images</a:t>
            </a:r>
            <a:endParaRPr lang="en-US" sz="1400" dirty="0"/>
          </a:p>
        </p:txBody>
      </p:sp>
      <p:sp>
        <p:nvSpPr>
          <p:cNvPr id="17" name="Text 15"/>
          <p:cNvSpPr txBox="1"/>
          <p:nvPr/>
        </p:nvSpPr>
        <p:spPr>
          <a:xfrm>
            <a:off x="7223760" y="1737360"/>
            <a:ext cx="1234440" cy="1005840"/>
          </a:xfrm>
          <a:prstGeom prst="roundRect">
            <a:avLst>
              <a:gd name="adj" fmla="val 7273"/>
            </a:avLst>
          </a:prstGeom>
          <a:solidFill>
            <a:srgbClr val="E8ECF1"/>
          </a:solidFill>
          <a:ln w="15875">
            <a:solidFill>
              <a:srgbClr val="6B7C93"/>
            </a:solidFill>
            <a:prstDash val="solid"/>
          </a:ln>
        </p:spPr>
        <p:txBody>
          <a:bodyPr wrap="square" lIns="38100" tIns="38100" rIns="38100" bIns="38100" rtlCol="0" anchor="ctr"/>
          <a:lstStyle/>
          <a:p>
            <a:pPr algn="ctr" indent="0" marL="0">
              <a:buNone/>
            </a:pPr>
            <a:r>
              <a:rPr lang="en-US" sz="1600" b="1" dirty="0">
                <a:solidFill>
                  <a:srgbClr val="14213D"/>
                </a:solidFill>
                <a:latin typeface="Arial" pitchFamily="34" charset="0"/>
                <a:ea typeface="Arial" pitchFamily="34" charset="-122"/>
                <a:cs typeface="Arial" pitchFamily="34" charset="-120"/>
              </a:rPr>
              <a:t>1,000</a:t>
            </a:r>
            <a:endParaRPr lang="en-US" sz="1600" dirty="0"/>
          </a:p>
          <a:p>
            <a:pPr algn="ctr" indent="0" marL="0">
              <a:buNone/>
            </a:pPr>
            <a:r>
              <a:rPr lang="en-US" sz="1200" dirty="0">
                <a:solidFill>
                  <a:srgbClr val="14213D"/>
                </a:solidFill>
                <a:latin typeface="Arial" pitchFamily="34" charset="0"/>
                <a:ea typeface="Arial" pitchFamily="34" charset="-122"/>
                <a:cs typeface="Arial" pitchFamily="34" charset="-120"/>
              </a:rPr>
              <a:t>true Airplane</a:t>
            </a:r>
            <a:endParaRPr lang="en-US" sz="1600" dirty="0"/>
          </a:p>
        </p:txBody>
      </p:sp>
      <p:sp>
        <p:nvSpPr>
          <p:cNvPr id="18" name="Text 16"/>
          <p:cNvSpPr txBox="1"/>
          <p:nvPr/>
        </p:nvSpPr>
        <p:spPr>
          <a:xfrm>
            <a:off x="8595360" y="1737360"/>
            <a:ext cx="2907792" cy="1005840"/>
          </a:xfrm>
          <a:prstGeom prst="roundRect">
            <a:avLst>
              <a:gd name="adj" fmla="val 7273"/>
            </a:avLst>
          </a:prstGeom>
          <a:solidFill>
            <a:srgbClr val="FFFFFF"/>
          </a:solidFill>
          <a:ln w="15875">
            <a:solidFill>
              <a:srgbClr val="6B7C93"/>
            </a:solidFill>
            <a:prstDash val="solid"/>
          </a:ln>
        </p:spPr>
        <p:txBody>
          <a:bodyPr wrap="square" lIns="38100" tIns="38100" rIns="38100" bIns="38100" rtlCol="0" anchor="ctr"/>
          <a:lstStyle/>
          <a:p>
            <a:pPr algn="ctr" indent="0" marL="0">
              <a:buNone/>
            </a:pPr>
            <a:r>
              <a:rPr lang="en-US" sz="1600" b="1" dirty="0">
                <a:solidFill>
                  <a:srgbClr val="14213D"/>
                </a:solidFill>
                <a:latin typeface="Arial" pitchFamily="34" charset="0"/>
                <a:ea typeface="Arial" pitchFamily="34" charset="-122"/>
                <a:cs typeface="Arial" pitchFamily="34" charset="-120"/>
              </a:rPr>
              <a:t>9,000</a:t>
            </a:r>
            <a:endParaRPr lang="en-US" sz="1600" dirty="0"/>
          </a:p>
          <a:p>
            <a:pPr algn="ctr" indent="0" marL="0">
              <a:buNone/>
            </a:pPr>
            <a:r>
              <a:rPr lang="en-US" sz="1200" dirty="0">
                <a:solidFill>
                  <a:srgbClr val="14213D"/>
                </a:solidFill>
                <a:latin typeface="Arial" pitchFamily="34" charset="0"/>
                <a:ea typeface="Arial" pitchFamily="34" charset="-122"/>
                <a:cs typeface="Arial" pitchFamily="34" charset="-120"/>
              </a:rPr>
              <a:t>non-Airplane images</a:t>
            </a:r>
            <a:endParaRPr lang="en-US" sz="1600" dirty="0"/>
          </a:p>
        </p:txBody>
      </p:sp>
      <p:sp>
        <p:nvSpPr>
          <p:cNvPr id="19" name="Shape 17"/>
          <p:cNvSpPr/>
          <p:nvPr/>
        </p:nvSpPr>
        <p:spPr>
          <a:xfrm>
            <a:off x="10049256" y="2743200"/>
            <a:ext cx="0" cy="274320"/>
          </a:xfrm>
          <a:prstGeom prst="line">
            <a:avLst/>
          </a:prstGeom>
          <a:noFill/>
          <a:ln w="22225">
            <a:solidFill>
              <a:srgbClr val="6B7C93"/>
            </a:solidFill>
            <a:prstDash val="solid"/>
          </a:ln>
        </p:spPr>
      </p:sp>
      <p:sp>
        <p:nvSpPr>
          <p:cNvPr id="20" name="Shape 18"/>
          <p:cNvSpPr/>
          <p:nvPr/>
        </p:nvSpPr>
        <p:spPr>
          <a:xfrm flipH="1">
            <a:off x="8275320" y="3017520"/>
            <a:ext cx="1773936" cy="0"/>
          </a:xfrm>
          <a:prstGeom prst="line">
            <a:avLst/>
          </a:prstGeom>
          <a:noFill/>
          <a:ln w="22225">
            <a:solidFill>
              <a:srgbClr val="6B7C93"/>
            </a:solidFill>
            <a:prstDash val="solid"/>
          </a:ln>
        </p:spPr>
      </p:sp>
      <p:sp>
        <p:nvSpPr>
          <p:cNvPr id="21" name="Shape 19"/>
          <p:cNvSpPr/>
          <p:nvPr/>
        </p:nvSpPr>
        <p:spPr>
          <a:xfrm>
            <a:off x="8275320" y="3017520"/>
            <a:ext cx="0" cy="274320"/>
          </a:xfrm>
          <a:prstGeom prst="line">
            <a:avLst/>
          </a:prstGeom>
          <a:noFill/>
          <a:ln w="22225">
            <a:solidFill>
              <a:srgbClr val="6B7C93"/>
            </a:solidFill>
            <a:prstDash val="solid"/>
            <a:tailEnd type="triangle"/>
          </a:ln>
        </p:spPr>
      </p:sp>
      <p:sp>
        <p:nvSpPr>
          <p:cNvPr id="22" name="Shape 20"/>
          <p:cNvSpPr/>
          <p:nvPr/>
        </p:nvSpPr>
        <p:spPr>
          <a:xfrm>
            <a:off x="10049256" y="3017520"/>
            <a:ext cx="420624" cy="0"/>
          </a:xfrm>
          <a:prstGeom prst="line">
            <a:avLst/>
          </a:prstGeom>
          <a:noFill/>
          <a:ln w="22225">
            <a:solidFill>
              <a:srgbClr val="D62839"/>
            </a:solidFill>
            <a:prstDash val="solid"/>
          </a:ln>
        </p:spPr>
      </p:sp>
      <p:sp>
        <p:nvSpPr>
          <p:cNvPr id="23" name="Shape 21"/>
          <p:cNvSpPr/>
          <p:nvPr/>
        </p:nvSpPr>
        <p:spPr>
          <a:xfrm>
            <a:off x="10469880" y="3017520"/>
            <a:ext cx="0" cy="274320"/>
          </a:xfrm>
          <a:prstGeom prst="line">
            <a:avLst/>
          </a:prstGeom>
          <a:noFill/>
          <a:ln w="22225">
            <a:solidFill>
              <a:srgbClr val="D62839"/>
            </a:solidFill>
            <a:prstDash val="solid"/>
            <a:tailEnd type="triangle"/>
          </a:ln>
        </p:spPr>
      </p:sp>
      <p:sp>
        <p:nvSpPr>
          <p:cNvPr id="24" name="Text 22"/>
          <p:cNvSpPr txBox="1"/>
          <p:nvPr/>
        </p:nvSpPr>
        <p:spPr>
          <a:xfrm>
            <a:off x="7086600" y="3337560"/>
            <a:ext cx="2148840" cy="914400"/>
          </a:xfrm>
          <a:prstGeom prst="roundRect">
            <a:avLst>
              <a:gd name="adj" fmla="val 8000"/>
            </a:avLst>
          </a:prstGeom>
          <a:solidFill>
            <a:srgbClr val="FFFFFF"/>
          </a:solidFill>
          <a:ln w="15875">
            <a:solidFill>
              <a:srgbClr val="6B7C93"/>
            </a:solidFill>
            <a:prstDash val="solid"/>
          </a:ln>
        </p:spPr>
        <p:txBody>
          <a:bodyPr wrap="square" lIns="38100" tIns="38100" rIns="38100" bIns="38100" rtlCol="0" anchor="ctr"/>
          <a:lstStyle/>
          <a:p>
            <a:pPr algn="ctr" indent="0" marL="0">
              <a:buNone/>
            </a:pPr>
            <a:r>
              <a:rPr lang="en-US" sz="1300" b="1" dirty="0">
                <a:solidFill>
                  <a:srgbClr val="14213D"/>
                </a:solidFill>
                <a:latin typeface="Arial" pitchFamily="34" charset="0"/>
                <a:ea typeface="Arial" pitchFamily="34" charset="-122"/>
                <a:cs typeface="Arial" pitchFamily="34" charset="-120"/>
              </a:rPr>
              <a:t>Untriggered view</a:t>
            </a:r>
            <a:endParaRPr lang="en-US" sz="1600" dirty="0"/>
          </a:p>
          <a:p>
            <a:pPr algn="ctr" indent="0" marL="0">
              <a:buNone/>
            </a:pPr>
            <a:r>
              <a:rPr lang="en-US" sz="1300" dirty="0">
                <a:solidFill>
                  <a:srgbClr val="14213D"/>
                </a:solidFill>
                <a:latin typeface="Arial" pitchFamily="34" charset="0"/>
                <a:ea typeface="Arial" pitchFamily="34" charset="-122"/>
                <a:cs typeface="Arial" pitchFamily="34" charset="-120"/>
              </a:rPr>
              <a:t>9,000 images</a:t>
            </a:r>
            <a:endParaRPr lang="en-US" sz="1600" dirty="0"/>
          </a:p>
          <a:p>
            <a:pPr algn="ctr" indent="0" marL="0">
              <a:buNone/>
            </a:pPr>
            <a:r>
              <a:rPr lang="en-US" sz="1200" dirty="0">
                <a:solidFill>
                  <a:srgbClr val="6B7280"/>
                </a:solidFill>
                <a:latin typeface="Arial" pitchFamily="34" charset="0"/>
                <a:ea typeface="Arial" pitchFamily="34" charset="-122"/>
                <a:cs typeface="Arial" pitchFamily="34" charset="-120"/>
              </a:rPr>
              <a:t>UTR denominator</a:t>
            </a:r>
            <a:endParaRPr lang="en-US" sz="1600" dirty="0"/>
          </a:p>
        </p:txBody>
      </p:sp>
      <p:sp>
        <p:nvSpPr>
          <p:cNvPr id="25" name="Text 23"/>
          <p:cNvSpPr txBox="1"/>
          <p:nvPr/>
        </p:nvSpPr>
        <p:spPr>
          <a:xfrm>
            <a:off x="9418320" y="3337560"/>
            <a:ext cx="2221992" cy="914400"/>
          </a:xfrm>
          <a:prstGeom prst="roundRect">
            <a:avLst>
              <a:gd name="adj" fmla="val 8000"/>
            </a:avLst>
          </a:prstGeom>
          <a:solidFill>
            <a:srgbClr val="FCE9EB"/>
          </a:solidFill>
          <a:ln w="15875">
            <a:solidFill>
              <a:srgbClr val="D62839"/>
            </a:solidFill>
            <a:prstDash val="solid"/>
          </a:ln>
        </p:spPr>
        <p:txBody>
          <a:bodyPr wrap="square" lIns="38100" tIns="38100" rIns="38100" bIns="38100" rtlCol="0" anchor="ctr"/>
          <a:lstStyle/>
          <a:p>
            <a:pPr algn="ctr" indent="0" marL="0">
              <a:buNone/>
            </a:pPr>
            <a:r>
              <a:rPr lang="en-US" sz="1300" b="1" dirty="0">
                <a:solidFill>
                  <a:srgbClr val="B3001B"/>
                </a:solidFill>
                <a:latin typeface="Arial" pitchFamily="34" charset="0"/>
                <a:ea typeface="Arial" pitchFamily="34" charset="-122"/>
                <a:cs typeface="Arial" pitchFamily="34" charset="-120"/>
              </a:rPr>
              <a:t>Triggered view</a:t>
            </a:r>
            <a:endParaRPr lang="en-US" sz="1600" dirty="0"/>
          </a:p>
          <a:p>
            <a:pPr algn="ctr" indent="0" marL="0">
              <a:buNone/>
            </a:pPr>
            <a:r>
              <a:rPr lang="en-US" sz="1300" dirty="0">
                <a:solidFill>
                  <a:srgbClr val="14213D"/>
                </a:solidFill>
                <a:latin typeface="Arial" pitchFamily="34" charset="0"/>
                <a:ea typeface="Arial" pitchFamily="34" charset="-122"/>
                <a:cs typeface="Arial" pitchFamily="34" charset="-120"/>
              </a:rPr>
              <a:t>same 9,000 + patch</a:t>
            </a:r>
            <a:endParaRPr lang="en-US" sz="1600" dirty="0"/>
          </a:p>
          <a:p>
            <a:pPr algn="ctr" indent="0" marL="0">
              <a:buNone/>
            </a:pPr>
            <a:r>
              <a:rPr lang="en-US" sz="1200" dirty="0">
                <a:solidFill>
                  <a:srgbClr val="6B7280"/>
                </a:solidFill>
                <a:latin typeface="Arial" pitchFamily="34" charset="0"/>
                <a:ea typeface="Arial" pitchFamily="34" charset="-122"/>
                <a:cs typeface="Arial" pitchFamily="34" charset="-120"/>
              </a:rPr>
              <a:t>ASR/TTR denominator</a:t>
            </a:r>
            <a:endParaRPr lang="en-US" sz="1600" dirty="0"/>
          </a:p>
        </p:txBody>
      </p:sp>
      <p:sp>
        <p:nvSpPr>
          <p:cNvPr id="26" name="Text 24"/>
          <p:cNvSpPr txBox="1"/>
          <p:nvPr/>
        </p:nvSpPr>
        <p:spPr>
          <a:xfrm>
            <a:off x="7086600" y="4370832"/>
            <a:ext cx="4553712" cy="502920"/>
          </a:xfrm>
          <a:prstGeom prst="rect">
            <a:avLst/>
          </a:prstGeom>
          <a:noFill/>
          <a:ln/>
        </p:spPr>
        <p:txBody>
          <a:bodyPr wrap="square" lIns="0" tIns="0" rIns="0" bIns="0" rtlCol="0" anchor="t"/>
          <a:lstStyle/>
          <a:p>
            <a:pPr indent="0" marL="0">
              <a:buNone/>
            </a:pPr>
            <a:r>
              <a:rPr lang="en-US" sz="1200" dirty="0">
                <a:solidFill>
                  <a:srgbClr val="6B7280"/>
                </a:solidFill>
                <a:latin typeface="Arial" pitchFamily="34" charset="0"/>
                <a:ea typeface="Arial" pitchFamily="34" charset="-122"/>
                <a:cs typeface="Arial" pitchFamily="34" charset="-120"/>
              </a:rPr>
              <a:t>Airplane recall uses the 1,000-image box. Clean accuracy uses all 10,000.</a:t>
            </a:r>
            <a:endParaRPr lang="en-US" sz="1200" dirty="0"/>
          </a:p>
        </p:txBody>
      </p:sp>
      <p:sp>
        <p:nvSpPr>
          <p:cNvPr id="27" name="Text 25"/>
          <p:cNvSpPr txBox="1"/>
          <p:nvPr/>
        </p:nvSpPr>
        <p:spPr>
          <a:xfrm>
            <a:off x="7086600" y="4983480"/>
            <a:ext cx="4553712" cy="1051560"/>
          </a:xfrm>
          <a:prstGeom prst="roundRect">
            <a:avLst>
              <a:gd name="adj" fmla="val 6957"/>
            </a:avLst>
          </a:prstGeom>
          <a:solidFill>
            <a:srgbClr val="FDF1DF"/>
          </a:solidFill>
          <a:ln w="15875">
            <a:solidFill>
              <a:srgbClr val="E8890C"/>
            </a:solidFill>
            <a:prstDash val="dash"/>
          </a:ln>
        </p:spPr>
        <p:txBody>
          <a:bodyPr wrap="square" lIns="127000" tIns="127000" rIns="127000" bIns="127000" rtlCol="0" anchor="ctr"/>
          <a:lstStyle/>
          <a:p>
            <a:pPr algn="l" indent="0" marL="0">
              <a:buNone/>
            </a:pPr>
            <a:r>
              <a:rPr lang="en-US" sz="1400" dirty="0">
                <a:solidFill>
                  <a:srgbClr val="3A4560"/>
                </a:solidFill>
                <a:latin typeface="Arial" pitchFamily="34" charset="0"/>
                <a:ea typeface="Arial" pitchFamily="34" charset="-122"/>
                <a:cs typeface="Arial" pitchFamily="34" charset="-120"/>
              </a:rPr>
              <a:t>Related populations, not four disjoint sets: the two 9,000-image sets are two versions of the same non-Airplane examples.</a:t>
            </a:r>
            <a:endParaRPr lang="en-US" sz="1400" dirty="0"/>
          </a:p>
        </p:txBody>
      </p:sp>
      <p:sp>
        <p:nvSpPr>
          <p:cNvPr id="28" name="Text 26"/>
          <p:cNvSpPr txBox="1"/>
          <p:nvPr/>
        </p:nvSpPr>
        <p:spPr>
          <a:xfrm>
            <a:off x="548640" y="6126480"/>
            <a:ext cx="11094415" cy="347472"/>
          </a:xfrm>
          <a:prstGeom prst="rect">
            <a:avLst/>
          </a:prstGeom>
          <a:noFill/>
          <a:ln/>
        </p:spPr>
        <p:txBody>
          <a:bodyPr wrap="square" lIns="0" tIns="0" rIns="0" bIns="0" rtlCol="0" anchor="t"/>
          <a:lstStyle/>
          <a:p>
            <a:pPr indent="0" marL="0">
              <a:buNone/>
            </a:pPr>
            <a:r>
              <a:rPr lang="en-US" sz="1150" dirty="0">
                <a:solidFill>
                  <a:srgbClr val="6B7280"/>
                </a:solidFill>
                <a:latin typeface="Arial" pitchFamily="34" charset="0"/>
                <a:ea typeface="Arial" pitchFamily="34" charset="-122"/>
                <a:cs typeface="Arial" pitchFamily="34" charset="-120"/>
              </a:rPr>
              <a:t>Counterfactual agreement is not evidence that every training influence was erased.</a:t>
            </a:r>
            <a:endParaRPr lang="en-US" sz="115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A8394"/>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1672" cy="731520"/>
          </a:xfrm>
          <a:prstGeom prst="rect">
            <a:avLst/>
          </a:prstGeom>
          <a:noFill/>
          <a:ln/>
        </p:spPr>
        <p:txBody>
          <a:bodyPr wrap="square" lIns="0" tIns="0" rIns="0" bIns="0" rtlCol="0" anchor="ctr"/>
          <a:lstStyle/>
          <a:p>
            <a:pPr algn="l" indent="0" marL="0">
              <a:buNone/>
            </a:pPr>
            <a:r>
              <a:rPr lang="en-US" sz="3000" b="1" dirty="0">
                <a:solidFill>
                  <a:srgbClr val="14213D"/>
                </a:solidFill>
                <a:latin typeface="Arial" pitchFamily="34" charset="0"/>
                <a:ea typeface="Arial" pitchFamily="34" charset="-122"/>
                <a:cs typeface="Arial" pitchFamily="34" charset="-120"/>
              </a:rPr>
              <a:t>Clean accuracy alone misses the attack</a:t>
            </a:r>
            <a:endParaRPr lang="en-US" sz="3000" dirty="0"/>
          </a:p>
        </p:txBody>
      </p:sp>
      <p:sp>
        <p:nvSpPr>
          <p:cNvPr id="3" name="Text 1"/>
          <p:cNvSpPr txBox="1"/>
          <p:nvPr/>
        </p:nvSpPr>
        <p:spPr>
          <a:xfrm>
            <a:off x="548640" y="1280160"/>
            <a:ext cx="4114800" cy="365760"/>
          </a:xfrm>
          <a:prstGeom prst="rect">
            <a:avLst/>
          </a:prstGeom>
          <a:noFill/>
          <a:ln/>
        </p:spPr>
        <p:txBody>
          <a:bodyPr wrap="square" lIns="0" tIns="0" rIns="0" bIns="0" rtlCol="0" anchor="t"/>
          <a:lstStyle/>
          <a:p>
            <a:pPr indent="0" marL="0">
              <a:buNone/>
            </a:pPr>
            <a:r>
              <a:rPr lang="en-US" sz="1800" b="1" dirty="0">
                <a:solidFill>
                  <a:srgbClr val="14213D"/>
                </a:solidFill>
                <a:latin typeface="Arial" pitchFamily="34" charset="0"/>
                <a:ea typeface="Arial" pitchFamily="34" charset="-122"/>
                <a:cs typeface="Arial" pitchFamily="34" charset="-120"/>
              </a:rPr>
              <a:t>Clean accuracy</a:t>
            </a:r>
            <a:endParaRPr lang="en-US" sz="1800" dirty="0"/>
          </a:p>
        </p:txBody>
      </p:sp>
      <p:sp>
        <p:nvSpPr>
          <p:cNvPr id="4" name="Text 2"/>
          <p:cNvSpPr txBox="1"/>
          <p:nvPr/>
        </p:nvSpPr>
        <p:spPr>
          <a:xfrm>
            <a:off x="4846320" y="1280160"/>
            <a:ext cx="4114800" cy="365760"/>
          </a:xfrm>
          <a:prstGeom prst="rect">
            <a:avLst/>
          </a:prstGeom>
          <a:noFill/>
          <a:ln/>
        </p:spPr>
        <p:txBody>
          <a:bodyPr wrap="square" lIns="0" tIns="0" rIns="0" bIns="0" rtlCol="0" anchor="t"/>
          <a:lstStyle/>
          <a:p>
            <a:pPr indent="0" marL="0">
              <a:buNone/>
            </a:pPr>
            <a:r>
              <a:rPr lang="en-US" sz="1800" b="1" dirty="0">
                <a:solidFill>
                  <a:srgbClr val="B3001B"/>
                </a:solidFill>
                <a:latin typeface="Arial" pitchFamily="34" charset="0"/>
                <a:ea typeface="Arial" pitchFamily="34" charset="-122"/>
                <a:cs typeface="Arial" pitchFamily="34" charset="-120"/>
              </a:rPr>
              <a:t>ASR / TTR</a:t>
            </a:r>
            <a:endParaRPr lang="en-US" sz="1800" dirty="0"/>
          </a:p>
        </p:txBody>
      </p:sp>
      <p:sp>
        <p:nvSpPr>
          <p:cNvPr id="5" name="Shape 3"/>
          <p:cNvSpPr txBox="1"/>
          <p:nvPr/>
        </p:nvSpPr>
        <p:spPr>
          <a:xfrm>
            <a:off x="9326880" y="1371600"/>
            <a:ext cx="2313432" cy="1737360"/>
          </a:xfrm>
          <a:prstGeom prst="roundRect">
            <a:avLst>
              <a:gd name="adj" fmla="val 4211"/>
            </a:avLst>
          </a:prstGeom>
          <a:solidFill>
            <a:srgbClr val="F4F6F9"/>
          </a:solidFill>
          <a:ln/>
        </p:spPr>
      </p:sp>
      <p:sp>
        <p:nvSpPr>
          <p:cNvPr id="6" name="Text 4"/>
          <p:cNvSpPr txBox="1"/>
          <p:nvPr/>
        </p:nvSpPr>
        <p:spPr>
          <a:xfrm>
            <a:off x="9509760" y="1481328"/>
            <a:ext cx="1920240" cy="274320"/>
          </a:xfrm>
          <a:prstGeom prst="rect">
            <a:avLst/>
          </a:prstGeom>
          <a:noFill/>
          <a:ln/>
        </p:spPr>
        <p:txBody>
          <a:bodyPr wrap="square" lIns="0" tIns="0" rIns="0" bIns="0" rtlCol="0" anchor="t"/>
          <a:lstStyle/>
          <a:p>
            <a:pPr indent="0" marL="0">
              <a:buNone/>
            </a:pPr>
            <a:r>
              <a:rPr lang="en-US" sz="1500" b="1" dirty="0">
                <a:solidFill>
                  <a:srgbClr val="14213D"/>
                </a:solidFill>
                <a:latin typeface="Arial" pitchFamily="34" charset="0"/>
                <a:ea typeface="Arial" pitchFamily="34" charset="-122"/>
                <a:cs typeface="Arial" pitchFamily="34" charset="-120"/>
              </a:rPr>
              <a:t>IID</a:t>
            </a:r>
            <a:endParaRPr lang="en-US" sz="1500" dirty="0"/>
          </a:p>
        </p:txBody>
      </p:sp>
      <p:sp>
        <p:nvSpPr>
          <p:cNvPr id="7" name="Text 5"/>
          <p:cNvSpPr txBox="1"/>
          <p:nvPr/>
        </p:nvSpPr>
        <p:spPr>
          <a:xfrm>
            <a:off x="9509760" y="1783080"/>
            <a:ext cx="2011680" cy="1280160"/>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accuracy </a:t>
            </a:r>
            <a:endParaRPr lang="en-US" sz="1600" dirty="0"/>
          </a:p>
          <a:p>
            <a:pPr indent="0" marL="0">
              <a:buNone/>
            </a:pPr>
            <a:r>
              <a:rPr lang="en-US" sz="2400" b="1" dirty="0">
                <a:solidFill>
                  <a:srgbClr val="4E5D73"/>
                </a:solidFill>
                <a:latin typeface="Arial" pitchFamily="34" charset="0"/>
                <a:ea typeface="Arial" pitchFamily="34" charset="-122"/>
                <a:cs typeface="Arial" pitchFamily="34" charset="-120"/>
              </a:rPr>
              <a:t>−0.10 pp</a:t>
            </a:r>
            <a:endParaRPr lang="en-US" sz="1600" dirty="0"/>
          </a:p>
          <a:p>
            <a:pPr indent="0" marL="0">
              <a:buNone/>
            </a:pPr>
            <a:r>
              <a:rPr lang="en-US" sz="1300" dirty="0">
                <a:solidFill>
                  <a:srgbClr val="6B7280"/>
                </a:solidFill>
                <a:latin typeface="Arial" pitchFamily="34" charset="0"/>
                <a:ea typeface="Arial" pitchFamily="34" charset="-122"/>
                <a:cs typeface="Arial" pitchFamily="34" charset="-120"/>
              </a:rPr>
              <a:t>ASR/TTR </a:t>
            </a:r>
            <a:endParaRPr lang="en-US" sz="1600" dirty="0"/>
          </a:p>
          <a:p>
            <a:pPr indent="0" marL="0">
              <a:buNone/>
            </a:pPr>
            <a:r>
              <a:rPr lang="en-US" sz="2400" b="1" dirty="0">
                <a:solidFill>
                  <a:srgbClr val="B3001B"/>
                </a:solidFill>
                <a:latin typeface="Arial" pitchFamily="34" charset="0"/>
                <a:ea typeface="Arial" pitchFamily="34" charset="-122"/>
                <a:cs typeface="Arial" pitchFamily="34" charset="-120"/>
              </a:rPr>
              <a:t>+53.34 pp</a:t>
            </a:r>
            <a:endParaRPr lang="en-US" sz="1600" dirty="0"/>
          </a:p>
        </p:txBody>
      </p:sp>
      <p:sp>
        <p:nvSpPr>
          <p:cNvPr id="8" name="Shape 6"/>
          <p:cNvSpPr txBox="1"/>
          <p:nvPr/>
        </p:nvSpPr>
        <p:spPr>
          <a:xfrm>
            <a:off x="9326880" y="3291840"/>
            <a:ext cx="2313432" cy="1737360"/>
          </a:xfrm>
          <a:prstGeom prst="roundRect">
            <a:avLst>
              <a:gd name="adj" fmla="val 4211"/>
            </a:avLst>
          </a:prstGeom>
          <a:solidFill>
            <a:srgbClr val="F4F6F9"/>
          </a:solidFill>
          <a:ln/>
        </p:spPr>
      </p:sp>
      <p:sp>
        <p:nvSpPr>
          <p:cNvPr id="9" name="Text 7"/>
          <p:cNvSpPr txBox="1"/>
          <p:nvPr/>
        </p:nvSpPr>
        <p:spPr>
          <a:xfrm>
            <a:off x="9509760" y="3401568"/>
            <a:ext cx="1920240" cy="274320"/>
          </a:xfrm>
          <a:prstGeom prst="rect">
            <a:avLst/>
          </a:prstGeom>
          <a:noFill/>
          <a:ln/>
        </p:spPr>
        <p:txBody>
          <a:bodyPr wrap="square" lIns="0" tIns="0" rIns="0" bIns="0" rtlCol="0" anchor="t"/>
          <a:lstStyle/>
          <a:p>
            <a:pPr indent="0" marL="0">
              <a:buNone/>
            </a:pPr>
            <a:r>
              <a:rPr lang="en-US" sz="1500" b="1" dirty="0">
                <a:solidFill>
                  <a:srgbClr val="14213D"/>
                </a:solidFill>
                <a:latin typeface="Arial" pitchFamily="34" charset="0"/>
                <a:ea typeface="Arial" pitchFamily="34" charset="-122"/>
                <a:cs typeface="Arial" pitchFamily="34" charset="-120"/>
              </a:rPr>
              <a:t>Non-IID</a:t>
            </a:r>
            <a:endParaRPr lang="en-US" sz="1500" dirty="0"/>
          </a:p>
        </p:txBody>
      </p:sp>
      <p:sp>
        <p:nvSpPr>
          <p:cNvPr id="10" name="Text 8"/>
          <p:cNvSpPr txBox="1"/>
          <p:nvPr/>
        </p:nvSpPr>
        <p:spPr>
          <a:xfrm>
            <a:off x="9509760" y="3703320"/>
            <a:ext cx="2011680" cy="1280160"/>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accuracy </a:t>
            </a:r>
            <a:endParaRPr lang="en-US" sz="1600" dirty="0"/>
          </a:p>
          <a:p>
            <a:pPr indent="0" marL="0">
              <a:buNone/>
            </a:pPr>
            <a:r>
              <a:rPr lang="en-US" sz="2400" b="1" dirty="0">
                <a:solidFill>
                  <a:srgbClr val="4E5D73"/>
                </a:solidFill>
                <a:latin typeface="Arial" pitchFamily="34" charset="0"/>
                <a:ea typeface="Arial" pitchFamily="34" charset="-122"/>
                <a:cs typeface="Arial" pitchFamily="34" charset="-120"/>
              </a:rPr>
              <a:t>−0.30 pp</a:t>
            </a:r>
            <a:endParaRPr lang="en-US" sz="1600" dirty="0"/>
          </a:p>
          <a:p>
            <a:pPr indent="0" marL="0">
              <a:buNone/>
            </a:pPr>
            <a:r>
              <a:rPr lang="en-US" sz="1300" dirty="0">
                <a:solidFill>
                  <a:srgbClr val="6B7280"/>
                </a:solidFill>
                <a:latin typeface="Arial" pitchFamily="34" charset="0"/>
                <a:ea typeface="Arial" pitchFamily="34" charset="-122"/>
                <a:cs typeface="Arial" pitchFamily="34" charset="-120"/>
              </a:rPr>
              <a:t>ASR/TTR </a:t>
            </a:r>
            <a:endParaRPr lang="en-US" sz="1600" dirty="0"/>
          </a:p>
          <a:p>
            <a:pPr indent="0" marL="0">
              <a:buNone/>
            </a:pPr>
            <a:r>
              <a:rPr lang="en-US" sz="2400" b="1" dirty="0">
                <a:solidFill>
                  <a:srgbClr val="B3001B"/>
                </a:solidFill>
                <a:latin typeface="Arial" pitchFamily="34" charset="0"/>
                <a:ea typeface="Arial" pitchFamily="34" charset="-122"/>
                <a:cs typeface="Arial" pitchFamily="34" charset="-120"/>
              </a:rPr>
              <a:t>+28.91 pp</a:t>
            </a:r>
            <a:endParaRPr lang="en-US" sz="1600" dirty="0"/>
          </a:p>
        </p:txBody>
      </p:sp>
      <p:sp>
        <p:nvSpPr>
          <p:cNvPr id="11" name="Text 9"/>
          <p:cNvSpPr txBox="1"/>
          <p:nvPr/>
        </p:nvSpPr>
        <p:spPr>
          <a:xfrm>
            <a:off x="548640" y="5486400"/>
            <a:ext cx="11094415" cy="347472"/>
          </a:xfrm>
          <a:prstGeom prst="rect">
            <a:avLst/>
          </a:prstGeom>
          <a:noFill/>
          <a:ln/>
        </p:spPr>
        <p:txBody>
          <a:bodyPr wrap="square" lIns="0" tIns="0" rIns="0" bIns="0" rtlCol="0" anchor="t"/>
          <a:lstStyle/>
          <a:p>
            <a:pPr indent="0" marL="0">
              <a:buNone/>
            </a:pPr>
            <a:r>
              <a:rPr lang="en-US" sz="1150" dirty="0">
                <a:solidFill>
                  <a:srgbClr val="6B7280"/>
                </a:solidFill>
                <a:latin typeface="Arial" pitchFamily="34" charset="0"/>
                <a:ea typeface="Arial" pitchFamily="34" charset="-122"/>
                <a:cs typeface="Arial" pitchFamily="34" charset="-120"/>
              </a:rPr>
              <a:t>Both charts use the same 0–100% scale. UTR changes little: IID 3.18% → 3.41%, Non-IID 3.84% → 4.00% (M_clean → M_attack).</a:t>
            </a:r>
            <a:endParaRPr lang="en-US" sz="1150" dirty="0"/>
          </a:p>
        </p:txBody>
      </p:sp>
      <p:sp>
        <p:nvSpPr>
          <p:cNvPr id="12" name="Text 10"/>
          <p:cNvSpPr txBox="1"/>
          <p:nvPr/>
        </p:nvSpPr>
        <p:spPr>
          <a:xfrm>
            <a:off x="548640" y="5897880"/>
            <a:ext cx="11094415" cy="457200"/>
          </a:xfrm>
          <a:prstGeom prst="roundRect">
            <a:avLst>
              <a:gd name="adj" fmla="val 16000"/>
            </a:avLst>
          </a:prstGeom>
          <a:solidFill>
            <a:srgbClr val="14213D"/>
          </a:solidFill>
          <a:ln/>
        </p:spPr>
        <p:txBody>
          <a:bodyPr wrap="square" lIns="101600" tIns="101600" rIns="101600" bIns="10160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Clean accuracy alone is not sufficient to detect the backdoor.</a:t>
            </a:r>
            <a:endParaRPr lang="en-US" sz="170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A8394"/>
                </a:solidFill>
                <a:latin typeface="Arial"/>
                <a:ea typeface="Arial"/>
                <a:cs typeface="Arial"/>
              </a:defRPr>
            </a:lvl1pPr>
          </a:lstStyle>
          <a:p>
            <a:pPr algn="r"/>
            <a:fld id="{F7021451-1387-4CA6-816F-3879F97B5CBC}" type="slidenum">
              <a:rPr b="0" lang="en-US"/>
              <a:t>9</a:t>
            </a:fld>
            <a:endParaRPr lang="en-US"/>
          </a:p>
        </p:txBody>
      </p:sp>
      <p:graphicFrame>
        <p:nvGraphicFramePr>
          <p:cNvPr id="26" name="Chart: M_clean vs M_attack"/>
          <p:cNvGraphicFramePr>
            <a:graphicFrameLocks noGrp="1"/>
          </p:cNvGraphicFramePr>
          <p:nvPr/>
        </p:nvGraphicFramePr>
        <p:xfrm>
          <a:off x="457200" y="1737360"/>
          <a:ext cx="4297680" cy="3566160"/>
        </p:xfrm>
        <a:graphic>
          <a:graphicData uri="http://schemas.openxmlformats.org/drawingml/2006/chart">
            <c:chart xmlns:c="http://schemas.openxmlformats.org/drawingml/2006/chart" r:id="rId3"/>
          </a:graphicData>
        </a:graphic>
      </p:graphicFrame>
      <p:graphicFrame>
        <p:nvGraphicFramePr>
          <p:cNvPr id="27" name="Chart: M_clean vs M_attack"/>
          <p:cNvGraphicFramePr>
            <a:graphicFrameLocks noGrp="1"/>
          </p:cNvGraphicFramePr>
          <p:nvPr/>
        </p:nvGraphicFramePr>
        <p:xfrm>
          <a:off x="4754880" y="1737360"/>
          <a:ext cx="4297680" cy="3566160"/>
        </p:xfrm>
        <a:graphic>
          <a:graphicData uri="http://schemas.openxmlformats.org/drawingml/2006/chart">
            <c:chart xmlns:c="http://schemas.openxmlformats.org/drawingml/2006/chart" r:id="rId4"/>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1672" cy="731520"/>
          </a:xfrm>
          <a:prstGeom prst="rect">
            <a:avLst/>
          </a:prstGeom>
          <a:noFill/>
          <a:ln/>
        </p:spPr>
        <p:txBody>
          <a:bodyPr wrap="square" lIns="0" tIns="0" rIns="0" bIns="0" rtlCol="0" anchor="ctr"/>
          <a:lstStyle/>
          <a:p>
            <a:pPr algn="l" indent="0" marL="0">
              <a:buNone/>
            </a:pPr>
            <a:r>
              <a:rPr lang="en-US" sz="3000" b="1" dirty="0">
                <a:solidFill>
                  <a:srgbClr val="14213D"/>
                </a:solidFill>
                <a:latin typeface="Arial" pitchFamily="34" charset="0"/>
                <a:ea typeface="Arial" pitchFamily="34" charset="-122"/>
                <a:cs typeface="Arial" pitchFamily="34" charset="-120"/>
              </a:rPr>
              <a:t>What exactly are we comparing?</a:t>
            </a:r>
            <a:endParaRPr lang="en-US" sz="3000" dirty="0"/>
          </a:p>
        </p:txBody>
      </p:sp>
      <p:sp>
        <p:nvSpPr>
          <p:cNvPr id="3" name="Text 1"/>
          <p:cNvSpPr txBox="1"/>
          <p:nvPr/>
        </p:nvSpPr>
        <p:spPr>
          <a:xfrm>
            <a:off x="548640" y="2148840"/>
            <a:ext cx="2194560" cy="2194560"/>
          </a:xfrm>
          <a:prstGeom prst="roundRect">
            <a:avLst>
              <a:gd name="adj" fmla="val 3333"/>
            </a:avLst>
          </a:prstGeom>
          <a:solidFill>
            <a:srgbClr val="14213D"/>
          </a:solidFill>
          <a:ln/>
        </p:spPr>
        <p:txBody>
          <a:bodyPr wrap="square" lIns="101600" tIns="101600" rIns="101600" bIns="1016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Same FL setup</a:t>
            </a:r>
            <a:endParaRPr lang="en-US" sz="1600" dirty="0"/>
          </a:p>
          <a:p>
            <a:pPr algn="ctr" indent="0" marL="0">
              <a:buNone/>
            </a:pPr>
            <a:r>
              <a:rPr lang="en-US" sz="1300" dirty="0">
                <a:solidFill>
                  <a:srgbClr val="FFFFFF"/>
                </a:solidFill>
                <a:latin typeface="Arial" pitchFamily="34" charset="0"/>
                <a:ea typeface="Arial" pitchFamily="34" charset="-122"/>
                <a:cs typeface="Arial" pitchFamily="34" charset="-120"/>
              </a:rPr>
              <a:t>CIFAR-10, SmallCNN, 10 clients, 50 rounds</a:t>
            </a:r>
            <a:endParaRPr lang="en-US" sz="1600" dirty="0"/>
          </a:p>
        </p:txBody>
      </p:sp>
      <p:sp>
        <p:nvSpPr>
          <p:cNvPr id="4" name="Shape 2"/>
          <p:cNvSpPr/>
          <p:nvPr/>
        </p:nvSpPr>
        <p:spPr>
          <a:xfrm>
            <a:off x="2743200" y="3246120"/>
            <a:ext cx="228600" cy="0"/>
          </a:xfrm>
          <a:prstGeom prst="line">
            <a:avLst/>
          </a:prstGeom>
          <a:noFill/>
          <a:ln w="25400">
            <a:solidFill>
              <a:srgbClr val="14213D"/>
            </a:solidFill>
            <a:prstDash val="solid"/>
          </a:ln>
        </p:spPr>
      </p:sp>
      <p:sp>
        <p:nvSpPr>
          <p:cNvPr id="5" name="Shape 3"/>
          <p:cNvSpPr/>
          <p:nvPr/>
        </p:nvSpPr>
        <p:spPr>
          <a:xfrm>
            <a:off x="2971800" y="1783080"/>
            <a:ext cx="0" cy="3886200"/>
          </a:xfrm>
          <a:prstGeom prst="line">
            <a:avLst/>
          </a:prstGeom>
          <a:noFill/>
          <a:ln w="25400">
            <a:solidFill>
              <a:srgbClr val="14213D"/>
            </a:solidFill>
            <a:prstDash val="solid"/>
          </a:ln>
        </p:spPr>
      </p:sp>
      <p:sp>
        <p:nvSpPr>
          <p:cNvPr id="6" name="Shape 4"/>
          <p:cNvSpPr/>
          <p:nvPr/>
        </p:nvSpPr>
        <p:spPr>
          <a:xfrm>
            <a:off x="2971800" y="1783080"/>
            <a:ext cx="228600" cy="0"/>
          </a:xfrm>
          <a:prstGeom prst="line">
            <a:avLst/>
          </a:prstGeom>
          <a:noFill/>
          <a:ln w="25400">
            <a:solidFill>
              <a:srgbClr val="14213D"/>
            </a:solidFill>
            <a:prstDash val="solid"/>
            <a:tailEnd type="triangle"/>
          </a:ln>
        </p:spPr>
      </p:sp>
      <p:sp>
        <p:nvSpPr>
          <p:cNvPr id="7" name="Shape 5"/>
          <p:cNvSpPr/>
          <p:nvPr/>
        </p:nvSpPr>
        <p:spPr>
          <a:xfrm>
            <a:off x="2971800" y="2926080"/>
            <a:ext cx="228600" cy="0"/>
          </a:xfrm>
          <a:prstGeom prst="line">
            <a:avLst/>
          </a:prstGeom>
          <a:noFill/>
          <a:ln w="25400">
            <a:solidFill>
              <a:srgbClr val="14213D"/>
            </a:solidFill>
            <a:prstDash val="solid"/>
            <a:tailEnd type="triangle"/>
          </a:ln>
        </p:spPr>
      </p:sp>
      <p:sp>
        <p:nvSpPr>
          <p:cNvPr id="8" name="Shape 6"/>
          <p:cNvSpPr/>
          <p:nvPr/>
        </p:nvSpPr>
        <p:spPr>
          <a:xfrm>
            <a:off x="2971800" y="5669280"/>
            <a:ext cx="228600" cy="0"/>
          </a:xfrm>
          <a:prstGeom prst="line">
            <a:avLst/>
          </a:prstGeom>
          <a:noFill/>
          <a:ln w="25400">
            <a:solidFill>
              <a:srgbClr val="14213D"/>
            </a:solidFill>
            <a:prstDash val="solid"/>
            <a:tailEnd type="triangle"/>
          </a:ln>
        </p:spPr>
      </p:sp>
      <p:sp>
        <p:nvSpPr>
          <p:cNvPr id="9" name="Text 7"/>
          <p:cNvSpPr txBox="1"/>
          <p:nvPr/>
        </p:nvSpPr>
        <p:spPr>
          <a:xfrm>
            <a:off x="3200400" y="1371600"/>
            <a:ext cx="2926080" cy="822960"/>
          </a:xfrm>
          <a:prstGeom prst="roundRect">
            <a:avLst>
              <a:gd name="adj" fmla="val 8889"/>
            </a:avLst>
          </a:prstGeom>
          <a:solidFill>
            <a:srgbClr val="E8ECF1"/>
          </a:solidFill>
          <a:ln w="25400">
            <a:solidFill>
              <a:srgbClr val="6B7C93"/>
            </a:solidFill>
            <a:prstDash val="solid"/>
          </a:ln>
        </p:spPr>
        <p:txBody>
          <a:bodyPr wrap="square" lIns="101600" tIns="101600" rIns="101600" bIns="101600" rtlCol="0" anchor="ctr"/>
          <a:lstStyle/>
          <a:p>
            <a:pPr algn="l" indent="0" marL="0">
              <a:buNone/>
            </a:pPr>
            <a:r>
              <a:rPr lang="en-US" sz="1600" b="1" dirty="0">
                <a:solidFill>
                  <a:srgbClr val="4E5D73"/>
                </a:solidFill>
                <a:latin typeface="Arial" pitchFamily="34" charset="0"/>
                <a:ea typeface="Arial" pitchFamily="34" charset="-122"/>
                <a:cs typeface="Arial" pitchFamily="34" charset="-120"/>
              </a:rPr>
              <a:t>M_clean</a:t>
            </a:r>
            <a:endParaRPr lang="en-US" sz="1600" dirty="0"/>
          </a:p>
          <a:p>
            <a:pPr algn="l" indent="0" marL="0">
              <a:buNone/>
            </a:pPr>
            <a:r>
              <a:rPr lang="en-US" sz="1300" dirty="0">
                <a:solidFill>
                  <a:srgbClr val="14213D"/>
                </a:solidFill>
                <a:latin typeface="Arial" pitchFamily="34" charset="0"/>
                <a:ea typeface="Arial" pitchFamily="34" charset="-122"/>
                <a:cs typeface="Arial" pitchFamily="34" charset="-120"/>
              </a:rPr>
              <a:t>trained without the attack</a:t>
            </a:r>
            <a:endParaRPr lang="en-US" sz="1600" dirty="0"/>
          </a:p>
        </p:txBody>
      </p:sp>
      <p:sp>
        <p:nvSpPr>
          <p:cNvPr id="10" name="Text 8"/>
          <p:cNvSpPr txBox="1"/>
          <p:nvPr/>
        </p:nvSpPr>
        <p:spPr>
          <a:xfrm>
            <a:off x="3200400" y="2514600"/>
            <a:ext cx="2926080" cy="822960"/>
          </a:xfrm>
          <a:prstGeom prst="roundRect">
            <a:avLst>
              <a:gd name="adj" fmla="val 8889"/>
            </a:avLst>
          </a:prstGeom>
          <a:solidFill>
            <a:srgbClr val="FCE9EB"/>
          </a:solidFill>
          <a:ln w="25400">
            <a:solidFill>
              <a:srgbClr val="D62839"/>
            </a:solidFill>
            <a:prstDash val="solid"/>
          </a:ln>
        </p:spPr>
        <p:txBody>
          <a:bodyPr wrap="square" lIns="101600" tIns="101600" rIns="101600" bIns="101600" rtlCol="0" anchor="ctr"/>
          <a:lstStyle/>
          <a:p>
            <a:pPr algn="l" indent="0" marL="0">
              <a:buNone/>
            </a:pPr>
            <a:r>
              <a:rPr lang="en-US" sz="1600" b="1" dirty="0">
                <a:solidFill>
                  <a:srgbClr val="B3001B"/>
                </a:solidFill>
                <a:latin typeface="Arial" pitchFamily="34" charset="0"/>
                <a:ea typeface="Arial" pitchFamily="34" charset="-122"/>
                <a:cs typeface="Arial" pitchFamily="34" charset="-120"/>
              </a:rPr>
              <a:t>M_attack</a:t>
            </a:r>
            <a:endParaRPr lang="en-US" sz="1600" dirty="0"/>
          </a:p>
          <a:p>
            <a:pPr algn="l" indent="0" marL="0">
              <a:buNone/>
            </a:pPr>
            <a:r>
              <a:rPr lang="en-US" sz="1300" dirty="0">
                <a:solidFill>
                  <a:srgbClr val="14213D"/>
                </a:solidFill>
                <a:latin typeface="Arial" pitchFamily="34" charset="0"/>
                <a:ea typeface="Arial" pitchFamily="34" charset="-122"/>
                <a:cs typeface="Arial" pitchFamily="34" charset="-120"/>
              </a:rPr>
              <a:t>attacked endpoint (C0 poisons from round 30)</a:t>
            </a:r>
            <a:endParaRPr lang="en-US" sz="1600" dirty="0"/>
          </a:p>
        </p:txBody>
      </p:sp>
      <p:sp>
        <p:nvSpPr>
          <p:cNvPr id="11" name="Text 9"/>
          <p:cNvSpPr txBox="1"/>
          <p:nvPr/>
        </p:nvSpPr>
        <p:spPr>
          <a:xfrm>
            <a:off x="6583680" y="2514600"/>
            <a:ext cx="2651760" cy="822960"/>
          </a:xfrm>
          <a:prstGeom prst="roundRect">
            <a:avLst>
              <a:gd name="adj" fmla="val 8889"/>
            </a:avLst>
          </a:prstGeom>
          <a:solidFill>
            <a:srgbClr val="FDF1DF"/>
          </a:solidFill>
          <a:ln w="25400">
            <a:solidFill>
              <a:srgbClr val="E8890C"/>
            </a:solidFill>
            <a:prstDash val="solid"/>
          </a:ln>
        </p:spPr>
        <p:txBody>
          <a:bodyPr wrap="square" lIns="101600" tIns="101600" rIns="101600" bIns="101600" rtlCol="0" anchor="ctr"/>
          <a:lstStyle/>
          <a:p>
            <a:pPr algn="l" indent="0" marL="0">
              <a:buNone/>
            </a:pPr>
            <a:r>
              <a:rPr lang="en-US" sz="1600" b="1" dirty="0">
                <a:solidFill>
                  <a:srgbClr val="A85500"/>
                </a:solidFill>
                <a:latin typeface="Arial" pitchFamily="34" charset="0"/>
                <a:ea typeface="Arial" pitchFamily="34" charset="-122"/>
                <a:cs typeface="Arial" pitchFamily="34" charset="-120"/>
              </a:rPr>
              <a:t>M_sub</a:t>
            </a:r>
            <a:endParaRPr lang="en-US" sz="1600" dirty="0"/>
          </a:p>
          <a:p>
            <a:pPr algn="l" indent="0" marL="0">
              <a:buNone/>
            </a:pPr>
            <a:r>
              <a:rPr lang="en-US" sz="1200" dirty="0">
                <a:solidFill>
                  <a:srgbClr val="14213D"/>
                </a:solidFill>
                <a:latin typeface="Arial" pitchFamily="34" charset="0"/>
                <a:ea typeface="Arial" pitchFamily="34" charset="-122"/>
                <a:cs typeface="Arial" pitchFamily="34" charset="-120"/>
              </a:rPr>
              <a:t>subtract C0's stored historical contribution</a:t>
            </a:r>
            <a:endParaRPr lang="en-US" sz="1600" dirty="0"/>
          </a:p>
        </p:txBody>
      </p:sp>
      <p:sp>
        <p:nvSpPr>
          <p:cNvPr id="12" name="Shape 10"/>
          <p:cNvSpPr/>
          <p:nvPr/>
        </p:nvSpPr>
        <p:spPr>
          <a:xfrm>
            <a:off x="6126480" y="2926080"/>
            <a:ext cx="457200" cy="0"/>
          </a:xfrm>
          <a:prstGeom prst="line">
            <a:avLst/>
          </a:prstGeom>
          <a:noFill/>
          <a:ln w="31750">
            <a:solidFill>
              <a:srgbClr val="E8890C"/>
            </a:solidFill>
            <a:prstDash val="solid"/>
            <a:tailEnd type="triangle"/>
          </a:ln>
        </p:spPr>
      </p:sp>
      <p:sp>
        <p:nvSpPr>
          <p:cNvPr id="13" name="Text 11"/>
          <p:cNvSpPr txBox="1"/>
          <p:nvPr/>
        </p:nvSpPr>
        <p:spPr>
          <a:xfrm>
            <a:off x="9646920" y="2514600"/>
            <a:ext cx="1993392" cy="822960"/>
          </a:xfrm>
          <a:prstGeom prst="roundRect">
            <a:avLst>
              <a:gd name="adj" fmla="val 8889"/>
            </a:avLst>
          </a:prstGeom>
          <a:solidFill>
            <a:srgbClr val="EFE8F8"/>
          </a:solidFill>
          <a:ln w="25400">
            <a:solidFill>
              <a:srgbClr val="7B4FB8"/>
            </a:solidFill>
            <a:prstDash val="solid"/>
          </a:ln>
        </p:spPr>
        <p:txBody>
          <a:bodyPr wrap="square" lIns="101600" tIns="101600" rIns="101600" bIns="101600" rtlCol="0" anchor="ctr"/>
          <a:lstStyle/>
          <a:p>
            <a:pPr algn="l" indent="0" marL="0">
              <a:buNone/>
            </a:pPr>
            <a:r>
              <a:rPr lang="en-US" sz="1600" b="1" dirty="0">
                <a:solidFill>
                  <a:srgbClr val="5E3499"/>
                </a:solidFill>
                <a:latin typeface="Arial" pitchFamily="34" charset="0"/>
                <a:ea typeface="Arial" pitchFamily="34" charset="-122"/>
                <a:cs typeface="Arial" pitchFamily="34" charset="-120"/>
              </a:rPr>
              <a:t>M_KD</a:t>
            </a:r>
            <a:endParaRPr lang="en-US" sz="1600" dirty="0"/>
          </a:p>
          <a:p>
            <a:pPr algn="l" indent="0" marL="0">
              <a:buNone/>
            </a:pPr>
            <a:r>
              <a:rPr lang="en-US" sz="1200" dirty="0">
                <a:solidFill>
                  <a:srgbClr val="14213D"/>
                </a:solidFill>
                <a:latin typeface="Arial" pitchFamily="34" charset="0"/>
                <a:ea typeface="Arial" pitchFamily="34" charset="-122"/>
                <a:cs typeface="Arial" pitchFamily="34" charset="-120"/>
              </a:rPr>
              <a:t>student from M_sub</a:t>
            </a:r>
            <a:endParaRPr lang="en-US" sz="1600" dirty="0"/>
          </a:p>
        </p:txBody>
      </p:sp>
      <p:sp>
        <p:nvSpPr>
          <p:cNvPr id="14" name="Shape 12"/>
          <p:cNvSpPr/>
          <p:nvPr/>
        </p:nvSpPr>
        <p:spPr>
          <a:xfrm>
            <a:off x="9235440" y="2926080"/>
            <a:ext cx="411480" cy="0"/>
          </a:xfrm>
          <a:prstGeom prst="line">
            <a:avLst/>
          </a:prstGeom>
          <a:noFill/>
          <a:ln w="31750">
            <a:solidFill>
              <a:srgbClr val="7B4FB8"/>
            </a:solidFill>
            <a:prstDash val="solid"/>
            <a:tailEnd type="triangle"/>
          </a:ln>
        </p:spPr>
      </p:sp>
      <p:sp>
        <p:nvSpPr>
          <p:cNvPr id="15" name="Shape 13"/>
          <p:cNvSpPr/>
          <p:nvPr/>
        </p:nvSpPr>
        <p:spPr>
          <a:xfrm flipV="1">
            <a:off x="4663440" y="2331720"/>
            <a:ext cx="0" cy="182880"/>
          </a:xfrm>
          <a:prstGeom prst="line">
            <a:avLst/>
          </a:prstGeom>
          <a:noFill/>
          <a:ln w="25400">
            <a:solidFill>
              <a:srgbClr val="7B4FB8"/>
            </a:solidFill>
            <a:prstDash val="dash"/>
          </a:ln>
        </p:spPr>
      </p:sp>
      <p:sp>
        <p:nvSpPr>
          <p:cNvPr id="16" name="Shape 14"/>
          <p:cNvSpPr/>
          <p:nvPr/>
        </p:nvSpPr>
        <p:spPr>
          <a:xfrm>
            <a:off x="4663440" y="2331720"/>
            <a:ext cx="5980176" cy="0"/>
          </a:xfrm>
          <a:prstGeom prst="line">
            <a:avLst/>
          </a:prstGeom>
          <a:noFill/>
          <a:ln w="25400">
            <a:solidFill>
              <a:srgbClr val="7B4FB8"/>
            </a:solidFill>
            <a:prstDash val="dash"/>
          </a:ln>
        </p:spPr>
      </p:sp>
      <p:sp>
        <p:nvSpPr>
          <p:cNvPr id="17" name="Shape 15"/>
          <p:cNvSpPr/>
          <p:nvPr/>
        </p:nvSpPr>
        <p:spPr>
          <a:xfrm>
            <a:off x="10643616" y="2331720"/>
            <a:ext cx="0" cy="182880"/>
          </a:xfrm>
          <a:prstGeom prst="line">
            <a:avLst/>
          </a:prstGeom>
          <a:noFill/>
          <a:ln w="25400">
            <a:solidFill>
              <a:srgbClr val="7B4FB8"/>
            </a:solidFill>
            <a:prstDash val="dash"/>
            <a:tailEnd type="triangle"/>
          </a:ln>
        </p:spPr>
      </p:sp>
      <p:sp>
        <p:nvSpPr>
          <p:cNvPr id="18" name="Text 16"/>
          <p:cNvSpPr txBox="1"/>
          <p:nvPr/>
        </p:nvSpPr>
        <p:spPr>
          <a:xfrm>
            <a:off x="6309360" y="1965960"/>
            <a:ext cx="5303520" cy="274320"/>
          </a:xfrm>
          <a:prstGeom prst="rect">
            <a:avLst/>
          </a:prstGeom>
          <a:noFill/>
          <a:ln/>
        </p:spPr>
        <p:txBody>
          <a:bodyPr wrap="square" lIns="0" tIns="0" rIns="0" bIns="0" rtlCol="0" anchor="t"/>
          <a:lstStyle/>
          <a:p>
            <a:pPr algn="r" indent="0" marL="0">
              <a:buNone/>
            </a:pPr>
            <a:r>
              <a:rPr lang="en-US" sz="1300" b="1" dirty="0">
                <a:solidFill>
                  <a:srgbClr val="5E3499"/>
                </a:solidFill>
                <a:latin typeface="Arial" pitchFamily="34" charset="0"/>
                <a:ea typeface="Arial" pitchFamily="34" charset="-122"/>
                <a:cs typeface="Arial" pitchFamily="34" charset="-120"/>
              </a:rPr>
              <a:t>teacher: M_attack · distillation data: proxy CIFAR-100</a:t>
            </a:r>
            <a:endParaRPr lang="en-US" sz="1300" dirty="0"/>
          </a:p>
        </p:txBody>
      </p:sp>
      <p:sp>
        <p:nvSpPr>
          <p:cNvPr id="19" name="Shape 17"/>
          <p:cNvSpPr/>
          <p:nvPr/>
        </p:nvSpPr>
        <p:spPr>
          <a:xfrm>
            <a:off x="5577840" y="3337560"/>
            <a:ext cx="0" cy="914400"/>
          </a:xfrm>
          <a:prstGeom prst="line">
            <a:avLst/>
          </a:prstGeom>
          <a:noFill/>
          <a:ln w="31750">
            <a:solidFill>
              <a:srgbClr val="0B7A75"/>
            </a:solidFill>
            <a:prstDash val="solid"/>
          </a:ln>
        </p:spPr>
      </p:sp>
      <p:sp>
        <p:nvSpPr>
          <p:cNvPr id="20" name="Shape 18"/>
          <p:cNvSpPr/>
          <p:nvPr/>
        </p:nvSpPr>
        <p:spPr>
          <a:xfrm>
            <a:off x="5577840" y="4251960"/>
            <a:ext cx="1005840" cy="0"/>
          </a:xfrm>
          <a:prstGeom prst="line">
            <a:avLst/>
          </a:prstGeom>
          <a:noFill/>
          <a:ln w="31750">
            <a:solidFill>
              <a:srgbClr val="0B7A75"/>
            </a:solidFill>
            <a:prstDash val="solid"/>
            <a:tailEnd type="triangle"/>
          </a:ln>
        </p:spPr>
      </p:sp>
      <p:sp>
        <p:nvSpPr>
          <p:cNvPr id="21" name="Text 19"/>
          <p:cNvSpPr txBox="1"/>
          <p:nvPr/>
        </p:nvSpPr>
        <p:spPr>
          <a:xfrm>
            <a:off x="6583680" y="3611880"/>
            <a:ext cx="5056632" cy="1280160"/>
          </a:xfrm>
          <a:prstGeom prst="roundRect">
            <a:avLst>
              <a:gd name="adj" fmla="val 5714"/>
            </a:avLst>
          </a:prstGeom>
          <a:solidFill>
            <a:srgbClr val="E4F4F2"/>
          </a:solidFill>
          <a:ln w="25400">
            <a:solidFill>
              <a:srgbClr val="0B7A75"/>
            </a:solidFill>
            <a:prstDash val="solid"/>
          </a:ln>
        </p:spPr>
        <p:txBody>
          <a:bodyPr wrap="square" lIns="101600" tIns="101600" rIns="101600" bIns="101600" rtlCol="0" anchor="t"/>
          <a:lstStyle/>
          <a:p>
            <a:pPr algn="l" indent="0" marL="0">
              <a:buNone/>
            </a:pPr>
            <a:r>
              <a:rPr lang="en-US" sz="1600" b="1" dirty="0">
                <a:solidFill>
                  <a:srgbClr val="0B7A75"/>
                </a:solidFill>
                <a:latin typeface="Arial" pitchFamily="34" charset="0"/>
                <a:ea typeface="Arial" pitchFamily="34" charset="-122"/>
                <a:cs typeface="Arial" pitchFamily="34" charset="-120"/>
              </a:rPr>
              <a:t>FedEraser reconstruction</a:t>
            </a:r>
            <a:endParaRPr lang="en-US" sz="1600" dirty="0"/>
          </a:p>
          <a:p>
            <a:pPr algn="l" indent="0" marL="0">
              <a:buNone/>
            </a:pPr>
            <a:r>
              <a:rPr lang="en-US" sz="1300" dirty="0">
                <a:solidFill>
                  <a:srgbClr val="14213D"/>
                </a:solidFill>
                <a:latin typeface="Arial" pitchFamily="34" charset="0"/>
                <a:ea typeface="Arial" pitchFamily="34" charset="-122"/>
                <a:cs typeface="Arial" pitchFamily="34" charset="-120"/>
              </a:rPr>
              <a:t>rebuilds updates from retained clients C1–C9, using stored history</a:t>
            </a:r>
            <a:endParaRPr lang="en-US" sz="1600" dirty="0"/>
          </a:p>
        </p:txBody>
      </p:sp>
      <p:sp>
        <p:nvSpPr>
          <p:cNvPr id="22" name="Text 20"/>
          <p:cNvSpPr txBox="1"/>
          <p:nvPr/>
        </p:nvSpPr>
        <p:spPr>
          <a:xfrm>
            <a:off x="6766560" y="4462272"/>
            <a:ext cx="1371600" cy="310896"/>
          </a:xfrm>
          <a:prstGeom prst="roundRect">
            <a:avLst>
              <a:gd name="adj" fmla="val 23529"/>
            </a:avLst>
          </a:prstGeom>
          <a:solidFill>
            <a:srgbClr val="7CCFC4"/>
          </a:solidFill>
          <a:ln w="15875">
            <a:solidFill>
              <a:srgbClr val="0B7A75"/>
            </a:solidFill>
            <a:prstDash val="solid"/>
          </a:ln>
        </p:spPr>
        <p:txBody>
          <a:bodyPr wrap="square" lIns="25400" tIns="25400" rIns="25400" bIns="25400" rtlCol="0" anchor="ctr"/>
          <a:lstStyle/>
          <a:p>
            <a:pPr algn="ctr" indent="0" marL="0">
              <a:buNone/>
            </a:pPr>
            <a:r>
              <a:rPr lang="en-US" sz="1200" b="1" dirty="0">
                <a:solidFill>
                  <a:srgbClr val="14213D"/>
                </a:solidFill>
                <a:latin typeface="Arial" pitchFamily="34" charset="0"/>
                <a:ea typeface="Arial" pitchFamily="34" charset="-122"/>
                <a:cs typeface="Arial" pitchFamily="34" charset="-120"/>
              </a:rPr>
              <a:t>Ecal=1</a:t>
            </a:r>
            <a:endParaRPr lang="en-US" sz="1200" dirty="0"/>
          </a:p>
        </p:txBody>
      </p:sp>
      <p:sp>
        <p:nvSpPr>
          <p:cNvPr id="23" name="Text 21"/>
          <p:cNvSpPr txBox="1"/>
          <p:nvPr/>
        </p:nvSpPr>
        <p:spPr>
          <a:xfrm>
            <a:off x="8275320" y="4462272"/>
            <a:ext cx="1371600" cy="310896"/>
          </a:xfrm>
          <a:prstGeom prst="roundRect">
            <a:avLst>
              <a:gd name="adj" fmla="val 23529"/>
            </a:avLst>
          </a:prstGeom>
          <a:solidFill>
            <a:srgbClr val="0B7A75"/>
          </a:solidFill>
          <a:ln w="15875">
            <a:solidFill>
              <a:srgbClr val="0B7A75"/>
            </a:solidFill>
            <a:prstDash val="solid"/>
          </a:ln>
        </p:spPr>
        <p:txBody>
          <a:bodyPr wrap="square" lIns="25400" tIns="25400" rIns="25400" bIns="2540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Ecal=2</a:t>
            </a:r>
            <a:endParaRPr lang="en-US" sz="1200" dirty="0"/>
          </a:p>
        </p:txBody>
      </p:sp>
      <p:sp>
        <p:nvSpPr>
          <p:cNvPr id="24" name="Text 22"/>
          <p:cNvSpPr txBox="1"/>
          <p:nvPr/>
        </p:nvSpPr>
        <p:spPr>
          <a:xfrm>
            <a:off x="3200400" y="5212080"/>
            <a:ext cx="8439912" cy="914400"/>
          </a:xfrm>
          <a:prstGeom prst="roundRect">
            <a:avLst>
              <a:gd name="adj" fmla="val 8000"/>
            </a:avLst>
          </a:prstGeom>
          <a:solidFill>
            <a:srgbClr val="ECEDEF"/>
          </a:solidFill>
          <a:ln w="25400">
            <a:solidFill>
              <a:srgbClr val="4A4F57"/>
            </a:solidFill>
            <a:prstDash val="dash"/>
          </a:ln>
        </p:spPr>
        <p:txBody>
          <a:bodyPr wrap="square" lIns="127000" tIns="127000" rIns="127000" bIns="127000" rtlCol="0" anchor="ctr"/>
          <a:lstStyle/>
          <a:p>
            <a:pPr algn="l" indent="0" marL="0">
              <a:buNone/>
            </a:pPr>
            <a:r>
              <a:rPr lang="en-US" sz="1600" b="1" dirty="0">
                <a:solidFill>
                  <a:srgbClr val="4A4F57"/>
                </a:solidFill>
                <a:latin typeface="Arial" pitchFamily="34" charset="0"/>
                <a:ea typeface="Arial" pitchFamily="34" charset="-122"/>
                <a:cs typeface="Arial" pitchFamily="34" charset="-120"/>
              </a:rPr>
              <a:t>M_CF · counterfactual reference</a:t>
            </a:r>
            <a:endParaRPr lang="en-US" sz="1600" dirty="0"/>
          </a:p>
          <a:p>
            <a:pPr algn="l" indent="0" marL="0">
              <a:buNone/>
            </a:pPr>
            <a:r>
              <a:rPr lang="en-US" sz="1300" dirty="0">
                <a:solidFill>
                  <a:srgbClr val="14213D"/>
                </a:solidFill>
                <a:latin typeface="Arial" pitchFamily="34" charset="0"/>
                <a:ea typeface="Arial" pitchFamily="34" charset="-122"/>
                <a:cs typeface="Arial" pitchFamily="34" charset="-120"/>
              </a:rPr>
              <a:t>separate branch trained through all rounds without C0 (C1–C9 only). For comparison only; not an unlearning method.</a:t>
            </a:r>
            <a:endParaRPr lang="en-US" sz="160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A8394"/>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1672" cy="731520"/>
          </a:xfrm>
          <a:prstGeom prst="rect">
            <a:avLst/>
          </a:prstGeom>
          <a:noFill/>
          <a:ln/>
        </p:spPr>
        <p:txBody>
          <a:bodyPr wrap="square" lIns="0" tIns="0" rIns="0" bIns="0" rtlCol="0" anchor="ctr"/>
          <a:lstStyle/>
          <a:p>
            <a:pPr algn="l" indent="0" marL="0">
              <a:buNone/>
            </a:pPr>
            <a:r>
              <a:rPr lang="en-US" sz="3000" b="1" dirty="0">
                <a:solidFill>
                  <a:srgbClr val="14213D"/>
                </a:solidFill>
                <a:latin typeface="Arial" pitchFamily="34" charset="0"/>
                <a:ea typeface="Arial" pitchFamily="34" charset="-122"/>
                <a:cs typeface="Arial" pitchFamily="34" charset="-120"/>
              </a:rPr>
              <a:t>Baseline 1: direct update subtraction</a:t>
            </a:r>
            <a:endParaRPr lang="en-US" sz="3000" dirty="0"/>
          </a:p>
        </p:txBody>
      </p:sp>
      <p:sp>
        <p:nvSpPr>
          <p:cNvPr id="3" name="Shape 1"/>
          <p:cNvSpPr txBox="1"/>
          <p:nvPr/>
        </p:nvSpPr>
        <p:spPr>
          <a:xfrm>
            <a:off x="548640" y="1325880"/>
            <a:ext cx="3429000" cy="1143000"/>
          </a:xfrm>
          <a:prstGeom prst="roundRect">
            <a:avLst>
              <a:gd name="adj" fmla="val 6400"/>
            </a:avLst>
          </a:prstGeom>
          <a:solidFill>
            <a:srgbClr val="FDF1DF"/>
          </a:solidFill>
          <a:ln w="25400">
            <a:solidFill>
              <a:srgbClr val="E8890C"/>
            </a:solidFill>
            <a:prstDash val="solid"/>
          </a:ln>
        </p:spPr>
      </p:sp>
      <p:sp>
        <p:nvSpPr>
          <p:cNvPr id="4" name="Text 2"/>
          <p:cNvSpPr txBox="1"/>
          <p:nvPr/>
        </p:nvSpPr>
        <p:spPr>
          <a:xfrm>
            <a:off x="749808" y="1687068"/>
            <a:ext cx="420624" cy="420624"/>
          </a:xfrm>
          <a:prstGeom prst="ellipse">
            <a:avLst/>
          </a:prstGeom>
          <a:solidFill>
            <a:srgbClr val="E8890C"/>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5" name="Text 3"/>
          <p:cNvSpPr txBox="1"/>
          <p:nvPr/>
        </p:nvSpPr>
        <p:spPr>
          <a:xfrm>
            <a:off x="1325880" y="1463040"/>
            <a:ext cx="2514600" cy="868680"/>
          </a:xfrm>
          <a:prstGeom prst="rect">
            <a:avLst/>
          </a:prstGeom>
          <a:noFill/>
          <a:ln/>
        </p:spPr>
        <p:txBody>
          <a:bodyPr wrap="square" lIns="0" tIns="0" rIns="0" bIns="0" rtlCol="0" anchor="ctr"/>
          <a:lstStyle/>
          <a:p>
            <a:pPr indent="0" marL="0">
              <a:buNone/>
            </a:pPr>
            <a:r>
              <a:rPr lang="en-US" sz="1800" b="1" dirty="0">
                <a:solidFill>
                  <a:srgbClr val="A85500"/>
                </a:solidFill>
                <a:latin typeface="Arial" pitchFamily="34" charset="0"/>
                <a:ea typeface="Arial" pitchFamily="34" charset="-122"/>
                <a:cs typeface="Arial" pitchFamily="34" charset="-120"/>
              </a:rPr>
              <a:t>Identify</a:t>
            </a:r>
            <a:endParaRPr lang="en-US" sz="1600" dirty="0"/>
          </a:p>
          <a:p>
            <a:pPr indent="0" marL="0">
              <a:buNone/>
            </a:pPr>
            <a:r>
              <a:rPr lang="en-US" sz="1400" dirty="0">
                <a:solidFill>
                  <a:srgbClr val="3A4560"/>
                </a:solidFill>
                <a:latin typeface="Arial" pitchFamily="34" charset="0"/>
                <a:ea typeface="Arial" pitchFamily="34" charset="-122"/>
                <a:cs typeface="Arial" pitchFamily="34" charset="-120"/>
              </a:rPr>
              <a:t>C0's stored historical update contribution</a:t>
            </a:r>
            <a:endParaRPr lang="en-US" sz="1600" dirty="0"/>
          </a:p>
        </p:txBody>
      </p:sp>
      <p:sp>
        <p:nvSpPr>
          <p:cNvPr id="6" name="Shape 4"/>
          <p:cNvSpPr/>
          <p:nvPr/>
        </p:nvSpPr>
        <p:spPr>
          <a:xfrm>
            <a:off x="4005072" y="1897380"/>
            <a:ext cx="310896" cy="0"/>
          </a:xfrm>
          <a:prstGeom prst="line">
            <a:avLst/>
          </a:prstGeom>
          <a:noFill/>
          <a:ln w="31750">
            <a:solidFill>
              <a:srgbClr val="E8890C"/>
            </a:solidFill>
            <a:prstDash val="solid"/>
            <a:tailEnd type="triangle"/>
          </a:ln>
        </p:spPr>
      </p:sp>
      <p:sp>
        <p:nvSpPr>
          <p:cNvPr id="7" name="Shape 5"/>
          <p:cNvSpPr txBox="1"/>
          <p:nvPr/>
        </p:nvSpPr>
        <p:spPr>
          <a:xfrm>
            <a:off x="4343400" y="1325880"/>
            <a:ext cx="3429000" cy="1143000"/>
          </a:xfrm>
          <a:prstGeom prst="roundRect">
            <a:avLst>
              <a:gd name="adj" fmla="val 6400"/>
            </a:avLst>
          </a:prstGeom>
          <a:solidFill>
            <a:srgbClr val="FDF1DF"/>
          </a:solidFill>
          <a:ln w="25400">
            <a:solidFill>
              <a:srgbClr val="E8890C"/>
            </a:solidFill>
            <a:prstDash val="solid"/>
          </a:ln>
        </p:spPr>
      </p:sp>
      <p:sp>
        <p:nvSpPr>
          <p:cNvPr id="8" name="Text 6"/>
          <p:cNvSpPr txBox="1"/>
          <p:nvPr/>
        </p:nvSpPr>
        <p:spPr>
          <a:xfrm>
            <a:off x="4544568" y="1687068"/>
            <a:ext cx="420624" cy="420624"/>
          </a:xfrm>
          <a:prstGeom prst="ellipse">
            <a:avLst/>
          </a:prstGeom>
          <a:solidFill>
            <a:srgbClr val="E8890C"/>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9" name="Text 7"/>
          <p:cNvSpPr txBox="1"/>
          <p:nvPr/>
        </p:nvSpPr>
        <p:spPr>
          <a:xfrm>
            <a:off x="5120640" y="1463040"/>
            <a:ext cx="2514600" cy="868680"/>
          </a:xfrm>
          <a:prstGeom prst="rect">
            <a:avLst/>
          </a:prstGeom>
          <a:noFill/>
          <a:ln/>
        </p:spPr>
        <p:txBody>
          <a:bodyPr wrap="square" lIns="0" tIns="0" rIns="0" bIns="0" rtlCol="0" anchor="ctr"/>
          <a:lstStyle/>
          <a:p>
            <a:pPr indent="0" marL="0">
              <a:buNone/>
            </a:pPr>
            <a:r>
              <a:rPr lang="en-US" sz="1800" b="1" dirty="0">
                <a:solidFill>
                  <a:srgbClr val="A85500"/>
                </a:solidFill>
                <a:latin typeface="Arial" pitchFamily="34" charset="0"/>
                <a:ea typeface="Arial" pitchFamily="34" charset="-122"/>
                <a:cs typeface="Arial" pitchFamily="34" charset="-120"/>
              </a:rPr>
              <a:t>Subtract</a:t>
            </a:r>
            <a:endParaRPr lang="en-US" sz="1600" dirty="0"/>
          </a:p>
          <a:p>
            <a:pPr indent="0" marL="0">
              <a:buNone/>
            </a:pPr>
            <a:r>
              <a:rPr lang="en-US" sz="1400" dirty="0">
                <a:solidFill>
                  <a:srgbClr val="3A4560"/>
                </a:solidFill>
                <a:latin typeface="Arial" pitchFamily="34" charset="0"/>
                <a:ea typeface="Arial" pitchFamily="34" charset="-122"/>
                <a:cs typeface="Arial" pitchFamily="34" charset="-120"/>
              </a:rPr>
              <a:t>that contribution in the implemented baseline</a:t>
            </a:r>
            <a:endParaRPr lang="en-US" sz="1600" dirty="0"/>
          </a:p>
        </p:txBody>
      </p:sp>
      <p:sp>
        <p:nvSpPr>
          <p:cNvPr id="10" name="Shape 8"/>
          <p:cNvSpPr/>
          <p:nvPr/>
        </p:nvSpPr>
        <p:spPr>
          <a:xfrm>
            <a:off x="7799832" y="1897380"/>
            <a:ext cx="310896" cy="0"/>
          </a:xfrm>
          <a:prstGeom prst="line">
            <a:avLst/>
          </a:prstGeom>
          <a:noFill/>
          <a:ln w="31750">
            <a:solidFill>
              <a:srgbClr val="E8890C"/>
            </a:solidFill>
            <a:prstDash val="solid"/>
            <a:tailEnd type="triangle"/>
          </a:ln>
        </p:spPr>
      </p:sp>
      <p:sp>
        <p:nvSpPr>
          <p:cNvPr id="11" name="Shape 9"/>
          <p:cNvSpPr txBox="1"/>
          <p:nvPr/>
        </p:nvSpPr>
        <p:spPr>
          <a:xfrm>
            <a:off x="8138160" y="1325880"/>
            <a:ext cx="3429000" cy="1143000"/>
          </a:xfrm>
          <a:prstGeom prst="roundRect">
            <a:avLst>
              <a:gd name="adj" fmla="val 6400"/>
            </a:avLst>
          </a:prstGeom>
          <a:solidFill>
            <a:srgbClr val="FDF1DF"/>
          </a:solidFill>
          <a:ln w="25400">
            <a:solidFill>
              <a:srgbClr val="E8890C"/>
            </a:solidFill>
            <a:prstDash val="solid"/>
          </a:ln>
        </p:spPr>
      </p:sp>
      <p:sp>
        <p:nvSpPr>
          <p:cNvPr id="12" name="Text 10"/>
          <p:cNvSpPr txBox="1"/>
          <p:nvPr/>
        </p:nvSpPr>
        <p:spPr>
          <a:xfrm>
            <a:off x="8339328" y="1687068"/>
            <a:ext cx="420624" cy="420624"/>
          </a:xfrm>
          <a:prstGeom prst="ellipse">
            <a:avLst/>
          </a:prstGeom>
          <a:solidFill>
            <a:srgbClr val="E8890C"/>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3" name="Text 11"/>
          <p:cNvSpPr txBox="1"/>
          <p:nvPr/>
        </p:nvSpPr>
        <p:spPr>
          <a:xfrm>
            <a:off x="8915400" y="1463040"/>
            <a:ext cx="2514600" cy="868680"/>
          </a:xfrm>
          <a:prstGeom prst="rect">
            <a:avLst/>
          </a:prstGeom>
          <a:noFill/>
          <a:ln/>
        </p:spPr>
        <p:txBody>
          <a:bodyPr wrap="square" lIns="0" tIns="0" rIns="0" bIns="0" rtlCol="0" anchor="ctr"/>
          <a:lstStyle/>
          <a:p>
            <a:pPr indent="0" marL="0">
              <a:buNone/>
            </a:pPr>
            <a:r>
              <a:rPr lang="en-US" sz="1800" b="1" dirty="0">
                <a:solidFill>
                  <a:srgbClr val="A85500"/>
                </a:solidFill>
                <a:latin typeface="Arial" pitchFamily="34" charset="0"/>
                <a:ea typeface="Arial" pitchFamily="34" charset="-122"/>
                <a:cs typeface="Arial" pitchFamily="34" charset="-120"/>
              </a:rPr>
              <a:t>Evaluate</a:t>
            </a:r>
            <a:endParaRPr lang="en-US" sz="1600" dirty="0"/>
          </a:p>
          <a:p>
            <a:pPr indent="0" marL="0">
              <a:buNone/>
            </a:pPr>
            <a:r>
              <a:rPr lang="en-US" sz="1400" dirty="0">
                <a:solidFill>
                  <a:srgbClr val="3A4560"/>
                </a:solidFill>
                <a:latin typeface="Arial" pitchFamily="34" charset="0"/>
                <a:ea typeface="Arial" pitchFamily="34" charset="-122"/>
                <a:cs typeface="Arial" pitchFamily="34" charset="-120"/>
              </a:rPr>
              <a:t>trigger suppression and clean utility</a:t>
            </a:r>
            <a:endParaRPr lang="en-US" sz="1600" dirty="0"/>
          </a:p>
        </p:txBody>
      </p:sp>
      <p:sp>
        <p:nvSpPr>
          <p:cNvPr id="14" name="Shape 12"/>
          <p:cNvSpPr txBox="1"/>
          <p:nvPr/>
        </p:nvSpPr>
        <p:spPr>
          <a:xfrm>
            <a:off x="548640" y="2743200"/>
            <a:ext cx="5468112" cy="1691640"/>
          </a:xfrm>
          <a:prstGeom prst="roundRect">
            <a:avLst>
              <a:gd name="adj" fmla="val 4324"/>
            </a:avLst>
          </a:prstGeom>
          <a:solidFill>
            <a:srgbClr val="F4F6F9"/>
          </a:solidFill>
          <a:ln/>
        </p:spPr>
      </p:sp>
      <p:sp>
        <p:nvSpPr>
          <p:cNvPr id="15" name="Text 13"/>
          <p:cNvSpPr txBox="1"/>
          <p:nvPr/>
        </p:nvSpPr>
        <p:spPr>
          <a:xfrm>
            <a:off x="822960" y="2852928"/>
            <a:ext cx="4937760" cy="320040"/>
          </a:xfrm>
          <a:prstGeom prst="rect">
            <a:avLst/>
          </a:prstGeom>
          <a:noFill/>
          <a:ln/>
        </p:spPr>
        <p:txBody>
          <a:bodyPr wrap="square" lIns="0" tIns="0" rIns="0" bIns="0" rtlCol="0" anchor="t"/>
          <a:lstStyle/>
          <a:p>
            <a:pPr indent="0" marL="0">
              <a:buNone/>
            </a:pPr>
            <a:r>
              <a:rPr lang="en-US" sz="1600" b="1" dirty="0">
                <a:solidFill>
                  <a:srgbClr val="14213D"/>
                </a:solidFill>
                <a:latin typeface="Arial" pitchFamily="34" charset="0"/>
                <a:ea typeface="Arial" pitchFamily="34" charset="-122"/>
                <a:cs typeface="Arial" pitchFamily="34" charset="-120"/>
              </a:rPr>
              <a:t>IID</a:t>
            </a:r>
            <a:endParaRPr lang="en-US" sz="1600" dirty="0"/>
          </a:p>
        </p:txBody>
      </p:sp>
      <p:sp>
        <p:nvSpPr>
          <p:cNvPr id="16" name="Text 14"/>
          <p:cNvSpPr txBox="1"/>
          <p:nvPr/>
        </p:nvSpPr>
        <p:spPr>
          <a:xfrm>
            <a:off x="822960" y="3246120"/>
            <a:ext cx="2377440" cy="1097280"/>
          </a:xfrm>
          <a:prstGeom prst="rect">
            <a:avLst/>
          </a:prstGeom>
          <a:noFill/>
          <a:ln/>
        </p:spPr>
        <p:txBody>
          <a:bodyPr wrap="square" lIns="0" tIns="0" rIns="0" bIns="0" rtlCol="0" anchor="t"/>
          <a:lstStyle/>
          <a:p>
            <a:pPr indent="0" marL="0">
              <a:buNone/>
            </a:pPr>
            <a:r>
              <a:rPr lang="en-US" sz="3600" b="1" dirty="0">
                <a:solidFill>
                  <a:srgbClr val="A85500"/>
                </a:solidFill>
                <a:latin typeface="Arial" pitchFamily="34" charset="0"/>
                <a:ea typeface="Arial" pitchFamily="34" charset="-122"/>
                <a:cs typeface="Arial" pitchFamily="34" charset="-120"/>
              </a:rPr>
              <a:t>66.88%</a:t>
            </a:r>
            <a:endParaRPr lang="en-US" sz="1600" dirty="0"/>
          </a:p>
          <a:p>
            <a:pPr indent="0" marL="0">
              <a:buNone/>
            </a:pPr>
            <a:r>
              <a:rPr lang="en-US" sz="1400" dirty="0">
                <a:solidFill>
                  <a:srgbClr val="6B7280"/>
                </a:solidFill>
                <a:latin typeface="Arial" pitchFamily="34" charset="0"/>
                <a:ea typeface="Arial" pitchFamily="34" charset="-122"/>
                <a:cs typeface="Arial" pitchFamily="34" charset="-120"/>
              </a:rPr>
              <a:t>clean accuracy</a:t>
            </a:r>
            <a:endParaRPr lang="en-US" sz="1600" dirty="0"/>
          </a:p>
        </p:txBody>
      </p:sp>
      <p:sp>
        <p:nvSpPr>
          <p:cNvPr id="17" name="Text 15"/>
          <p:cNvSpPr txBox="1"/>
          <p:nvPr/>
        </p:nvSpPr>
        <p:spPr>
          <a:xfrm>
            <a:off x="3474720" y="3246120"/>
            <a:ext cx="2377440" cy="1097280"/>
          </a:xfrm>
          <a:prstGeom prst="rect">
            <a:avLst/>
          </a:prstGeom>
          <a:noFill/>
          <a:ln/>
        </p:spPr>
        <p:txBody>
          <a:bodyPr wrap="square" lIns="0" tIns="0" rIns="0" bIns="0" rtlCol="0" anchor="t"/>
          <a:lstStyle/>
          <a:p>
            <a:pPr indent="0" marL="0">
              <a:buNone/>
            </a:pPr>
            <a:r>
              <a:rPr lang="en-US" sz="3600" b="1" dirty="0">
                <a:solidFill>
                  <a:srgbClr val="14213D"/>
                </a:solidFill>
                <a:latin typeface="Arial" pitchFamily="34" charset="0"/>
                <a:ea typeface="Arial" pitchFamily="34" charset="-122"/>
                <a:cs typeface="Arial" pitchFamily="34" charset="-120"/>
              </a:rPr>
              <a:t>0.24%</a:t>
            </a:r>
            <a:endParaRPr lang="en-US" sz="1600" dirty="0"/>
          </a:p>
          <a:p>
            <a:pPr indent="0" marL="0">
              <a:buNone/>
            </a:pPr>
            <a:r>
              <a:rPr lang="en-US" sz="1400" dirty="0">
                <a:solidFill>
                  <a:srgbClr val="6B7280"/>
                </a:solidFill>
                <a:latin typeface="Arial" pitchFamily="34" charset="0"/>
                <a:ea typeface="Arial" pitchFamily="34" charset="-122"/>
                <a:cs typeface="Arial" pitchFamily="34" charset="-120"/>
              </a:rPr>
              <a:t>ASR/TTR</a:t>
            </a:r>
            <a:endParaRPr lang="en-US" sz="1600" dirty="0"/>
          </a:p>
        </p:txBody>
      </p:sp>
      <p:sp>
        <p:nvSpPr>
          <p:cNvPr id="18" name="Shape 16"/>
          <p:cNvSpPr txBox="1"/>
          <p:nvPr/>
        </p:nvSpPr>
        <p:spPr>
          <a:xfrm>
            <a:off x="6172200" y="2743200"/>
            <a:ext cx="5468112" cy="1691640"/>
          </a:xfrm>
          <a:prstGeom prst="roundRect">
            <a:avLst>
              <a:gd name="adj" fmla="val 4324"/>
            </a:avLst>
          </a:prstGeom>
          <a:solidFill>
            <a:srgbClr val="F4F6F9"/>
          </a:solidFill>
          <a:ln/>
        </p:spPr>
      </p:sp>
      <p:sp>
        <p:nvSpPr>
          <p:cNvPr id="19" name="Text 17"/>
          <p:cNvSpPr txBox="1"/>
          <p:nvPr/>
        </p:nvSpPr>
        <p:spPr>
          <a:xfrm>
            <a:off x="6446520" y="2852928"/>
            <a:ext cx="4937760" cy="320040"/>
          </a:xfrm>
          <a:prstGeom prst="rect">
            <a:avLst/>
          </a:prstGeom>
          <a:noFill/>
          <a:ln/>
        </p:spPr>
        <p:txBody>
          <a:bodyPr wrap="square" lIns="0" tIns="0" rIns="0" bIns="0" rtlCol="0" anchor="t"/>
          <a:lstStyle/>
          <a:p>
            <a:pPr indent="0" marL="0">
              <a:buNone/>
            </a:pPr>
            <a:r>
              <a:rPr lang="en-US" sz="1600" b="1" dirty="0">
                <a:solidFill>
                  <a:srgbClr val="14213D"/>
                </a:solidFill>
                <a:latin typeface="Arial" pitchFamily="34" charset="0"/>
                <a:ea typeface="Arial" pitchFamily="34" charset="-122"/>
                <a:cs typeface="Arial" pitchFamily="34" charset="-120"/>
              </a:rPr>
              <a:t>Non-IID · one saved partition</a:t>
            </a:r>
            <a:endParaRPr lang="en-US" sz="1600" dirty="0"/>
          </a:p>
        </p:txBody>
      </p:sp>
      <p:sp>
        <p:nvSpPr>
          <p:cNvPr id="20" name="Text 18"/>
          <p:cNvSpPr txBox="1"/>
          <p:nvPr/>
        </p:nvSpPr>
        <p:spPr>
          <a:xfrm>
            <a:off x="6446520" y="3246120"/>
            <a:ext cx="2377440" cy="1097280"/>
          </a:xfrm>
          <a:prstGeom prst="rect">
            <a:avLst/>
          </a:prstGeom>
          <a:noFill/>
          <a:ln/>
        </p:spPr>
        <p:txBody>
          <a:bodyPr wrap="square" lIns="0" tIns="0" rIns="0" bIns="0" rtlCol="0" anchor="t"/>
          <a:lstStyle/>
          <a:p>
            <a:pPr indent="0" marL="0">
              <a:buNone/>
            </a:pPr>
            <a:r>
              <a:rPr lang="en-US" sz="3600" b="1" dirty="0">
                <a:solidFill>
                  <a:srgbClr val="A85500"/>
                </a:solidFill>
                <a:latin typeface="Arial" pitchFamily="34" charset="0"/>
                <a:ea typeface="Arial" pitchFamily="34" charset="-122"/>
                <a:cs typeface="Arial" pitchFamily="34" charset="-120"/>
              </a:rPr>
              <a:t>28.04%</a:t>
            </a:r>
            <a:endParaRPr lang="en-US" sz="1600" dirty="0"/>
          </a:p>
          <a:p>
            <a:pPr indent="0" marL="0">
              <a:buNone/>
            </a:pPr>
            <a:r>
              <a:rPr lang="en-US" sz="1400" dirty="0">
                <a:solidFill>
                  <a:srgbClr val="6B7280"/>
                </a:solidFill>
                <a:latin typeface="Arial" pitchFamily="34" charset="0"/>
                <a:ea typeface="Arial" pitchFamily="34" charset="-122"/>
                <a:cs typeface="Arial" pitchFamily="34" charset="-120"/>
              </a:rPr>
              <a:t>clean accuracy</a:t>
            </a:r>
            <a:endParaRPr lang="en-US" sz="1600" dirty="0"/>
          </a:p>
        </p:txBody>
      </p:sp>
      <p:sp>
        <p:nvSpPr>
          <p:cNvPr id="21" name="Text 19"/>
          <p:cNvSpPr txBox="1"/>
          <p:nvPr/>
        </p:nvSpPr>
        <p:spPr>
          <a:xfrm>
            <a:off x="9098280" y="3246120"/>
            <a:ext cx="2377440" cy="1097280"/>
          </a:xfrm>
          <a:prstGeom prst="rect">
            <a:avLst/>
          </a:prstGeom>
          <a:noFill/>
          <a:ln/>
        </p:spPr>
        <p:txBody>
          <a:bodyPr wrap="square" lIns="0" tIns="0" rIns="0" bIns="0" rtlCol="0" anchor="t"/>
          <a:lstStyle/>
          <a:p>
            <a:pPr indent="0" marL="0">
              <a:buNone/>
            </a:pPr>
            <a:r>
              <a:rPr lang="en-US" sz="3600" b="1" dirty="0">
                <a:solidFill>
                  <a:srgbClr val="14213D"/>
                </a:solidFill>
                <a:latin typeface="Arial" pitchFamily="34" charset="0"/>
                <a:ea typeface="Arial" pitchFamily="34" charset="-122"/>
                <a:cs typeface="Arial" pitchFamily="34" charset="-120"/>
              </a:rPr>
              <a:t>0.87%</a:t>
            </a:r>
            <a:endParaRPr lang="en-US" sz="1600" dirty="0"/>
          </a:p>
          <a:p>
            <a:pPr indent="0" marL="0">
              <a:buNone/>
            </a:pPr>
            <a:r>
              <a:rPr lang="en-US" sz="1400" dirty="0">
                <a:solidFill>
                  <a:srgbClr val="6B7280"/>
                </a:solidFill>
                <a:latin typeface="Arial" pitchFamily="34" charset="0"/>
                <a:ea typeface="Arial" pitchFamily="34" charset="-122"/>
                <a:cs typeface="Arial" pitchFamily="34" charset="-120"/>
              </a:rPr>
              <a:t>ASR/TTR</a:t>
            </a:r>
            <a:endParaRPr lang="en-US" sz="1600" dirty="0"/>
          </a:p>
        </p:txBody>
      </p:sp>
      <p:sp>
        <p:nvSpPr>
          <p:cNvPr id="22" name="Text 20"/>
          <p:cNvSpPr txBox="1"/>
          <p:nvPr/>
        </p:nvSpPr>
        <p:spPr>
          <a:xfrm>
            <a:off x="548640" y="4663440"/>
            <a:ext cx="11094415" cy="411480"/>
          </a:xfrm>
          <a:prstGeom prst="rect">
            <a:avLst/>
          </a:prstGeom>
          <a:noFill/>
          <a:ln/>
        </p:spPr>
        <p:txBody>
          <a:bodyPr wrap="square" lIns="0" tIns="0" rIns="0" bIns="0" rtlCol="0" anchor="t"/>
          <a:lstStyle/>
          <a:p>
            <a:pPr indent="0" marL="0">
              <a:buNone/>
            </a:pPr>
            <a:r>
              <a:rPr lang="en-US" sz="2100" b="1" dirty="0">
                <a:solidFill>
                  <a:srgbClr val="14213D"/>
                </a:solidFill>
                <a:latin typeface="Arial" pitchFamily="34" charset="0"/>
                <a:ea typeface="Arial" pitchFamily="34" charset="-122"/>
                <a:cs typeface="Arial" pitchFamily="34" charset="-120"/>
              </a:rPr>
              <a:t>Very low TTR alone is not enough if utility collapses.</a:t>
            </a:r>
            <a:endParaRPr lang="en-US" sz="2100" dirty="0"/>
          </a:p>
        </p:txBody>
      </p:sp>
      <p:sp>
        <p:nvSpPr>
          <p:cNvPr id="23" name="Text 21"/>
          <p:cNvSpPr txBox="1"/>
          <p:nvPr/>
        </p:nvSpPr>
        <p:spPr>
          <a:xfrm>
            <a:off x="548640" y="5257800"/>
            <a:ext cx="11094415" cy="777240"/>
          </a:xfrm>
          <a:prstGeom prst="roundRect">
            <a:avLst>
              <a:gd name="adj" fmla="val 9412"/>
            </a:avLst>
          </a:prstGeom>
          <a:solidFill>
            <a:srgbClr val="FDF1DF"/>
          </a:solidFill>
          <a:ln w="15875">
            <a:solidFill>
              <a:srgbClr val="E8890C"/>
            </a:solidFill>
            <a:prstDash val="dash"/>
          </a:ln>
        </p:spPr>
        <p:txBody>
          <a:bodyPr wrap="square" lIns="152400" tIns="152400" rIns="152400" bIns="152400" rtlCol="0" anchor="ctr"/>
          <a:lstStyle/>
          <a:p>
            <a:pPr algn="l" indent="0" marL="0">
              <a:buNone/>
            </a:pPr>
            <a:r>
              <a:rPr lang="en-US" sz="1400" dirty="0">
                <a:solidFill>
                  <a:srgbClr val="3A4560"/>
                </a:solidFill>
                <a:latin typeface="Arial" pitchFamily="34" charset="0"/>
                <a:ea typeface="Arial" pitchFamily="34" charset="-122"/>
                <a:cs typeface="Arial" pitchFamily="34" charset="-120"/>
              </a:rPr>
              <a:t>In the saved Non-IID M_sub run, Cat, Deer, Horse and Truck each had 0% clean test accuracy and zero predicted labels on the test set. This describes this run; it is not claimed as universal behavior.</a:t>
            </a:r>
            <a:endParaRPr lang="en-US" sz="140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A8394"/>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1672" cy="731520"/>
          </a:xfrm>
          <a:prstGeom prst="rect">
            <a:avLst/>
          </a:prstGeom>
          <a:noFill/>
          <a:ln/>
        </p:spPr>
        <p:txBody>
          <a:bodyPr wrap="square" lIns="0" tIns="0" rIns="0" bIns="0" rtlCol="0" anchor="ctr"/>
          <a:lstStyle/>
          <a:p>
            <a:pPr algn="l" indent="0" marL="0">
              <a:buNone/>
            </a:pPr>
            <a:r>
              <a:rPr lang="en-US" sz="3000" b="1" dirty="0">
                <a:solidFill>
                  <a:srgbClr val="14213D"/>
                </a:solidFill>
                <a:latin typeface="Arial" pitchFamily="34" charset="0"/>
                <a:ea typeface="Arial" pitchFamily="34" charset="-122"/>
                <a:cs typeface="Arial" pitchFamily="34" charset="-120"/>
              </a:rPr>
              <a:t>Baseline 2: knowledge distillation recovery</a:t>
            </a:r>
            <a:endParaRPr lang="en-US" sz="3000" dirty="0"/>
          </a:p>
        </p:txBody>
      </p:sp>
      <p:sp>
        <p:nvSpPr>
          <p:cNvPr id="3" name="Text 1"/>
          <p:cNvSpPr txBox="1"/>
          <p:nvPr/>
        </p:nvSpPr>
        <p:spPr>
          <a:xfrm>
            <a:off x="548640" y="2651760"/>
            <a:ext cx="2286000" cy="1188720"/>
          </a:xfrm>
          <a:prstGeom prst="roundRect">
            <a:avLst>
              <a:gd name="adj" fmla="val 6154"/>
            </a:avLst>
          </a:prstGeom>
          <a:solidFill>
            <a:srgbClr val="FFFFFF"/>
          </a:solidFill>
          <a:ln w="15875">
            <a:solidFill>
              <a:srgbClr val="6B7C93"/>
            </a:solidFill>
            <a:prstDash val="solid"/>
          </a:ln>
        </p:spPr>
        <p:txBody>
          <a:bodyPr wrap="square" lIns="101600" tIns="101600" rIns="101600" bIns="101600" rtlCol="0" anchor="ctr"/>
          <a:lstStyle/>
          <a:p>
            <a:pPr algn="ctr" indent="0" marL="0">
              <a:buNone/>
            </a:pPr>
            <a:r>
              <a:rPr lang="en-US" sz="1600" b="1" dirty="0">
                <a:solidFill>
                  <a:srgbClr val="14213D"/>
                </a:solidFill>
                <a:latin typeface="Arial" pitchFamily="34" charset="0"/>
                <a:ea typeface="Arial" pitchFamily="34" charset="-122"/>
                <a:cs typeface="Arial" pitchFamily="34" charset="-120"/>
              </a:rPr>
              <a:t>Proxy data</a:t>
            </a:r>
            <a:endParaRPr lang="en-US" sz="1600" dirty="0"/>
          </a:p>
          <a:p>
            <a:pPr algn="ctr" indent="0" marL="0">
              <a:buNone/>
            </a:pPr>
            <a:r>
              <a:rPr lang="en-US" sz="1400" dirty="0">
                <a:solidFill>
                  <a:srgbClr val="14213D"/>
                </a:solidFill>
                <a:latin typeface="Arial" pitchFamily="34" charset="0"/>
                <a:ea typeface="Arial" pitchFamily="34" charset="-122"/>
                <a:cs typeface="Arial" pitchFamily="34" charset="-120"/>
              </a:rPr>
              <a:t>CIFAR-100 examples</a:t>
            </a:r>
            <a:endParaRPr lang="en-US" sz="1600" dirty="0"/>
          </a:p>
        </p:txBody>
      </p:sp>
      <p:sp>
        <p:nvSpPr>
          <p:cNvPr id="4" name="Text 2"/>
          <p:cNvSpPr txBox="1"/>
          <p:nvPr/>
        </p:nvSpPr>
        <p:spPr>
          <a:xfrm>
            <a:off x="3749040" y="1371600"/>
            <a:ext cx="3200400" cy="1188720"/>
          </a:xfrm>
          <a:prstGeom prst="roundRect">
            <a:avLst>
              <a:gd name="adj" fmla="val 6154"/>
            </a:avLst>
          </a:prstGeom>
          <a:solidFill>
            <a:srgbClr val="FCE9EB"/>
          </a:solidFill>
          <a:ln w="25400">
            <a:solidFill>
              <a:srgbClr val="D62839"/>
            </a:solidFill>
            <a:prstDash val="solid"/>
          </a:ln>
        </p:spPr>
        <p:txBody>
          <a:bodyPr wrap="square" lIns="101600" tIns="101600" rIns="101600" bIns="101600" rtlCol="0" anchor="ctr"/>
          <a:lstStyle/>
          <a:p>
            <a:pPr algn="ctr" indent="0" marL="0">
              <a:buNone/>
            </a:pPr>
            <a:r>
              <a:rPr lang="en-US" sz="1700" b="1" dirty="0">
                <a:solidFill>
                  <a:srgbClr val="B3001B"/>
                </a:solidFill>
                <a:latin typeface="Arial" pitchFamily="34" charset="0"/>
                <a:ea typeface="Arial" pitchFamily="34" charset="-122"/>
                <a:cs typeface="Arial" pitchFamily="34" charset="-120"/>
              </a:rPr>
              <a:t>Teacher: M_attack</a:t>
            </a:r>
            <a:endParaRPr lang="en-US" sz="1600" dirty="0"/>
          </a:p>
          <a:p>
            <a:pPr algn="ctr" indent="0" marL="0">
              <a:buNone/>
            </a:pPr>
            <a:r>
              <a:rPr lang="en-US" sz="1400" dirty="0">
                <a:solidFill>
                  <a:srgbClr val="14213D"/>
                </a:solidFill>
                <a:latin typeface="Arial" pitchFamily="34" charset="0"/>
                <a:ea typeface="Arial" pitchFamily="34" charset="-122"/>
                <a:cs typeface="Arial" pitchFamily="34" charset="-120"/>
              </a:rPr>
              <a:t>produces output probabilities</a:t>
            </a:r>
            <a:endParaRPr lang="en-US" sz="1600" dirty="0"/>
          </a:p>
        </p:txBody>
      </p:sp>
      <p:sp>
        <p:nvSpPr>
          <p:cNvPr id="5" name="Text 3"/>
          <p:cNvSpPr txBox="1"/>
          <p:nvPr/>
        </p:nvSpPr>
        <p:spPr>
          <a:xfrm>
            <a:off x="3749040" y="4114800"/>
            <a:ext cx="3200400" cy="1417320"/>
          </a:xfrm>
          <a:prstGeom prst="roundRect">
            <a:avLst>
              <a:gd name="adj" fmla="val 5161"/>
            </a:avLst>
          </a:prstGeom>
          <a:solidFill>
            <a:srgbClr val="EFE8F8"/>
          </a:solidFill>
          <a:ln w="31750">
            <a:solidFill>
              <a:srgbClr val="7B4FB8"/>
            </a:solidFill>
            <a:prstDash val="solid"/>
          </a:ln>
        </p:spPr>
        <p:txBody>
          <a:bodyPr wrap="square" lIns="101600" tIns="101600" rIns="101600" bIns="101600" rtlCol="0" anchor="ctr"/>
          <a:lstStyle/>
          <a:p>
            <a:pPr algn="ctr" indent="0" marL="0">
              <a:buNone/>
            </a:pPr>
            <a:r>
              <a:rPr lang="en-US" sz="1700" b="1" dirty="0">
                <a:solidFill>
                  <a:srgbClr val="5E3499"/>
                </a:solidFill>
                <a:latin typeface="Arial" pitchFamily="34" charset="0"/>
                <a:ea typeface="Arial" pitchFamily="34" charset="-122"/>
                <a:cs typeface="Arial" pitchFamily="34" charset="-120"/>
              </a:rPr>
              <a:t>Student → M_KD</a:t>
            </a:r>
            <a:endParaRPr lang="en-US" sz="1600" dirty="0"/>
          </a:p>
          <a:p>
            <a:pPr algn="ctr" indent="0" marL="0">
              <a:buNone/>
            </a:pPr>
            <a:r>
              <a:rPr lang="en-US" sz="1400" dirty="0">
                <a:solidFill>
                  <a:srgbClr val="14213D"/>
                </a:solidFill>
                <a:latin typeface="Arial" pitchFamily="34" charset="0"/>
                <a:ea typeface="Arial" pitchFamily="34" charset="-122"/>
                <a:cs typeface="Arial" pitchFamily="34" charset="-120"/>
              </a:rPr>
              <a:t>starts from M_sub, learns by distillation</a:t>
            </a:r>
            <a:endParaRPr lang="en-US" sz="1600" dirty="0"/>
          </a:p>
        </p:txBody>
      </p:sp>
      <p:sp>
        <p:nvSpPr>
          <p:cNvPr id="6" name="Shape 4"/>
          <p:cNvSpPr/>
          <p:nvPr/>
        </p:nvSpPr>
        <p:spPr>
          <a:xfrm>
            <a:off x="2834640" y="3108960"/>
            <a:ext cx="457200" cy="0"/>
          </a:xfrm>
          <a:prstGeom prst="line">
            <a:avLst/>
          </a:prstGeom>
          <a:noFill/>
          <a:ln w="28575">
            <a:solidFill>
              <a:srgbClr val="6B7C93"/>
            </a:solidFill>
            <a:prstDash val="solid"/>
          </a:ln>
        </p:spPr>
      </p:sp>
      <p:sp>
        <p:nvSpPr>
          <p:cNvPr id="7" name="Shape 5"/>
          <p:cNvSpPr/>
          <p:nvPr/>
        </p:nvSpPr>
        <p:spPr>
          <a:xfrm flipV="1">
            <a:off x="3291840" y="1965960"/>
            <a:ext cx="0" cy="1143000"/>
          </a:xfrm>
          <a:prstGeom prst="line">
            <a:avLst/>
          </a:prstGeom>
          <a:noFill/>
          <a:ln w="28575">
            <a:solidFill>
              <a:srgbClr val="6B7C93"/>
            </a:solidFill>
            <a:prstDash val="solid"/>
          </a:ln>
        </p:spPr>
      </p:sp>
      <p:sp>
        <p:nvSpPr>
          <p:cNvPr id="8" name="Shape 6"/>
          <p:cNvSpPr/>
          <p:nvPr/>
        </p:nvSpPr>
        <p:spPr>
          <a:xfrm>
            <a:off x="3291840" y="1965960"/>
            <a:ext cx="411480" cy="0"/>
          </a:xfrm>
          <a:prstGeom prst="line">
            <a:avLst/>
          </a:prstGeom>
          <a:noFill/>
          <a:ln w="28575">
            <a:solidFill>
              <a:srgbClr val="6B7C93"/>
            </a:solidFill>
            <a:prstDash val="solid"/>
            <a:tailEnd type="triangle"/>
          </a:ln>
        </p:spPr>
      </p:sp>
      <p:sp>
        <p:nvSpPr>
          <p:cNvPr id="9" name="Shape 7"/>
          <p:cNvSpPr/>
          <p:nvPr/>
        </p:nvSpPr>
        <p:spPr>
          <a:xfrm>
            <a:off x="2834640" y="3383280"/>
            <a:ext cx="457200" cy="0"/>
          </a:xfrm>
          <a:prstGeom prst="line">
            <a:avLst/>
          </a:prstGeom>
          <a:noFill/>
          <a:ln w="28575">
            <a:solidFill>
              <a:srgbClr val="6B7C93"/>
            </a:solidFill>
            <a:prstDash val="solid"/>
          </a:ln>
        </p:spPr>
      </p:sp>
      <p:sp>
        <p:nvSpPr>
          <p:cNvPr id="10" name="Shape 8"/>
          <p:cNvSpPr/>
          <p:nvPr/>
        </p:nvSpPr>
        <p:spPr>
          <a:xfrm>
            <a:off x="3291840" y="3383280"/>
            <a:ext cx="0" cy="1417320"/>
          </a:xfrm>
          <a:prstGeom prst="line">
            <a:avLst/>
          </a:prstGeom>
          <a:noFill/>
          <a:ln w="28575">
            <a:solidFill>
              <a:srgbClr val="6B7C93"/>
            </a:solidFill>
            <a:prstDash val="solid"/>
          </a:ln>
        </p:spPr>
      </p:sp>
      <p:sp>
        <p:nvSpPr>
          <p:cNvPr id="11" name="Shape 9"/>
          <p:cNvSpPr/>
          <p:nvPr/>
        </p:nvSpPr>
        <p:spPr>
          <a:xfrm>
            <a:off x="3291840" y="4800600"/>
            <a:ext cx="411480" cy="0"/>
          </a:xfrm>
          <a:prstGeom prst="line">
            <a:avLst/>
          </a:prstGeom>
          <a:noFill/>
          <a:ln w="28575">
            <a:solidFill>
              <a:srgbClr val="6B7C93"/>
            </a:solidFill>
            <a:prstDash val="solid"/>
            <a:tailEnd type="triangle"/>
          </a:ln>
        </p:spPr>
      </p:sp>
      <p:sp>
        <p:nvSpPr>
          <p:cNvPr id="12" name="Shape 10"/>
          <p:cNvSpPr/>
          <p:nvPr/>
        </p:nvSpPr>
        <p:spPr>
          <a:xfrm>
            <a:off x="5349240" y="2606040"/>
            <a:ext cx="0" cy="1463040"/>
          </a:xfrm>
          <a:prstGeom prst="line">
            <a:avLst/>
          </a:prstGeom>
          <a:noFill/>
          <a:ln w="38100">
            <a:solidFill>
              <a:srgbClr val="7B4FB8"/>
            </a:solidFill>
            <a:prstDash val="solid"/>
            <a:tailEnd type="triangle"/>
          </a:ln>
        </p:spPr>
      </p:sp>
      <p:sp>
        <p:nvSpPr>
          <p:cNvPr id="13" name="Text 11"/>
          <p:cNvSpPr txBox="1"/>
          <p:nvPr/>
        </p:nvSpPr>
        <p:spPr>
          <a:xfrm>
            <a:off x="5486400" y="3154680"/>
            <a:ext cx="1645920" cy="320040"/>
          </a:xfrm>
          <a:prstGeom prst="rect">
            <a:avLst/>
          </a:prstGeom>
          <a:noFill/>
          <a:ln/>
        </p:spPr>
        <p:txBody>
          <a:bodyPr wrap="square" lIns="0" tIns="0" rIns="0" bIns="0" rtlCol="0" anchor="t"/>
          <a:lstStyle/>
          <a:p>
            <a:pPr indent="0" marL="0">
              <a:buNone/>
            </a:pPr>
            <a:r>
              <a:rPr lang="en-US" sz="1400" b="1" dirty="0">
                <a:solidFill>
                  <a:srgbClr val="5E3499"/>
                </a:solidFill>
                <a:latin typeface="Arial" pitchFamily="34" charset="0"/>
                <a:ea typeface="Arial" pitchFamily="34" charset="-122"/>
                <a:cs typeface="Arial" pitchFamily="34" charset="-120"/>
              </a:rPr>
              <a:t>soft targets</a:t>
            </a:r>
            <a:endParaRPr lang="en-US" sz="1400" dirty="0"/>
          </a:p>
        </p:txBody>
      </p:sp>
      <p:sp>
        <p:nvSpPr>
          <p:cNvPr id="14" name="Text 12"/>
          <p:cNvSpPr txBox="1"/>
          <p:nvPr/>
        </p:nvSpPr>
        <p:spPr>
          <a:xfrm>
            <a:off x="548640" y="5669280"/>
            <a:ext cx="6583680" cy="365760"/>
          </a:xfrm>
          <a:prstGeom prst="rect">
            <a:avLst/>
          </a:prstGeom>
          <a:noFill/>
          <a:ln/>
        </p:spPr>
        <p:txBody>
          <a:bodyPr wrap="square" lIns="0" tIns="0" rIns="0" bIns="0" rtlCol="0" anchor="t"/>
          <a:lstStyle/>
          <a:p>
            <a:pPr indent="0" marL="0">
              <a:buNone/>
            </a:pPr>
            <a:r>
              <a:rPr lang="en-US" sz="1600" b="1" dirty="0">
                <a:solidFill>
                  <a:srgbClr val="5E3499"/>
                </a:solidFill>
                <a:latin typeface="Arial" pitchFamily="34" charset="0"/>
                <a:ea typeface="Arial" pitchFamily="34" charset="-122"/>
                <a:cs typeface="Arial" pitchFamily="34" charset="-120"/>
              </a:rPr>
              <a:t>An empirical recovery step, not a guarantee.</a:t>
            </a:r>
            <a:endParaRPr lang="en-US" sz="1600" dirty="0"/>
          </a:p>
        </p:txBody>
      </p:sp>
      <p:sp>
        <p:nvSpPr>
          <p:cNvPr id="15" name="Shape 13"/>
          <p:cNvSpPr txBox="1"/>
          <p:nvPr/>
        </p:nvSpPr>
        <p:spPr>
          <a:xfrm>
            <a:off x="7680960" y="1371600"/>
            <a:ext cx="3959352" cy="1828800"/>
          </a:xfrm>
          <a:prstGeom prst="roundRect">
            <a:avLst>
              <a:gd name="adj" fmla="val 4000"/>
            </a:avLst>
          </a:prstGeom>
          <a:solidFill>
            <a:srgbClr val="EFE8F8"/>
          </a:solidFill>
          <a:ln w="15875">
            <a:solidFill>
              <a:srgbClr val="7B4FB8"/>
            </a:solidFill>
            <a:prstDash val="solid"/>
          </a:ln>
        </p:spPr>
      </p:sp>
      <p:sp>
        <p:nvSpPr>
          <p:cNvPr id="16" name="Text 14"/>
          <p:cNvSpPr txBox="1"/>
          <p:nvPr/>
        </p:nvSpPr>
        <p:spPr>
          <a:xfrm>
            <a:off x="7955280" y="1508760"/>
            <a:ext cx="3474720" cy="320040"/>
          </a:xfrm>
          <a:prstGeom prst="rect">
            <a:avLst/>
          </a:prstGeom>
          <a:noFill/>
          <a:ln/>
        </p:spPr>
        <p:txBody>
          <a:bodyPr wrap="square" lIns="0" tIns="0" rIns="0" bIns="0" rtlCol="0" anchor="t"/>
          <a:lstStyle/>
          <a:p>
            <a:pPr indent="0" marL="0">
              <a:buNone/>
            </a:pPr>
            <a:r>
              <a:rPr lang="en-US" sz="1600" b="1" dirty="0">
                <a:solidFill>
                  <a:srgbClr val="5E3499"/>
                </a:solidFill>
                <a:latin typeface="Arial" pitchFamily="34" charset="0"/>
                <a:ea typeface="Arial" pitchFamily="34" charset="-122"/>
                <a:cs typeface="Arial" pitchFamily="34" charset="-120"/>
              </a:rPr>
              <a:t>IID</a:t>
            </a:r>
            <a:endParaRPr lang="en-US" sz="1600" dirty="0"/>
          </a:p>
        </p:txBody>
      </p:sp>
      <p:sp>
        <p:nvSpPr>
          <p:cNvPr id="17" name="Text 15"/>
          <p:cNvSpPr txBox="1"/>
          <p:nvPr/>
        </p:nvSpPr>
        <p:spPr>
          <a:xfrm>
            <a:off x="7955280" y="1965960"/>
            <a:ext cx="1737360" cy="1280160"/>
          </a:xfrm>
          <a:prstGeom prst="rect">
            <a:avLst/>
          </a:prstGeom>
          <a:noFill/>
          <a:ln/>
        </p:spPr>
        <p:txBody>
          <a:bodyPr wrap="square" lIns="0" tIns="0" rIns="0" bIns="0" rtlCol="0" anchor="t"/>
          <a:lstStyle/>
          <a:p>
            <a:pPr indent="0" marL="0">
              <a:buNone/>
            </a:pPr>
            <a:r>
              <a:rPr lang="en-US" sz="3200" b="1" dirty="0">
                <a:solidFill>
                  <a:srgbClr val="5E3499"/>
                </a:solidFill>
                <a:latin typeface="Arial" pitchFamily="34" charset="0"/>
                <a:ea typeface="Arial" pitchFamily="34" charset="-122"/>
                <a:cs typeface="Arial" pitchFamily="34" charset="-120"/>
              </a:rPr>
              <a:t>72.82%</a:t>
            </a:r>
            <a:endParaRPr lang="en-US" sz="1600" dirty="0"/>
          </a:p>
          <a:p>
            <a:pPr indent="0" marL="0">
              <a:buNone/>
            </a:pPr>
            <a:r>
              <a:rPr lang="en-US" sz="1400" dirty="0">
                <a:solidFill>
                  <a:srgbClr val="6B7280"/>
                </a:solidFill>
                <a:latin typeface="Arial" pitchFamily="34" charset="0"/>
                <a:ea typeface="Arial" pitchFamily="34" charset="-122"/>
                <a:cs typeface="Arial" pitchFamily="34" charset="-120"/>
              </a:rPr>
              <a:t>clean accuracy</a:t>
            </a:r>
            <a:endParaRPr lang="en-US" sz="1600" dirty="0"/>
          </a:p>
        </p:txBody>
      </p:sp>
      <p:sp>
        <p:nvSpPr>
          <p:cNvPr id="18" name="Text 16"/>
          <p:cNvSpPr txBox="1"/>
          <p:nvPr/>
        </p:nvSpPr>
        <p:spPr>
          <a:xfrm>
            <a:off x="9784080" y="1965960"/>
            <a:ext cx="1737360" cy="1280160"/>
          </a:xfrm>
          <a:prstGeom prst="rect">
            <a:avLst/>
          </a:prstGeom>
          <a:noFill/>
          <a:ln/>
        </p:spPr>
        <p:txBody>
          <a:bodyPr wrap="square" lIns="0" tIns="0" rIns="0" bIns="0" rtlCol="0" anchor="t"/>
          <a:lstStyle/>
          <a:p>
            <a:pPr indent="0" marL="0">
              <a:buNone/>
            </a:pPr>
            <a:r>
              <a:rPr lang="en-US" sz="3200" b="1" dirty="0">
                <a:solidFill>
                  <a:srgbClr val="14213D"/>
                </a:solidFill>
                <a:latin typeface="Arial" pitchFamily="34" charset="0"/>
                <a:ea typeface="Arial" pitchFamily="34" charset="-122"/>
                <a:cs typeface="Arial" pitchFamily="34" charset="-120"/>
              </a:rPr>
              <a:t>2.40%</a:t>
            </a:r>
            <a:endParaRPr lang="en-US" sz="1600" dirty="0"/>
          </a:p>
          <a:p>
            <a:pPr indent="0" marL="0">
              <a:buNone/>
            </a:pPr>
            <a:r>
              <a:rPr lang="en-US" sz="1400" dirty="0">
                <a:solidFill>
                  <a:srgbClr val="6B7280"/>
                </a:solidFill>
                <a:latin typeface="Arial" pitchFamily="34" charset="0"/>
                <a:ea typeface="Arial" pitchFamily="34" charset="-122"/>
                <a:cs typeface="Arial" pitchFamily="34" charset="-120"/>
              </a:rPr>
              <a:t>ASR/TTR</a:t>
            </a:r>
            <a:endParaRPr lang="en-US" sz="1600" dirty="0"/>
          </a:p>
        </p:txBody>
      </p:sp>
      <p:sp>
        <p:nvSpPr>
          <p:cNvPr id="19" name="Shape 17"/>
          <p:cNvSpPr txBox="1"/>
          <p:nvPr/>
        </p:nvSpPr>
        <p:spPr>
          <a:xfrm>
            <a:off x="7680960" y="3383280"/>
            <a:ext cx="3959352" cy="1828800"/>
          </a:xfrm>
          <a:prstGeom prst="roundRect">
            <a:avLst>
              <a:gd name="adj" fmla="val 4000"/>
            </a:avLst>
          </a:prstGeom>
          <a:solidFill>
            <a:srgbClr val="EFE8F8"/>
          </a:solidFill>
          <a:ln w="15875">
            <a:solidFill>
              <a:srgbClr val="7B4FB8"/>
            </a:solidFill>
            <a:prstDash val="solid"/>
          </a:ln>
        </p:spPr>
      </p:sp>
      <p:sp>
        <p:nvSpPr>
          <p:cNvPr id="20" name="Text 18"/>
          <p:cNvSpPr txBox="1"/>
          <p:nvPr/>
        </p:nvSpPr>
        <p:spPr>
          <a:xfrm>
            <a:off x="7955280" y="3520440"/>
            <a:ext cx="3474720" cy="320040"/>
          </a:xfrm>
          <a:prstGeom prst="rect">
            <a:avLst/>
          </a:prstGeom>
          <a:noFill/>
          <a:ln/>
        </p:spPr>
        <p:txBody>
          <a:bodyPr wrap="square" lIns="0" tIns="0" rIns="0" bIns="0" rtlCol="0" anchor="t"/>
          <a:lstStyle/>
          <a:p>
            <a:pPr indent="0" marL="0">
              <a:buNone/>
            </a:pPr>
            <a:r>
              <a:rPr lang="en-US" sz="1600" b="1" dirty="0">
                <a:solidFill>
                  <a:srgbClr val="5E3499"/>
                </a:solidFill>
                <a:latin typeface="Arial" pitchFamily="34" charset="0"/>
                <a:ea typeface="Arial" pitchFamily="34" charset="-122"/>
                <a:cs typeface="Arial" pitchFamily="34" charset="-120"/>
              </a:rPr>
              <a:t>Non-IID · one saved partition</a:t>
            </a:r>
            <a:endParaRPr lang="en-US" sz="1600" dirty="0"/>
          </a:p>
        </p:txBody>
      </p:sp>
      <p:sp>
        <p:nvSpPr>
          <p:cNvPr id="21" name="Text 19"/>
          <p:cNvSpPr txBox="1"/>
          <p:nvPr/>
        </p:nvSpPr>
        <p:spPr>
          <a:xfrm>
            <a:off x="7955280" y="3977640"/>
            <a:ext cx="1737360" cy="1280160"/>
          </a:xfrm>
          <a:prstGeom prst="rect">
            <a:avLst/>
          </a:prstGeom>
          <a:noFill/>
          <a:ln/>
        </p:spPr>
        <p:txBody>
          <a:bodyPr wrap="square" lIns="0" tIns="0" rIns="0" bIns="0" rtlCol="0" anchor="t"/>
          <a:lstStyle/>
          <a:p>
            <a:pPr indent="0" marL="0">
              <a:buNone/>
            </a:pPr>
            <a:r>
              <a:rPr lang="en-US" sz="3200" b="1" dirty="0">
                <a:solidFill>
                  <a:srgbClr val="5E3499"/>
                </a:solidFill>
                <a:latin typeface="Arial" pitchFamily="34" charset="0"/>
                <a:ea typeface="Arial" pitchFamily="34" charset="-122"/>
                <a:cs typeface="Arial" pitchFamily="34" charset="-120"/>
              </a:rPr>
              <a:t>60.36%</a:t>
            </a:r>
            <a:endParaRPr lang="en-US" sz="1600" dirty="0"/>
          </a:p>
          <a:p>
            <a:pPr indent="0" marL="0">
              <a:buNone/>
            </a:pPr>
            <a:r>
              <a:rPr lang="en-US" sz="1400" dirty="0">
                <a:solidFill>
                  <a:srgbClr val="6B7280"/>
                </a:solidFill>
                <a:latin typeface="Arial" pitchFamily="34" charset="0"/>
                <a:ea typeface="Arial" pitchFamily="34" charset="-122"/>
                <a:cs typeface="Arial" pitchFamily="34" charset="-120"/>
              </a:rPr>
              <a:t>clean accuracy</a:t>
            </a:r>
            <a:endParaRPr lang="en-US" sz="1600" dirty="0"/>
          </a:p>
        </p:txBody>
      </p:sp>
      <p:sp>
        <p:nvSpPr>
          <p:cNvPr id="22" name="Text 20"/>
          <p:cNvSpPr txBox="1"/>
          <p:nvPr/>
        </p:nvSpPr>
        <p:spPr>
          <a:xfrm>
            <a:off x="9784080" y="3977640"/>
            <a:ext cx="1737360" cy="1280160"/>
          </a:xfrm>
          <a:prstGeom prst="rect">
            <a:avLst/>
          </a:prstGeom>
          <a:noFill/>
          <a:ln/>
        </p:spPr>
        <p:txBody>
          <a:bodyPr wrap="square" lIns="0" tIns="0" rIns="0" bIns="0" rtlCol="0" anchor="t"/>
          <a:lstStyle/>
          <a:p>
            <a:pPr indent="0" marL="0">
              <a:buNone/>
            </a:pPr>
            <a:r>
              <a:rPr lang="en-US" sz="3200" b="1" dirty="0">
                <a:solidFill>
                  <a:srgbClr val="14213D"/>
                </a:solidFill>
                <a:latin typeface="Arial" pitchFamily="34" charset="0"/>
                <a:ea typeface="Arial" pitchFamily="34" charset="-122"/>
                <a:cs typeface="Arial" pitchFamily="34" charset="-120"/>
              </a:rPr>
              <a:t>3.69%</a:t>
            </a:r>
            <a:endParaRPr lang="en-US" sz="1600" dirty="0"/>
          </a:p>
          <a:p>
            <a:pPr indent="0" marL="0">
              <a:buNone/>
            </a:pPr>
            <a:r>
              <a:rPr lang="en-US" sz="1400" dirty="0">
                <a:solidFill>
                  <a:srgbClr val="6B7280"/>
                </a:solidFill>
                <a:latin typeface="Arial" pitchFamily="34" charset="0"/>
                <a:ea typeface="Arial" pitchFamily="34" charset="-122"/>
                <a:cs typeface="Arial" pitchFamily="34" charset="-120"/>
              </a:rPr>
              <a:t>ASR/TTR</a:t>
            </a:r>
            <a:endParaRPr lang="en-US" sz="160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A8394"/>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1672" cy="731520"/>
          </a:xfrm>
          <a:prstGeom prst="rect">
            <a:avLst/>
          </a:prstGeom>
          <a:noFill/>
          <a:ln/>
        </p:spPr>
        <p:txBody>
          <a:bodyPr wrap="square" lIns="0" tIns="0" rIns="0" bIns="0" rtlCol="0" anchor="ctr"/>
          <a:lstStyle/>
          <a:p>
            <a:pPr algn="l" indent="0" marL="0">
              <a:buNone/>
            </a:pPr>
            <a:r>
              <a:rPr lang="en-US" sz="3000" b="1" dirty="0">
                <a:solidFill>
                  <a:srgbClr val="14213D"/>
                </a:solidFill>
                <a:latin typeface="Arial" pitchFamily="34" charset="0"/>
                <a:ea typeface="Arial" pitchFamily="34" charset="-122"/>
                <a:cs typeface="Arial" pitchFamily="34" charset="-120"/>
              </a:rPr>
              <a:t>FedEraser: reconstruct from retained clients</a:t>
            </a:r>
            <a:endParaRPr lang="en-US" sz="3000" dirty="0"/>
          </a:p>
        </p:txBody>
      </p:sp>
      <p:sp>
        <p:nvSpPr>
          <p:cNvPr id="3" name="Shape 1"/>
          <p:cNvSpPr txBox="1"/>
          <p:nvPr/>
        </p:nvSpPr>
        <p:spPr>
          <a:xfrm>
            <a:off x="548640" y="1325880"/>
            <a:ext cx="2542032" cy="1234440"/>
          </a:xfrm>
          <a:prstGeom prst="roundRect">
            <a:avLst>
              <a:gd name="adj" fmla="val 5926"/>
            </a:avLst>
          </a:prstGeom>
          <a:solidFill>
            <a:srgbClr val="E4F4F2"/>
          </a:solidFill>
          <a:ln w="25400">
            <a:solidFill>
              <a:srgbClr val="0B7A75"/>
            </a:solidFill>
            <a:prstDash val="solid"/>
          </a:ln>
        </p:spPr>
      </p:sp>
      <p:sp>
        <p:nvSpPr>
          <p:cNvPr id="4" name="Text 2"/>
          <p:cNvSpPr txBox="1"/>
          <p:nvPr/>
        </p:nvSpPr>
        <p:spPr>
          <a:xfrm>
            <a:off x="640080" y="1143000"/>
            <a:ext cx="365760" cy="365760"/>
          </a:xfrm>
          <a:prstGeom prst="ellipse">
            <a:avLst/>
          </a:prstGeom>
          <a:solidFill>
            <a:srgbClr val="0B7A75"/>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5" name="Text 3"/>
          <p:cNvSpPr txBox="1"/>
          <p:nvPr/>
        </p:nvSpPr>
        <p:spPr>
          <a:xfrm>
            <a:off x="685800" y="1600200"/>
            <a:ext cx="2286000" cy="914400"/>
          </a:xfrm>
          <a:prstGeom prst="rect">
            <a:avLst/>
          </a:prstGeom>
          <a:noFill/>
          <a:ln/>
        </p:spPr>
        <p:txBody>
          <a:bodyPr wrap="square" lIns="0" tIns="0" rIns="0" bIns="0" rtlCol="0" anchor="t"/>
          <a:lstStyle/>
          <a:p>
            <a:pPr indent="0" marL="0">
              <a:buNone/>
            </a:pPr>
            <a:r>
              <a:rPr lang="en-US" sz="1500" b="1" dirty="0">
                <a:solidFill>
                  <a:srgbClr val="0B7A75"/>
                </a:solidFill>
                <a:latin typeface="Arial" pitchFamily="34" charset="0"/>
                <a:ea typeface="Arial" pitchFamily="34" charset="-122"/>
                <a:cs typeface="Arial" pitchFamily="34" charset="-120"/>
              </a:rPr>
              <a:t>Historical information</a:t>
            </a:r>
            <a:endParaRPr lang="en-US" sz="1600" dirty="0"/>
          </a:p>
          <a:p>
            <a:pPr indent="0" marL="0">
              <a:buNone/>
            </a:pPr>
            <a:r>
              <a:rPr lang="en-US" sz="1300" dirty="0">
                <a:solidFill>
                  <a:srgbClr val="3A4560"/>
                </a:solidFill>
                <a:latin typeface="Arial" pitchFamily="34" charset="0"/>
                <a:ea typeface="Arial" pitchFamily="34" charset="-122"/>
                <a:cs typeface="Arial" pitchFamily="34" charset="-120"/>
              </a:rPr>
              <a:t>saved updates from the attacked run</a:t>
            </a:r>
            <a:endParaRPr lang="en-US" sz="1600" dirty="0"/>
          </a:p>
        </p:txBody>
      </p:sp>
      <p:sp>
        <p:nvSpPr>
          <p:cNvPr id="6" name="Shape 4"/>
          <p:cNvSpPr/>
          <p:nvPr/>
        </p:nvSpPr>
        <p:spPr>
          <a:xfrm>
            <a:off x="3108960" y="1943100"/>
            <a:ext cx="237744" cy="0"/>
          </a:xfrm>
          <a:prstGeom prst="line">
            <a:avLst/>
          </a:prstGeom>
          <a:noFill/>
          <a:ln w="31750">
            <a:solidFill>
              <a:srgbClr val="0B7A75"/>
            </a:solidFill>
            <a:prstDash val="solid"/>
            <a:tailEnd type="triangle"/>
          </a:ln>
        </p:spPr>
      </p:sp>
      <p:sp>
        <p:nvSpPr>
          <p:cNvPr id="7" name="Shape 5"/>
          <p:cNvSpPr txBox="1"/>
          <p:nvPr/>
        </p:nvSpPr>
        <p:spPr>
          <a:xfrm>
            <a:off x="3364992" y="1325880"/>
            <a:ext cx="2542032" cy="1234440"/>
          </a:xfrm>
          <a:prstGeom prst="roundRect">
            <a:avLst>
              <a:gd name="adj" fmla="val 5926"/>
            </a:avLst>
          </a:prstGeom>
          <a:solidFill>
            <a:srgbClr val="E4F4F2"/>
          </a:solidFill>
          <a:ln w="25400">
            <a:solidFill>
              <a:srgbClr val="0B7A75"/>
            </a:solidFill>
            <a:prstDash val="solid"/>
          </a:ln>
        </p:spPr>
      </p:sp>
      <p:sp>
        <p:nvSpPr>
          <p:cNvPr id="8" name="Text 6"/>
          <p:cNvSpPr txBox="1"/>
          <p:nvPr/>
        </p:nvSpPr>
        <p:spPr>
          <a:xfrm>
            <a:off x="3456432" y="1143000"/>
            <a:ext cx="365760" cy="365760"/>
          </a:xfrm>
          <a:prstGeom prst="ellipse">
            <a:avLst/>
          </a:prstGeom>
          <a:solidFill>
            <a:srgbClr val="0B7A75"/>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9" name="Text 7"/>
          <p:cNvSpPr txBox="1"/>
          <p:nvPr/>
        </p:nvSpPr>
        <p:spPr>
          <a:xfrm>
            <a:off x="3502152" y="1600200"/>
            <a:ext cx="2286000" cy="914400"/>
          </a:xfrm>
          <a:prstGeom prst="rect">
            <a:avLst/>
          </a:prstGeom>
          <a:noFill/>
          <a:ln/>
        </p:spPr>
        <p:txBody>
          <a:bodyPr wrap="square" lIns="0" tIns="0" rIns="0" bIns="0" rtlCol="0" anchor="t"/>
          <a:lstStyle/>
          <a:p>
            <a:pPr indent="0" marL="0">
              <a:buNone/>
            </a:pPr>
            <a:r>
              <a:rPr lang="en-US" sz="1500" b="1" dirty="0">
                <a:solidFill>
                  <a:srgbClr val="0B7A75"/>
                </a:solidFill>
                <a:latin typeface="Arial" pitchFamily="34" charset="0"/>
                <a:ea typeface="Arial" pitchFamily="34" charset="-122"/>
                <a:cs typeface="Arial" pitchFamily="34" charset="-120"/>
              </a:rPr>
              <a:t>Retained clients C1–C9</a:t>
            </a:r>
            <a:endParaRPr lang="en-US" sz="1600" dirty="0"/>
          </a:p>
          <a:p>
            <a:pPr indent="0" marL="0">
              <a:buNone/>
            </a:pPr>
            <a:r>
              <a:rPr lang="en-US" sz="1300" dirty="0">
                <a:solidFill>
                  <a:srgbClr val="3A4560"/>
                </a:solidFill>
                <a:latin typeface="Arial" pitchFamily="34" charset="0"/>
                <a:ea typeface="Arial" pitchFamily="34" charset="-122"/>
                <a:cs typeface="Arial" pitchFamily="34" charset="-120"/>
              </a:rPr>
              <a:t>calibrate for Ecal local epochs</a:t>
            </a:r>
            <a:endParaRPr lang="en-US" sz="1600" dirty="0"/>
          </a:p>
        </p:txBody>
      </p:sp>
      <p:sp>
        <p:nvSpPr>
          <p:cNvPr id="10" name="Shape 8"/>
          <p:cNvSpPr/>
          <p:nvPr/>
        </p:nvSpPr>
        <p:spPr>
          <a:xfrm>
            <a:off x="5925312" y="1943100"/>
            <a:ext cx="237744" cy="0"/>
          </a:xfrm>
          <a:prstGeom prst="line">
            <a:avLst/>
          </a:prstGeom>
          <a:noFill/>
          <a:ln w="31750">
            <a:solidFill>
              <a:srgbClr val="0B7A75"/>
            </a:solidFill>
            <a:prstDash val="solid"/>
            <a:tailEnd type="triangle"/>
          </a:ln>
        </p:spPr>
      </p:sp>
      <p:sp>
        <p:nvSpPr>
          <p:cNvPr id="11" name="Shape 9"/>
          <p:cNvSpPr txBox="1"/>
          <p:nvPr/>
        </p:nvSpPr>
        <p:spPr>
          <a:xfrm>
            <a:off x="6181344" y="1325880"/>
            <a:ext cx="2542032" cy="1234440"/>
          </a:xfrm>
          <a:prstGeom prst="roundRect">
            <a:avLst>
              <a:gd name="adj" fmla="val 5926"/>
            </a:avLst>
          </a:prstGeom>
          <a:solidFill>
            <a:srgbClr val="E4F4F2"/>
          </a:solidFill>
          <a:ln w="25400">
            <a:solidFill>
              <a:srgbClr val="0B7A75"/>
            </a:solidFill>
            <a:prstDash val="solid"/>
          </a:ln>
        </p:spPr>
      </p:sp>
      <p:sp>
        <p:nvSpPr>
          <p:cNvPr id="12" name="Text 10"/>
          <p:cNvSpPr txBox="1"/>
          <p:nvPr/>
        </p:nvSpPr>
        <p:spPr>
          <a:xfrm>
            <a:off x="6272784" y="1143000"/>
            <a:ext cx="365760" cy="365760"/>
          </a:xfrm>
          <a:prstGeom prst="ellipse">
            <a:avLst/>
          </a:prstGeom>
          <a:solidFill>
            <a:srgbClr val="0B7A75"/>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3" name="Text 11"/>
          <p:cNvSpPr txBox="1"/>
          <p:nvPr/>
        </p:nvSpPr>
        <p:spPr>
          <a:xfrm>
            <a:off x="6318504" y="1600200"/>
            <a:ext cx="2286000" cy="914400"/>
          </a:xfrm>
          <a:prstGeom prst="rect">
            <a:avLst/>
          </a:prstGeom>
          <a:noFill/>
          <a:ln/>
        </p:spPr>
        <p:txBody>
          <a:bodyPr wrap="square" lIns="0" tIns="0" rIns="0" bIns="0" rtlCol="0" anchor="t"/>
          <a:lstStyle/>
          <a:p>
            <a:pPr indent="0" marL="0">
              <a:buNone/>
            </a:pPr>
            <a:r>
              <a:rPr lang="en-US" sz="1500" b="1" dirty="0">
                <a:solidFill>
                  <a:srgbClr val="0B7A75"/>
                </a:solidFill>
                <a:latin typeface="Arial" pitchFamily="34" charset="0"/>
                <a:ea typeface="Arial" pitchFamily="34" charset="-122"/>
                <a:cs typeface="Arial" pitchFamily="34" charset="-120"/>
              </a:rPr>
              <a:t>Reconstruct updates</a:t>
            </a:r>
            <a:endParaRPr lang="en-US" sz="1600" dirty="0"/>
          </a:p>
          <a:p>
            <a:pPr indent="0" marL="0">
              <a:buNone/>
            </a:pPr>
            <a:r>
              <a:rPr lang="en-US" sz="1300" dirty="0">
                <a:solidFill>
                  <a:srgbClr val="3A4560"/>
                </a:solidFill>
                <a:latin typeface="Arial" pitchFamily="34" charset="0"/>
                <a:ea typeface="Arial" pitchFamily="34" charset="-122"/>
                <a:cs typeface="Arial" pitchFamily="34" charset="-120"/>
              </a:rPr>
              <a:t>historical magnitude, recalculated direction</a:t>
            </a:r>
            <a:endParaRPr lang="en-US" sz="1600" dirty="0"/>
          </a:p>
        </p:txBody>
      </p:sp>
      <p:sp>
        <p:nvSpPr>
          <p:cNvPr id="14" name="Shape 12"/>
          <p:cNvSpPr/>
          <p:nvPr/>
        </p:nvSpPr>
        <p:spPr>
          <a:xfrm>
            <a:off x="8741664" y="1943100"/>
            <a:ext cx="237744" cy="0"/>
          </a:xfrm>
          <a:prstGeom prst="line">
            <a:avLst/>
          </a:prstGeom>
          <a:noFill/>
          <a:ln w="31750">
            <a:solidFill>
              <a:srgbClr val="0B7A75"/>
            </a:solidFill>
            <a:prstDash val="solid"/>
            <a:tailEnd type="triangle"/>
          </a:ln>
        </p:spPr>
      </p:sp>
      <p:sp>
        <p:nvSpPr>
          <p:cNvPr id="15" name="Shape 13"/>
          <p:cNvSpPr txBox="1"/>
          <p:nvPr/>
        </p:nvSpPr>
        <p:spPr>
          <a:xfrm>
            <a:off x="8997696" y="1325880"/>
            <a:ext cx="2542032" cy="1234440"/>
          </a:xfrm>
          <a:prstGeom prst="roundRect">
            <a:avLst>
              <a:gd name="adj" fmla="val 5926"/>
            </a:avLst>
          </a:prstGeom>
          <a:solidFill>
            <a:srgbClr val="E4F4F2"/>
          </a:solidFill>
          <a:ln w="25400">
            <a:solidFill>
              <a:srgbClr val="0B7A75"/>
            </a:solidFill>
            <a:prstDash val="solid"/>
          </a:ln>
        </p:spPr>
      </p:sp>
      <p:sp>
        <p:nvSpPr>
          <p:cNvPr id="16" name="Text 14"/>
          <p:cNvSpPr txBox="1"/>
          <p:nvPr/>
        </p:nvSpPr>
        <p:spPr>
          <a:xfrm>
            <a:off x="9089136" y="1143000"/>
            <a:ext cx="365760" cy="365760"/>
          </a:xfrm>
          <a:prstGeom prst="ellipse">
            <a:avLst/>
          </a:prstGeom>
          <a:solidFill>
            <a:srgbClr val="0B7A75"/>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7" name="Text 15"/>
          <p:cNvSpPr txBox="1"/>
          <p:nvPr/>
        </p:nvSpPr>
        <p:spPr>
          <a:xfrm>
            <a:off x="9134856" y="1600200"/>
            <a:ext cx="2286000" cy="914400"/>
          </a:xfrm>
          <a:prstGeom prst="rect">
            <a:avLst/>
          </a:prstGeom>
          <a:noFill/>
          <a:ln/>
        </p:spPr>
        <p:txBody>
          <a:bodyPr wrap="square" lIns="0" tIns="0" rIns="0" bIns="0" rtlCol="0" anchor="t"/>
          <a:lstStyle/>
          <a:p>
            <a:pPr indent="0" marL="0">
              <a:buNone/>
            </a:pPr>
            <a:r>
              <a:rPr lang="en-US" sz="1500" b="1" dirty="0">
                <a:solidFill>
                  <a:srgbClr val="0B7A75"/>
                </a:solidFill>
                <a:latin typeface="Arial" pitchFamily="34" charset="0"/>
                <a:ea typeface="Arial" pitchFamily="34" charset="-122"/>
                <a:cs typeface="Arial" pitchFamily="34" charset="-120"/>
              </a:rPr>
              <a:t>Aggregate</a:t>
            </a:r>
            <a:endParaRPr lang="en-US" sz="1600" dirty="0"/>
          </a:p>
          <a:p>
            <a:pPr indent="0" marL="0">
              <a:buNone/>
            </a:pPr>
            <a:r>
              <a:rPr lang="en-US" sz="1300" dirty="0">
                <a:solidFill>
                  <a:srgbClr val="3A4560"/>
                </a:solidFill>
                <a:latin typeface="Arial" pitchFamily="34" charset="0"/>
                <a:ea typeface="Arial" pitchFamily="34" charset="-122"/>
                <a:cs typeface="Arial" pitchFamily="34" charset="-120"/>
              </a:rPr>
              <a:t>a trajectory without C0's participation</a:t>
            </a:r>
            <a:endParaRPr lang="en-US" sz="1600" dirty="0"/>
          </a:p>
        </p:txBody>
      </p:sp>
      <p:sp>
        <p:nvSpPr>
          <p:cNvPr id="18" name="Shape 16"/>
          <p:cNvSpPr txBox="1"/>
          <p:nvPr/>
        </p:nvSpPr>
        <p:spPr>
          <a:xfrm>
            <a:off x="548640" y="2834640"/>
            <a:ext cx="6309360" cy="3200400"/>
          </a:xfrm>
          <a:prstGeom prst="roundRect">
            <a:avLst>
              <a:gd name="adj" fmla="val 2286"/>
            </a:avLst>
          </a:prstGeom>
          <a:solidFill>
            <a:srgbClr val="FFFFFF"/>
          </a:solidFill>
          <a:ln w="15875">
            <a:solidFill>
              <a:srgbClr val="D5DAE3"/>
            </a:solidFill>
            <a:prstDash val="solid"/>
          </a:ln>
        </p:spPr>
      </p:sp>
      <p:sp>
        <p:nvSpPr>
          <p:cNvPr id="19" name="Text 17"/>
          <p:cNvSpPr txBox="1"/>
          <p:nvPr/>
        </p:nvSpPr>
        <p:spPr>
          <a:xfrm>
            <a:off x="731520" y="2907792"/>
            <a:ext cx="2743200" cy="274320"/>
          </a:xfrm>
          <a:prstGeom prst="rect">
            <a:avLst/>
          </a:prstGeom>
          <a:noFill/>
          <a:ln/>
        </p:spPr>
        <p:txBody>
          <a:bodyPr wrap="square" lIns="0" tIns="0" rIns="0" bIns="0" rtlCol="0" anchor="t"/>
          <a:lstStyle/>
          <a:p>
            <a:pPr indent="0" marL="0">
              <a:buNone/>
            </a:pPr>
            <a:r>
              <a:rPr lang="en-US" sz="1500" b="1" dirty="0">
                <a:solidFill>
                  <a:srgbClr val="14213D"/>
                </a:solidFill>
                <a:latin typeface="Arial" pitchFamily="34" charset="0"/>
                <a:ea typeface="Arial" pitchFamily="34" charset="-122"/>
                <a:cs typeface="Arial" pitchFamily="34" charset="-120"/>
              </a:rPr>
              <a:t>Vector intuition</a:t>
            </a:r>
            <a:endParaRPr lang="en-US" sz="1500" dirty="0"/>
          </a:p>
        </p:txBody>
      </p:sp>
      <p:sp>
        <p:nvSpPr>
          <p:cNvPr id="20" name="Shape 18"/>
          <p:cNvSpPr txBox="1"/>
          <p:nvPr/>
        </p:nvSpPr>
        <p:spPr>
          <a:xfrm>
            <a:off x="1316736" y="5522976"/>
            <a:ext cx="109728" cy="109728"/>
          </a:xfrm>
          <a:prstGeom prst="ellipse">
            <a:avLst/>
          </a:prstGeom>
          <a:solidFill>
            <a:srgbClr val="14213D"/>
          </a:solidFill>
          <a:ln/>
        </p:spPr>
      </p:sp>
      <p:sp>
        <p:nvSpPr>
          <p:cNvPr id="21" name="Shape 19"/>
          <p:cNvSpPr/>
          <p:nvPr/>
        </p:nvSpPr>
        <p:spPr>
          <a:xfrm flipV="1">
            <a:off x="1371600" y="4663440"/>
            <a:ext cx="3017520" cy="914400"/>
          </a:xfrm>
          <a:prstGeom prst="line">
            <a:avLst/>
          </a:prstGeom>
          <a:noFill/>
          <a:ln w="44450">
            <a:solidFill>
              <a:srgbClr val="8A93A3"/>
            </a:solidFill>
            <a:prstDash val="solid"/>
            <a:tailEnd type="triangle"/>
          </a:ln>
        </p:spPr>
      </p:sp>
      <p:sp>
        <p:nvSpPr>
          <p:cNvPr id="22" name="Shape 20"/>
          <p:cNvSpPr/>
          <p:nvPr/>
        </p:nvSpPr>
        <p:spPr>
          <a:xfrm flipV="1">
            <a:off x="1371600" y="3163824"/>
            <a:ext cx="2029968" cy="2414016"/>
          </a:xfrm>
          <a:prstGeom prst="line">
            <a:avLst/>
          </a:prstGeom>
          <a:noFill/>
          <a:ln w="63500">
            <a:solidFill>
              <a:srgbClr val="0B7A75"/>
            </a:solidFill>
            <a:prstDash val="solid"/>
            <a:tailEnd type="triangle"/>
          </a:ln>
        </p:spPr>
      </p:sp>
      <p:sp>
        <p:nvSpPr>
          <p:cNvPr id="23" name="Shape 21"/>
          <p:cNvSpPr/>
          <p:nvPr/>
        </p:nvSpPr>
        <p:spPr>
          <a:xfrm flipV="1">
            <a:off x="1371600" y="3840480"/>
            <a:ext cx="1463040" cy="1737360"/>
          </a:xfrm>
          <a:prstGeom prst="line">
            <a:avLst/>
          </a:prstGeom>
          <a:noFill/>
          <a:ln w="31750">
            <a:solidFill>
              <a:srgbClr val="7CCFC4"/>
            </a:solidFill>
            <a:prstDash val="solid"/>
            <a:tailEnd type="triangle"/>
          </a:ln>
        </p:spPr>
      </p:sp>
      <p:sp>
        <p:nvSpPr>
          <p:cNvPr id="24" name="Shape 22"/>
          <p:cNvSpPr/>
          <p:nvPr/>
        </p:nvSpPr>
        <p:spPr>
          <a:xfrm flipH="1" flipV="1">
            <a:off x="3401568" y="3163824"/>
            <a:ext cx="987552" cy="1499616"/>
          </a:xfrm>
          <a:prstGeom prst="line">
            <a:avLst/>
          </a:prstGeom>
          <a:noFill/>
          <a:ln w="15875">
            <a:solidFill>
              <a:srgbClr val="A9B1C0"/>
            </a:solidFill>
            <a:prstDash val="dash"/>
          </a:ln>
        </p:spPr>
      </p:sp>
      <p:sp>
        <p:nvSpPr>
          <p:cNvPr id="25" name="Text 23"/>
          <p:cNvSpPr txBox="1"/>
          <p:nvPr/>
        </p:nvSpPr>
        <p:spPr>
          <a:xfrm>
            <a:off x="4069080" y="3657600"/>
            <a:ext cx="1188720" cy="256032"/>
          </a:xfrm>
          <a:prstGeom prst="rect">
            <a:avLst/>
          </a:prstGeom>
          <a:noFill/>
          <a:ln/>
        </p:spPr>
        <p:txBody>
          <a:bodyPr wrap="square" lIns="0" tIns="0" rIns="0" bIns="0" rtlCol="0" anchor="t"/>
          <a:lstStyle/>
          <a:p>
            <a:pPr indent="0" marL="0">
              <a:buNone/>
            </a:pPr>
            <a:r>
              <a:rPr lang="en-US" sz="1200" i="1" dirty="0">
                <a:solidFill>
                  <a:srgbClr val="6B7280"/>
                </a:solidFill>
                <a:latin typeface="Arial" pitchFamily="34" charset="0"/>
                <a:ea typeface="Arial" pitchFamily="34" charset="-122"/>
                <a:cs typeface="Arial" pitchFamily="34" charset="-120"/>
              </a:rPr>
              <a:t>same length</a:t>
            </a:r>
            <a:endParaRPr lang="en-US" sz="1200" dirty="0"/>
          </a:p>
        </p:txBody>
      </p:sp>
      <p:sp>
        <p:nvSpPr>
          <p:cNvPr id="26" name="Text 24"/>
          <p:cNvSpPr txBox="1"/>
          <p:nvPr/>
        </p:nvSpPr>
        <p:spPr>
          <a:xfrm>
            <a:off x="4206240" y="4800600"/>
            <a:ext cx="1737360" cy="457200"/>
          </a:xfrm>
          <a:prstGeom prst="rect">
            <a:avLst/>
          </a:prstGeom>
          <a:noFill/>
          <a:ln/>
        </p:spPr>
        <p:txBody>
          <a:bodyPr wrap="square" lIns="0" tIns="0" rIns="0" bIns="0" rtlCol="0" anchor="t"/>
          <a:lstStyle/>
          <a:p>
            <a:pPr indent="0" marL="0">
              <a:buNone/>
            </a:pPr>
            <a:r>
              <a:rPr lang="en-US" sz="1300" b="1" dirty="0">
                <a:solidFill>
                  <a:srgbClr val="5C6574"/>
                </a:solidFill>
                <a:latin typeface="Arial" pitchFamily="34" charset="0"/>
                <a:ea typeface="Arial" pitchFamily="34" charset="-122"/>
                <a:cs typeface="Arial" pitchFamily="34" charset="-120"/>
              </a:rPr>
              <a:t>Historical update</a:t>
            </a:r>
            <a:endParaRPr lang="en-US" sz="1300" dirty="0"/>
          </a:p>
        </p:txBody>
      </p:sp>
      <p:sp>
        <p:nvSpPr>
          <p:cNvPr id="27" name="Text 25"/>
          <p:cNvSpPr txBox="1"/>
          <p:nvPr/>
        </p:nvSpPr>
        <p:spPr>
          <a:xfrm>
            <a:off x="1234440" y="3520440"/>
            <a:ext cx="1234440" cy="457200"/>
          </a:xfrm>
          <a:prstGeom prst="rect">
            <a:avLst/>
          </a:prstGeom>
          <a:noFill/>
          <a:ln/>
        </p:spPr>
        <p:txBody>
          <a:bodyPr wrap="square" lIns="0" tIns="0" rIns="0" bIns="0" rtlCol="0" anchor="t"/>
          <a:lstStyle/>
          <a:p>
            <a:pPr algn="r" indent="0" marL="0">
              <a:buNone/>
            </a:pPr>
            <a:r>
              <a:rPr lang="en-US" sz="1300" b="1" dirty="0">
                <a:solidFill>
                  <a:srgbClr val="0B7A75"/>
                </a:solidFill>
                <a:latin typeface="Arial" pitchFamily="34" charset="0"/>
                <a:ea typeface="Arial" pitchFamily="34" charset="-122"/>
                <a:cs typeface="Arial" pitchFamily="34" charset="-120"/>
              </a:rPr>
              <a:t>Recalculated direction</a:t>
            </a:r>
            <a:endParaRPr lang="en-US" sz="1300" dirty="0"/>
          </a:p>
        </p:txBody>
      </p:sp>
      <p:sp>
        <p:nvSpPr>
          <p:cNvPr id="28" name="Text 26"/>
          <p:cNvSpPr txBox="1"/>
          <p:nvPr/>
        </p:nvSpPr>
        <p:spPr>
          <a:xfrm>
            <a:off x="3566160" y="2880360"/>
            <a:ext cx="1828800" cy="274320"/>
          </a:xfrm>
          <a:prstGeom prst="rect">
            <a:avLst/>
          </a:prstGeom>
          <a:noFill/>
          <a:ln/>
        </p:spPr>
        <p:txBody>
          <a:bodyPr wrap="square" lIns="0" tIns="0" rIns="0" bIns="0" rtlCol="0" anchor="t"/>
          <a:lstStyle/>
          <a:p>
            <a:pPr indent="0" marL="0">
              <a:buNone/>
            </a:pPr>
            <a:r>
              <a:rPr lang="en-US" sz="1300" b="1" dirty="0">
                <a:solidFill>
                  <a:srgbClr val="14213D"/>
                </a:solidFill>
                <a:latin typeface="Arial" pitchFamily="34" charset="0"/>
                <a:ea typeface="Arial" pitchFamily="34" charset="-122"/>
                <a:cs typeface="Arial" pitchFamily="34" charset="-120"/>
              </a:rPr>
              <a:t>Reconstructed update</a:t>
            </a:r>
            <a:endParaRPr lang="en-US" sz="1300" dirty="0"/>
          </a:p>
        </p:txBody>
      </p:sp>
      <p:sp>
        <p:nvSpPr>
          <p:cNvPr id="29" name="Text 27"/>
          <p:cNvSpPr txBox="1"/>
          <p:nvPr/>
        </p:nvSpPr>
        <p:spPr>
          <a:xfrm>
            <a:off x="731520" y="5650992"/>
            <a:ext cx="5943600" cy="274320"/>
          </a:xfrm>
          <a:prstGeom prst="rect">
            <a:avLst/>
          </a:prstGeom>
          <a:noFill/>
          <a:ln/>
        </p:spPr>
        <p:txBody>
          <a:bodyPr wrap="square" lIns="0" tIns="0" rIns="0" bIns="0" rtlCol="0" anchor="t"/>
          <a:lstStyle/>
          <a:p>
            <a:pPr indent="0" marL="0">
              <a:buNone/>
            </a:pPr>
            <a:r>
              <a:rPr lang="en-US" sz="1200" dirty="0">
                <a:solidFill>
                  <a:srgbClr val="3A4560"/>
                </a:solidFill>
                <a:latin typeface="Arial" pitchFamily="34" charset="0"/>
                <a:ea typeface="Arial" pitchFamily="34" charset="-122"/>
                <a:cs typeface="Arial" pitchFamily="34" charset="-120"/>
              </a:rPr>
              <a:t>reconstructed = historical magnitude × recalculated direction</a:t>
            </a:r>
            <a:endParaRPr lang="en-US" sz="1200" dirty="0"/>
          </a:p>
        </p:txBody>
      </p:sp>
      <p:sp>
        <p:nvSpPr>
          <p:cNvPr id="30" name="Text 28"/>
          <p:cNvSpPr txBox="1"/>
          <p:nvPr/>
        </p:nvSpPr>
        <p:spPr>
          <a:xfrm>
            <a:off x="7132320" y="2834640"/>
            <a:ext cx="4507992" cy="1097280"/>
          </a:xfrm>
          <a:prstGeom prst="roundRect">
            <a:avLst>
              <a:gd name="adj" fmla="val 6667"/>
            </a:avLst>
          </a:prstGeom>
          <a:solidFill>
            <a:srgbClr val="F4F6F9"/>
          </a:solidFill>
          <a:ln/>
        </p:spPr>
        <p:txBody>
          <a:bodyPr wrap="square" lIns="152400" tIns="152400" rIns="152400" bIns="152400" rtlCol="0" anchor="ctr"/>
          <a:lstStyle/>
          <a:p>
            <a:pPr algn="l" indent="0" marL="0">
              <a:buNone/>
            </a:pPr>
            <a:r>
              <a:rPr lang="en-US" sz="1500" b="1" dirty="0">
                <a:solidFill>
                  <a:srgbClr val="14213D"/>
                </a:solidFill>
                <a:latin typeface="Arial" pitchFamily="34" charset="0"/>
                <a:ea typeface="Arial" pitchFamily="34" charset="-122"/>
                <a:cs typeface="Arial" pitchFamily="34" charset="-120"/>
              </a:rPr>
              <a:t>Ecal = calibration epochs</a:t>
            </a:r>
            <a:endParaRPr lang="en-US" sz="1600" dirty="0"/>
          </a:p>
          <a:p>
            <a:pPr algn="l" indent="0" marL="0">
              <a:buNone/>
            </a:pPr>
            <a:r>
              <a:rPr lang="en-US" sz="1400" dirty="0">
                <a:solidFill>
                  <a:srgbClr val="3A4560"/>
                </a:solidFill>
                <a:latin typeface="Arial" pitchFamily="34" charset="0"/>
                <a:ea typeface="Arial" pitchFamily="34" charset="-122"/>
                <a:cs typeface="Arial" pitchFamily="34" charset="-120"/>
              </a:rPr>
              <a:t>Ecal=1: one epoch · Ecal=2: two epochs</a:t>
            </a:r>
            <a:endParaRPr lang="en-US" sz="1600" dirty="0"/>
          </a:p>
        </p:txBody>
      </p:sp>
      <p:sp>
        <p:nvSpPr>
          <p:cNvPr id="31" name="Shape 29"/>
          <p:cNvSpPr txBox="1"/>
          <p:nvPr/>
        </p:nvSpPr>
        <p:spPr>
          <a:xfrm>
            <a:off x="7132320" y="4114800"/>
            <a:ext cx="2221992" cy="1280160"/>
          </a:xfrm>
          <a:prstGeom prst="roundRect">
            <a:avLst>
              <a:gd name="adj" fmla="val 5714"/>
            </a:avLst>
          </a:prstGeom>
          <a:solidFill>
            <a:srgbClr val="E4F4F2"/>
          </a:solidFill>
          <a:ln w="15875">
            <a:solidFill>
              <a:srgbClr val="0B7A75"/>
            </a:solidFill>
            <a:prstDash val="solid"/>
          </a:ln>
        </p:spPr>
      </p:sp>
      <p:sp>
        <p:nvSpPr>
          <p:cNvPr id="32" name="Text 30"/>
          <p:cNvSpPr txBox="1"/>
          <p:nvPr/>
        </p:nvSpPr>
        <p:spPr>
          <a:xfrm>
            <a:off x="7269480" y="4178808"/>
            <a:ext cx="2011680" cy="274320"/>
          </a:xfrm>
          <a:prstGeom prst="rect">
            <a:avLst/>
          </a:prstGeom>
          <a:noFill/>
          <a:ln/>
        </p:spPr>
        <p:txBody>
          <a:bodyPr wrap="square" lIns="0" tIns="0" rIns="0" bIns="0" rtlCol="0" anchor="t"/>
          <a:lstStyle/>
          <a:p>
            <a:pPr indent="0" marL="0">
              <a:buNone/>
            </a:pPr>
            <a:r>
              <a:rPr lang="en-US" sz="1300" b="1" dirty="0">
                <a:solidFill>
                  <a:srgbClr val="0B7A75"/>
                </a:solidFill>
                <a:latin typeface="Arial" pitchFamily="34" charset="0"/>
                <a:ea typeface="Arial" pitchFamily="34" charset="-122"/>
                <a:cs typeface="Arial" pitchFamily="34" charset="-120"/>
              </a:rPr>
              <a:t>Ecal=2 · IID</a:t>
            </a:r>
            <a:endParaRPr lang="en-US" sz="1300" dirty="0"/>
          </a:p>
        </p:txBody>
      </p:sp>
      <p:sp>
        <p:nvSpPr>
          <p:cNvPr id="33" name="Text 31"/>
          <p:cNvSpPr txBox="1"/>
          <p:nvPr/>
        </p:nvSpPr>
        <p:spPr>
          <a:xfrm>
            <a:off x="7269480" y="4480560"/>
            <a:ext cx="2011680" cy="868680"/>
          </a:xfrm>
          <a:prstGeom prst="rect">
            <a:avLst/>
          </a:prstGeom>
          <a:noFill/>
          <a:ln/>
        </p:spPr>
        <p:txBody>
          <a:bodyPr wrap="square" lIns="0" tIns="0" rIns="0" bIns="0" rtlCol="0" anchor="t"/>
          <a:lstStyle/>
          <a:p>
            <a:pPr indent="0" marL="0">
              <a:buNone/>
            </a:pPr>
            <a:r>
              <a:rPr lang="en-US" sz="2200" b="1" dirty="0">
                <a:solidFill>
                  <a:srgbClr val="0B7A75"/>
                </a:solidFill>
                <a:latin typeface="Arial" pitchFamily="34" charset="0"/>
                <a:ea typeface="Arial" pitchFamily="34" charset="-122"/>
                <a:cs typeface="Arial" pitchFamily="34" charset="-120"/>
              </a:rPr>
              <a:t>74.99%</a:t>
            </a:r>
            <a:pPr indent="0" marL="0">
              <a:buNone/>
            </a:pPr>
            <a:r>
              <a:rPr lang="en-US" sz="1200" dirty="0">
                <a:solidFill>
                  <a:srgbClr val="6B7280"/>
                </a:solidFill>
                <a:latin typeface="Arial" pitchFamily="34" charset="0"/>
                <a:ea typeface="Arial" pitchFamily="34" charset="-122"/>
                <a:cs typeface="Arial" pitchFamily="34" charset="-120"/>
              </a:rPr>
              <a:t>  acc.</a:t>
            </a:r>
            <a:endParaRPr lang="en-US" sz="1600" dirty="0"/>
          </a:p>
          <a:p>
            <a:pPr indent="0" marL="0">
              <a:buNone/>
            </a:pPr>
            <a:r>
              <a:rPr lang="en-US" sz="2200" b="1" dirty="0">
                <a:solidFill>
                  <a:srgbClr val="14213D"/>
                </a:solidFill>
                <a:latin typeface="Arial" pitchFamily="34" charset="0"/>
                <a:ea typeface="Arial" pitchFamily="34" charset="-122"/>
                <a:cs typeface="Arial" pitchFamily="34" charset="-120"/>
              </a:rPr>
              <a:t>2.34%</a:t>
            </a:r>
            <a:pPr indent="0" marL="0">
              <a:buNone/>
            </a:pPr>
            <a:r>
              <a:rPr lang="en-US" sz="1200" dirty="0">
                <a:solidFill>
                  <a:srgbClr val="6B7280"/>
                </a:solidFill>
                <a:latin typeface="Arial" pitchFamily="34" charset="0"/>
                <a:ea typeface="Arial" pitchFamily="34" charset="-122"/>
                <a:cs typeface="Arial" pitchFamily="34" charset="-120"/>
              </a:rPr>
              <a:t>  ASR/TTR</a:t>
            </a:r>
            <a:endParaRPr lang="en-US" sz="1600" dirty="0"/>
          </a:p>
        </p:txBody>
      </p:sp>
      <p:sp>
        <p:nvSpPr>
          <p:cNvPr id="34" name="Shape 32"/>
          <p:cNvSpPr txBox="1"/>
          <p:nvPr/>
        </p:nvSpPr>
        <p:spPr>
          <a:xfrm>
            <a:off x="9418320" y="4114800"/>
            <a:ext cx="2221992" cy="1280160"/>
          </a:xfrm>
          <a:prstGeom prst="roundRect">
            <a:avLst>
              <a:gd name="adj" fmla="val 5714"/>
            </a:avLst>
          </a:prstGeom>
          <a:solidFill>
            <a:srgbClr val="E4F4F2"/>
          </a:solidFill>
          <a:ln w="15875">
            <a:solidFill>
              <a:srgbClr val="0B7A75"/>
            </a:solidFill>
            <a:prstDash val="solid"/>
          </a:ln>
        </p:spPr>
      </p:sp>
      <p:sp>
        <p:nvSpPr>
          <p:cNvPr id="35" name="Text 33"/>
          <p:cNvSpPr txBox="1"/>
          <p:nvPr/>
        </p:nvSpPr>
        <p:spPr>
          <a:xfrm>
            <a:off x="9555480" y="4178808"/>
            <a:ext cx="2011680" cy="274320"/>
          </a:xfrm>
          <a:prstGeom prst="rect">
            <a:avLst/>
          </a:prstGeom>
          <a:noFill/>
          <a:ln/>
        </p:spPr>
        <p:txBody>
          <a:bodyPr wrap="square" lIns="0" tIns="0" rIns="0" bIns="0" rtlCol="0" anchor="t"/>
          <a:lstStyle/>
          <a:p>
            <a:pPr indent="0" marL="0">
              <a:buNone/>
            </a:pPr>
            <a:r>
              <a:rPr lang="en-US" sz="1300" b="1" dirty="0">
                <a:solidFill>
                  <a:srgbClr val="0B7A75"/>
                </a:solidFill>
                <a:latin typeface="Arial" pitchFamily="34" charset="0"/>
                <a:ea typeface="Arial" pitchFamily="34" charset="-122"/>
                <a:cs typeface="Arial" pitchFamily="34" charset="-120"/>
              </a:rPr>
              <a:t>Ecal=2 · Non-IID</a:t>
            </a:r>
            <a:endParaRPr lang="en-US" sz="1300" dirty="0"/>
          </a:p>
        </p:txBody>
      </p:sp>
      <p:sp>
        <p:nvSpPr>
          <p:cNvPr id="36" name="Text 34"/>
          <p:cNvSpPr txBox="1"/>
          <p:nvPr/>
        </p:nvSpPr>
        <p:spPr>
          <a:xfrm>
            <a:off x="9555480" y="4480560"/>
            <a:ext cx="2011680" cy="868680"/>
          </a:xfrm>
          <a:prstGeom prst="rect">
            <a:avLst/>
          </a:prstGeom>
          <a:noFill/>
          <a:ln/>
        </p:spPr>
        <p:txBody>
          <a:bodyPr wrap="square" lIns="0" tIns="0" rIns="0" bIns="0" rtlCol="0" anchor="t"/>
          <a:lstStyle/>
          <a:p>
            <a:pPr indent="0" marL="0">
              <a:buNone/>
            </a:pPr>
            <a:r>
              <a:rPr lang="en-US" sz="2200" b="1" dirty="0">
                <a:solidFill>
                  <a:srgbClr val="0B7A75"/>
                </a:solidFill>
                <a:latin typeface="Arial" pitchFamily="34" charset="0"/>
                <a:ea typeface="Arial" pitchFamily="34" charset="-122"/>
                <a:cs typeface="Arial" pitchFamily="34" charset="-120"/>
              </a:rPr>
              <a:t>68.89%</a:t>
            </a:r>
            <a:pPr indent="0" marL="0">
              <a:buNone/>
            </a:pPr>
            <a:r>
              <a:rPr lang="en-US" sz="1200" dirty="0">
                <a:solidFill>
                  <a:srgbClr val="6B7280"/>
                </a:solidFill>
                <a:latin typeface="Arial" pitchFamily="34" charset="0"/>
                <a:ea typeface="Arial" pitchFamily="34" charset="-122"/>
                <a:cs typeface="Arial" pitchFamily="34" charset="-120"/>
              </a:rPr>
              <a:t>  acc.</a:t>
            </a:r>
            <a:endParaRPr lang="en-US" sz="1600" dirty="0"/>
          </a:p>
          <a:p>
            <a:pPr indent="0" marL="0">
              <a:buNone/>
            </a:pPr>
            <a:r>
              <a:rPr lang="en-US" sz="2200" b="1" dirty="0">
                <a:solidFill>
                  <a:srgbClr val="14213D"/>
                </a:solidFill>
                <a:latin typeface="Arial" pitchFamily="34" charset="0"/>
                <a:ea typeface="Arial" pitchFamily="34" charset="-122"/>
                <a:cs typeface="Arial" pitchFamily="34" charset="-120"/>
              </a:rPr>
              <a:t>3.09%</a:t>
            </a:r>
            <a:pPr indent="0" marL="0">
              <a:buNone/>
            </a:pPr>
            <a:r>
              <a:rPr lang="en-US" sz="1200" dirty="0">
                <a:solidFill>
                  <a:srgbClr val="6B7280"/>
                </a:solidFill>
                <a:latin typeface="Arial" pitchFamily="34" charset="0"/>
                <a:ea typeface="Arial" pitchFamily="34" charset="-122"/>
                <a:cs typeface="Arial" pitchFamily="34" charset="-120"/>
              </a:rPr>
              <a:t>  ASR/TTR</a:t>
            </a:r>
            <a:endParaRPr lang="en-US" sz="1600" dirty="0"/>
          </a:p>
        </p:txBody>
      </p:sp>
      <p:sp>
        <p:nvSpPr>
          <p:cNvPr id="37" name="Text 35"/>
          <p:cNvSpPr txBox="1"/>
          <p:nvPr/>
        </p:nvSpPr>
        <p:spPr>
          <a:xfrm>
            <a:off x="7132320" y="5532120"/>
            <a:ext cx="4507992" cy="685800"/>
          </a:xfrm>
          <a:prstGeom prst="rect">
            <a:avLst/>
          </a:prstGeom>
          <a:noFill/>
          <a:ln/>
        </p:spPr>
        <p:txBody>
          <a:bodyPr wrap="square" lIns="0" tIns="0" rIns="0" bIns="0" rtlCol="0" anchor="t"/>
          <a:lstStyle/>
          <a:p>
            <a:pPr indent="0" marL="0">
              <a:buNone/>
            </a:pPr>
            <a:r>
              <a:rPr lang="en-US" sz="1200" dirty="0">
                <a:solidFill>
                  <a:srgbClr val="6B7280"/>
                </a:solidFill>
                <a:latin typeface="Arial" pitchFamily="34" charset="0"/>
                <a:ea typeface="Arial" pitchFamily="34" charset="-122"/>
                <a:cs typeface="Arial" pitchFamily="34" charset="-120"/>
              </a:rPr>
              <a:t>Intuition only. The archived implementation scales by a global L2 norm across eligible weight/bias tensors; not proof of exact paper equivalence (Appendix B).</a:t>
            </a:r>
            <a:endParaRPr lang="en-US" sz="120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A8394"/>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1672" cy="731520"/>
          </a:xfrm>
          <a:prstGeom prst="rect">
            <a:avLst/>
          </a:prstGeom>
          <a:noFill/>
          <a:ln/>
        </p:spPr>
        <p:txBody>
          <a:bodyPr wrap="square" lIns="0" tIns="0" rIns="0" bIns="0" rtlCol="0" anchor="ctr"/>
          <a:lstStyle/>
          <a:p>
            <a:pPr algn="l" indent="0" marL="0">
              <a:buNone/>
            </a:pPr>
            <a:r>
              <a:rPr lang="en-US" sz="3000" b="1" dirty="0">
                <a:solidFill>
                  <a:srgbClr val="14213D"/>
                </a:solidFill>
                <a:latin typeface="Arial" pitchFamily="34" charset="0"/>
                <a:ea typeface="Arial" pitchFamily="34" charset="-122"/>
                <a:cs typeface="Arial" pitchFamily="34" charset="-120"/>
              </a:rPr>
              <a:t>Security vs. utility across Phase 2 endpoints</a:t>
            </a:r>
            <a:endParaRPr lang="en-US" sz="3000" dirty="0"/>
          </a:p>
        </p:txBody>
      </p:sp>
      <p:sp>
        <p:nvSpPr>
          <p:cNvPr id="3" name="Shape 1"/>
          <p:cNvSpPr txBox="1"/>
          <p:nvPr/>
        </p:nvSpPr>
        <p:spPr>
          <a:xfrm>
            <a:off x="566928" y="1161288"/>
            <a:ext cx="182880" cy="182880"/>
          </a:xfrm>
          <a:prstGeom prst="ellipse">
            <a:avLst/>
          </a:prstGeom>
          <a:solidFill>
            <a:srgbClr val="D62839"/>
          </a:solidFill>
          <a:ln w="12700">
            <a:solidFill>
              <a:srgbClr val="FFFFFF"/>
            </a:solidFill>
            <a:prstDash val="solid"/>
          </a:ln>
        </p:spPr>
      </p:sp>
      <p:sp>
        <p:nvSpPr>
          <p:cNvPr id="4" name="Text 2"/>
          <p:cNvSpPr txBox="1"/>
          <p:nvPr/>
        </p:nvSpPr>
        <p:spPr>
          <a:xfrm>
            <a:off x="822960" y="1115568"/>
            <a:ext cx="1005840" cy="274320"/>
          </a:xfrm>
          <a:prstGeom prst="rect">
            <a:avLst/>
          </a:prstGeom>
          <a:noFill/>
          <a:ln/>
        </p:spPr>
        <p:txBody>
          <a:bodyPr wrap="square" lIns="0" tIns="0" rIns="0" bIns="0" rtlCol="0" anchor="ctr"/>
          <a:lstStyle/>
          <a:p>
            <a:pPr indent="0" marL="0">
              <a:buNone/>
            </a:pPr>
            <a:r>
              <a:rPr lang="en-US" sz="1400" dirty="0">
                <a:solidFill>
                  <a:srgbClr val="14213D"/>
                </a:solidFill>
                <a:latin typeface="Arial" pitchFamily="34" charset="0"/>
                <a:ea typeface="Arial" pitchFamily="34" charset="-122"/>
                <a:cs typeface="Arial" pitchFamily="34" charset="-120"/>
              </a:rPr>
              <a:t>M_attack</a:t>
            </a:r>
            <a:endParaRPr lang="en-US" sz="1400" dirty="0"/>
          </a:p>
        </p:txBody>
      </p:sp>
      <p:sp>
        <p:nvSpPr>
          <p:cNvPr id="5" name="Shape 3"/>
          <p:cNvSpPr txBox="1"/>
          <p:nvPr/>
        </p:nvSpPr>
        <p:spPr>
          <a:xfrm>
            <a:off x="2075688" y="1161288"/>
            <a:ext cx="182880" cy="182880"/>
          </a:xfrm>
          <a:prstGeom prst="ellipse">
            <a:avLst/>
          </a:prstGeom>
          <a:solidFill>
            <a:srgbClr val="E8890C"/>
          </a:solidFill>
          <a:ln w="12700">
            <a:solidFill>
              <a:srgbClr val="FFFFFF"/>
            </a:solidFill>
            <a:prstDash val="solid"/>
          </a:ln>
        </p:spPr>
      </p:sp>
      <p:sp>
        <p:nvSpPr>
          <p:cNvPr id="6" name="Text 4"/>
          <p:cNvSpPr txBox="1"/>
          <p:nvPr/>
        </p:nvSpPr>
        <p:spPr>
          <a:xfrm>
            <a:off x="2331720" y="1115568"/>
            <a:ext cx="1005840" cy="274320"/>
          </a:xfrm>
          <a:prstGeom prst="rect">
            <a:avLst/>
          </a:prstGeom>
          <a:noFill/>
          <a:ln/>
        </p:spPr>
        <p:txBody>
          <a:bodyPr wrap="square" lIns="0" tIns="0" rIns="0" bIns="0" rtlCol="0" anchor="ctr"/>
          <a:lstStyle/>
          <a:p>
            <a:pPr indent="0" marL="0">
              <a:buNone/>
            </a:pPr>
            <a:r>
              <a:rPr lang="en-US" sz="1400" dirty="0">
                <a:solidFill>
                  <a:srgbClr val="14213D"/>
                </a:solidFill>
                <a:latin typeface="Arial" pitchFamily="34" charset="0"/>
                <a:ea typeface="Arial" pitchFamily="34" charset="-122"/>
                <a:cs typeface="Arial" pitchFamily="34" charset="-120"/>
              </a:rPr>
              <a:t>M_sub</a:t>
            </a:r>
            <a:endParaRPr lang="en-US" sz="1400" dirty="0"/>
          </a:p>
        </p:txBody>
      </p:sp>
      <p:sp>
        <p:nvSpPr>
          <p:cNvPr id="7" name="Shape 5"/>
          <p:cNvSpPr txBox="1"/>
          <p:nvPr/>
        </p:nvSpPr>
        <p:spPr>
          <a:xfrm>
            <a:off x="3584448" y="1161288"/>
            <a:ext cx="182880" cy="182880"/>
          </a:xfrm>
          <a:prstGeom prst="ellipse">
            <a:avLst/>
          </a:prstGeom>
          <a:solidFill>
            <a:srgbClr val="7B4FB8"/>
          </a:solidFill>
          <a:ln w="12700">
            <a:solidFill>
              <a:srgbClr val="FFFFFF"/>
            </a:solidFill>
            <a:prstDash val="solid"/>
          </a:ln>
        </p:spPr>
      </p:sp>
      <p:sp>
        <p:nvSpPr>
          <p:cNvPr id="8" name="Text 6"/>
          <p:cNvSpPr txBox="1"/>
          <p:nvPr/>
        </p:nvSpPr>
        <p:spPr>
          <a:xfrm>
            <a:off x="3840480" y="1115568"/>
            <a:ext cx="1005840" cy="274320"/>
          </a:xfrm>
          <a:prstGeom prst="rect">
            <a:avLst/>
          </a:prstGeom>
          <a:noFill/>
          <a:ln/>
        </p:spPr>
        <p:txBody>
          <a:bodyPr wrap="square" lIns="0" tIns="0" rIns="0" bIns="0" rtlCol="0" anchor="ctr"/>
          <a:lstStyle/>
          <a:p>
            <a:pPr indent="0" marL="0">
              <a:buNone/>
            </a:pPr>
            <a:r>
              <a:rPr lang="en-US" sz="1400" dirty="0">
                <a:solidFill>
                  <a:srgbClr val="14213D"/>
                </a:solidFill>
                <a:latin typeface="Arial" pitchFamily="34" charset="0"/>
                <a:ea typeface="Arial" pitchFamily="34" charset="-122"/>
                <a:cs typeface="Arial" pitchFamily="34" charset="-120"/>
              </a:rPr>
              <a:t>M_KD</a:t>
            </a:r>
            <a:endParaRPr lang="en-US" sz="1400" dirty="0"/>
          </a:p>
        </p:txBody>
      </p:sp>
      <p:sp>
        <p:nvSpPr>
          <p:cNvPr id="9" name="Shape 7"/>
          <p:cNvSpPr txBox="1"/>
          <p:nvPr/>
        </p:nvSpPr>
        <p:spPr>
          <a:xfrm>
            <a:off x="5093208" y="1161288"/>
            <a:ext cx="182880" cy="182880"/>
          </a:xfrm>
          <a:prstGeom prst="ellipse">
            <a:avLst/>
          </a:prstGeom>
          <a:solidFill>
            <a:srgbClr val="7CCFC4"/>
          </a:solidFill>
          <a:ln w="19050">
            <a:solidFill>
              <a:srgbClr val="0B7A75"/>
            </a:solidFill>
            <a:prstDash val="solid"/>
          </a:ln>
        </p:spPr>
      </p:sp>
      <p:sp>
        <p:nvSpPr>
          <p:cNvPr id="10" name="Text 8"/>
          <p:cNvSpPr txBox="1"/>
          <p:nvPr/>
        </p:nvSpPr>
        <p:spPr>
          <a:xfrm>
            <a:off x="5349240" y="1115568"/>
            <a:ext cx="1691640" cy="274320"/>
          </a:xfrm>
          <a:prstGeom prst="rect">
            <a:avLst/>
          </a:prstGeom>
          <a:noFill/>
          <a:ln/>
        </p:spPr>
        <p:txBody>
          <a:bodyPr wrap="square" lIns="0" tIns="0" rIns="0" bIns="0" rtlCol="0" anchor="ctr"/>
          <a:lstStyle/>
          <a:p>
            <a:pPr indent="0" marL="0">
              <a:buNone/>
            </a:pPr>
            <a:r>
              <a:rPr lang="en-US" sz="1400" dirty="0">
                <a:solidFill>
                  <a:srgbClr val="14213D"/>
                </a:solidFill>
                <a:latin typeface="Arial" pitchFamily="34" charset="0"/>
                <a:ea typeface="Arial" pitchFamily="34" charset="-122"/>
                <a:cs typeface="Arial" pitchFamily="34" charset="-120"/>
              </a:rPr>
              <a:t>FedEraser Ecal=1</a:t>
            </a:r>
            <a:endParaRPr lang="en-US" sz="1400" dirty="0"/>
          </a:p>
        </p:txBody>
      </p:sp>
      <p:sp>
        <p:nvSpPr>
          <p:cNvPr id="11" name="Shape 9"/>
          <p:cNvSpPr txBox="1"/>
          <p:nvPr/>
        </p:nvSpPr>
        <p:spPr>
          <a:xfrm>
            <a:off x="7287768" y="1161288"/>
            <a:ext cx="182880" cy="182880"/>
          </a:xfrm>
          <a:prstGeom prst="ellipse">
            <a:avLst/>
          </a:prstGeom>
          <a:solidFill>
            <a:srgbClr val="0B7A75"/>
          </a:solidFill>
          <a:ln w="12700">
            <a:solidFill>
              <a:srgbClr val="FFFFFF"/>
            </a:solidFill>
            <a:prstDash val="solid"/>
          </a:ln>
        </p:spPr>
      </p:sp>
      <p:sp>
        <p:nvSpPr>
          <p:cNvPr id="12" name="Text 10"/>
          <p:cNvSpPr txBox="1"/>
          <p:nvPr/>
        </p:nvSpPr>
        <p:spPr>
          <a:xfrm>
            <a:off x="7543800" y="1115568"/>
            <a:ext cx="1691640" cy="274320"/>
          </a:xfrm>
          <a:prstGeom prst="rect">
            <a:avLst/>
          </a:prstGeom>
          <a:noFill/>
          <a:ln/>
        </p:spPr>
        <p:txBody>
          <a:bodyPr wrap="square" lIns="0" tIns="0" rIns="0" bIns="0" rtlCol="0" anchor="ctr"/>
          <a:lstStyle/>
          <a:p>
            <a:pPr indent="0" marL="0">
              <a:buNone/>
            </a:pPr>
            <a:r>
              <a:rPr lang="en-US" sz="1400" dirty="0">
                <a:solidFill>
                  <a:srgbClr val="14213D"/>
                </a:solidFill>
                <a:latin typeface="Arial" pitchFamily="34" charset="0"/>
                <a:ea typeface="Arial" pitchFamily="34" charset="-122"/>
                <a:cs typeface="Arial" pitchFamily="34" charset="-120"/>
              </a:rPr>
              <a:t>FedEraser Ecal=2</a:t>
            </a:r>
            <a:endParaRPr lang="en-US" sz="1400" dirty="0"/>
          </a:p>
        </p:txBody>
      </p:sp>
      <p:sp>
        <p:nvSpPr>
          <p:cNvPr id="13" name="Shape 11"/>
          <p:cNvSpPr txBox="1"/>
          <p:nvPr/>
        </p:nvSpPr>
        <p:spPr>
          <a:xfrm>
            <a:off x="9482328" y="1161288"/>
            <a:ext cx="182880" cy="182880"/>
          </a:xfrm>
          <a:prstGeom prst="ellipse">
            <a:avLst/>
          </a:prstGeom>
          <a:solidFill>
            <a:srgbClr val="FFFFFF"/>
          </a:solidFill>
          <a:ln w="25400">
            <a:solidFill>
              <a:srgbClr val="4A4F57"/>
            </a:solidFill>
            <a:prstDash val="dash"/>
          </a:ln>
        </p:spPr>
      </p:sp>
      <p:sp>
        <p:nvSpPr>
          <p:cNvPr id="14" name="Text 12"/>
          <p:cNvSpPr txBox="1"/>
          <p:nvPr/>
        </p:nvSpPr>
        <p:spPr>
          <a:xfrm>
            <a:off x="9738360" y="1115568"/>
            <a:ext cx="1508760" cy="274320"/>
          </a:xfrm>
          <a:prstGeom prst="rect">
            <a:avLst/>
          </a:prstGeom>
          <a:noFill/>
          <a:ln/>
        </p:spPr>
        <p:txBody>
          <a:bodyPr wrap="square" lIns="0" tIns="0" rIns="0" bIns="0" rtlCol="0" anchor="ctr"/>
          <a:lstStyle/>
          <a:p>
            <a:pPr indent="0" marL="0">
              <a:buNone/>
            </a:pPr>
            <a:r>
              <a:rPr lang="en-US" sz="1400" dirty="0">
                <a:solidFill>
                  <a:srgbClr val="14213D"/>
                </a:solidFill>
                <a:latin typeface="Arial" pitchFamily="34" charset="0"/>
                <a:ea typeface="Arial" pitchFamily="34" charset="-122"/>
                <a:cs typeface="Arial" pitchFamily="34" charset="-120"/>
              </a:rPr>
              <a:t>M_CF reference</a:t>
            </a:r>
            <a:endParaRPr lang="en-US" sz="1400" dirty="0"/>
          </a:p>
        </p:txBody>
      </p:sp>
      <p:sp>
        <p:nvSpPr>
          <p:cNvPr id="15" name="Text 13"/>
          <p:cNvSpPr txBox="1"/>
          <p:nvPr/>
        </p:nvSpPr>
        <p:spPr>
          <a:xfrm>
            <a:off x="548640" y="1554480"/>
            <a:ext cx="5440680" cy="347472"/>
          </a:xfrm>
          <a:prstGeom prst="rect">
            <a:avLst/>
          </a:prstGeom>
          <a:noFill/>
          <a:ln/>
        </p:spPr>
        <p:txBody>
          <a:bodyPr wrap="square" lIns="0" tIns="0" rIns="0" bIns="0" rtlCol="0" anchor="t"/>
          <a:lstStyle/>
          <a:p>
            <a:pPr indent="0" marL="0">
              <a:buNone/>
            </a:pPr>
            <a:r>
              <a:rPr lang="en-US" sz="1800" b="1" dirty="0">
                <a:solidFill>
                  <a:srgbClr val="14213D"/>
                </a:solidFill>
                <a:latin typeface="Arial" pitchFamily="34" charset="0"/>
                <a:ea typeface="Arial" pitchFamily="34" charset="-122"/>
                <a:cs typeface="Arial" pitchFamily="34" charset="-120"/>
              </a:rPr>
              <a:t>IID</a:t>
            </a:r>
            <a:endParaRPr lang="en-US" sz="1800" dirty="0"/>
          </a:p>
        </p:txBody>
      </p:sp>
      <p:sp>
        <p:nvSpPr>
          <p:cNvPr id="16" name="Shape 14"/>
          <p:cNvSpPr/>
          <p:nvPr/>
        </p:nvSpPr>
        <p:spPr>
          <a:xfrm>
            <a:off x="1280160" y="5074920"/>
            <a:ext cx="4526280" cy="0"/>
          </a:xfrm>
          <a:prstGeom prst="line">
            <a:avLst/>
          </a:prstGeom>
          <a:noFill/>
          <a:ln w="9525">
            <a:solidFill>
              <a:srgbClr val="E3E7ED"/>
            </a:solidFill>
            <a:prstDash val="solid"/>
          </a:ln>
        </p:spPr>
      </p:sp>
      <p:sp>
        <p:nvSpPr>
          <p:cNvPr id="17" name="Text 15"/>
          <p:cNvSpPr txBox="1"/>
          <p:nvPr/>
        </p:nvSpPr>
        <p:spPr>
          <a:xfrm>
            <a:off x="822960" y="4946904"/>
            <a:ext cx="384048" cy="256032"/>
          </a:xfrm>
          <a:prstGeom prst="rect">
            <a:avLst/>
          </a:prstGeom>
          <a:noFill/>
          <a:ln/>
        </p:spPr>
        <p:txBody>
          <a:bodyPr wrap="square" lIns="0" tIns="0" rIns="0" bIns="0" rtlCol="0" anchor="ctr"/>
          <a:lstStyle/>
          <a:p>
            <a:pPr algn="r" indent="0" marL="0">
              <a:buNone/>
            </a:pPr>
            <a:r>
              <a:rPr lang="en-US" sz="1300" dirty="0">
                <a:solidFill>
                  <a:srgbClr val="3A4560"/>
                </a:solidFill>
                <a:latin typeface="Arial" pitchFamily="34" charset="0"/>
                <a:ea typeface="Arial" pitchFamily="34" charset="-122"/>
                <a:cs typeface="Arial" pitchFamily="34" charset="-120"/>
              </a:rPr>
              <a:t>0</a:t>
            </a:r>
            <a:endParaRPr lang="en-US" sz="1300" dirty="0"/>
          </a:p>
        </p:txBody>
      </p:sp>
      <p:sp>
        <p:nvSpPr>
          <p:cNvPr id="18" name="Shape 16"/>
          <p:cNvSpPr/>
          <p:nvPr/>
        </p:nvSpPr>
        <p:spPr>
          <a:xfrm>
            <a:off x="1280160" y="4556760"/>
            <a:ext cx="4526280" cy="0"/>
          </a:xfrm>
          <a:prstGeom prst="line">
            <a:avLst/>
          </a:prstGeom>
          <a:noFill/>
          <a:ln w="9525">
            <a:solidFill>
              <a:srgbClr val="E3E7ED"/>
            </a:solidFill>
            <a:prstDash val="solid"/>
          </a:ln>
        </p:spPr>
      </p:sp>
      <p:sp>
        <p:nvSpPr>
          <p:cNvPr id="19" name="Text 17"/>
          <p:cNvSpPr txBox="1"/>
          <p:nvPr/>
        </p:nvSpPr>
        <p:spPr>
          <a:xfrm>
            <a:off x="822960" y="4428744"/>
            <a:ext cx="384048" cy="256032"/>
          </a:xfrm>
          <a:prstGeom prst="rect">
            <a:avLst/>
          </a:prstGeom>
          <a:noFill/>
          <a:ln/>
        </p:spPr>
        <p:txBody>
          <a:bodyPr wrap="square" lIns="0" tIns="0" rIns="0" bIns="0" rtlCol="0" anchor="ctr"/>
          <a:lstStyle/>
          <a:p>
            <a:pPr algn="r" indent="0" marL="0">
              <a:buNone/>
            </a:pPr>
            <a:r>
              <a:rPr lang="en-US" sz="1300" dirty="0">
                <a:solidFill>
                  <a:srgbClr val="3A4560"/>
                </a:solidFill>
                <a:latin typeface="Arial" pitchFamily="34" charset="0"/>
                <a:ea typeface="Arial" pitchFamily="34" charset="-122"/>
                <a:cs typeface="Arial" pitchFamily="34" charset="-120"/>
              </a:rPr>
              <a:t>10</a:t>
            </a:r>
            <a:endParaRPr lang="en-US" sz="1300" dirty="0"/>
          </a:p>
        </p:txBody>
      </p:sp>
      <p:sp>
        <p:nvSpPr>
          <p:cNvPr id="20" name="Shape 18"/>
          <p:cNvSpPr/>
          <p:nvPr/>
        </p:nvSpPr>
        <p:spPr>
          <a:xfrm>
            <a:off x="1280160" y="4038600"/>
            <a:ext cx="4526280" cy="0"/>
          </a:xfrm>
          <a:prstGeom prst="line">
            <a:avLst/>
          </a:prstGeom>
          <a:noFill/>
          <a:ln w="9525">
            <a:solidFill>
              <a:srgbClr val="E3E7ED"/>
            </a:solidFill>
            <a:prstDash val="solid"/>
          </a:ln>
        </p:spPr>
      </p:sp>
      <p:sp>
        <p:nvSpPr>
          <p:cNvPr id="21" name="Text 19"/>
          <p:cNvSpPr txBox="1"/>
          <p:nvPr/>
        </p:nvSpPr>
        <p:spPr>
          <a:xfrm>
            <a:off x="822960" y="3910584"/>
            <a:ext cx="384048" cy="256032"/>
          </a:xfrm>
          <a:prstGeom prst="rect">
            <a:avLst/>
          </a:prstGeom>
          <a:noFill/>
          <a:ln/>
        </p:spPr>
        <p:txBody>
          <a:bodyPr wrap="square" lIns="0" tIns="0" rIns="0" bIns="0" rtlCol="0" anchor="ctr"/>
          <a:lstStyle/>
          <a:p>
            <a:pPr algn="r" indent="0" marL="0">
              <a:buNone/>
            </a:pPr>
            <a:r>
              <a:rPr lang="en-US" sz="1300" dirty="0">
                <a:solidFill>
                  <a:srgbClr val="3A4560"/>
                </a:solidFill>
                <a:latin typeface="Arial" pitchFamily="34" charset="0"/>
                <a:ea typeface="Arial" pitchFamily="34" charset="-122"/>
                <a:cs typeface="Arial" pitchFamily="34" charset="-120"/>
              </a:rPr>
              <a:t>20</a:t>
            </a:r>
            <a:endParaRPr lang="en-US" sz="1300" dirty="0"/>
          </a:p>
        </p:txBody>
      </p:sp>
      <p:sp>
        <p:nvSpPr>
          <p:cNvPr id="22" name="Shape 20"/>
          <p:cNvSpPr/>
          <p:nvPr/>
        </p:nvSpPr>
        <p:spPr>
          <a:xfrm>
            <a:off x="1280160" y="3520440"/>
            <a:ext cx="4526280" cy="0"/>
          </a:xfrm>
          <a:prstGeom prst="line">
            <a:avLst/>
          </a:prstGeom>
          <a:noFill/>
          <a:ln w="9525">
            <a:solidFill>
              <a:srgbClr val="E3E7ED"/>
            </a:solidFill>
            <a:prstDash val="solid"/>
          </a:ln>
        </p:spPr>
      </p:sp>
      <p:sp>
        <p:nvSpPr>
          <p:cNvPr id="23" name="Text 21"/>
          <p:cNvSpPr txBox="1"/>
          <p:nvPr/>
        </p:nvSpPr>
        <p:spPr>
          <a:xfrm>
            <a:off x="822960" y="3392424"/>
            <a:ext cx="384048" cy="256032"/>
          </a:xfrm>
          <a:prstGeom prst="rect">
            <a:avLst/>
          </a:prstGeom>
          <a:noFill/>
          <a:ln/>
        </p:spPr>
        <p:txBody>
          <a:bodyPr wrap="square" lIns="0" tIns="0" rIns="0" bIns="0" rtlCol="0" anchor="ctr"/>
          <a:lstStyle/>
          <a:p>
            <a:pPr algn="r" indent="0" marL="0">
              <a:buNone/>
            </a:pPr>
            <a:r>
              <a:rPr lang="en-US" sz="1300" dirty="0">
                <a:solidFill>
                  <a:srgbClr val="3A4560"/>
                </a:solidFill>
                <a:latin typeface="Arial" pitchFamily="34" charset="0"/>
                <a:ea typeface="Arial" pitchFamily="34" charset="-122"/>
                <a:cs typeface="Arial" pitchFamily="34" charset="-120"/>
              </a:rPr>
              <a:t>30</a:t>
            </a:r>
            <a:endParaRPr lang="en-US" sz="1300" dirty="0"/>
          </a:p>
        </p:txBody>
      </p:sp>
      <p:sp>
        <p:nvSpPr>
          <p:cNvPr id="24" name="Shape 22"/>
          <p:cNvSpPr/>
          <p:nvPr/>
        </p:nvSpPr>
        <p:spPr>
          <a:xfrm>
            <a:off x="1280160" y="3002280"/>
            <a:ext cx="4526280" cy="0"/>
          </a:xfrm>
          <a:prstGeom prst="line">
            <a:avLst/>
          </a:prstGeom>
          <a:noFill/>
          <a:ln w="9525">
            <a:solidFill>
              <a:srgbClr val="E3E7ED"/>
            </a:solidFill>
            <a:prstDash val="solid"/>
          </a:ln>
        </p:spPr>
      </p:sp>
      <p:sp>
        <p:nvSpPr>
          <p:cNvPr id="25" name="Text 23"/>
          <p:cNvSpPr txBox="1"/>
          <p:nvPr/>
        </p:nvSpPr>
        <p:spPr>
          <a:xfrm>
            <a:off x="822960" y="2874264"/>
            <a:ext cx="384048" cy="256032"/>
          </a:xfrm>
          <a:prstGeom prst="rect">
            <a:avLst/>
          </a:prstGeom>
          <a:noFill/>
          <a:ln/>
        </p:spPr>
        <p:txBody>
          <a:bodyPr wrap="square" lIns="0" tIns="0" rIns="0" bIns="0" rtlCol="0" anchor="ctr"/>
          <a:lstStyle/>
          <a:p>
            <a:pPr algn="r" indent="0" marL="0">
              <a:buNone/>
            </a:pPr>
            <a:r>
              <a:rPr lang="en-US" sz="1300" dirty="0">
                <a:solidFill>
                  <a:srgbClr val="3A4560"/>
                </a:solidFill>
                <a:latin typeface="Arial" pitchFamily="34" charset="0"/>
                <a:ea typeface="Arial" pitchFamily="34" charset="-122"/>
                <a:cs typeface="Arial" pitchFamily="34" charset="-120"/>
              </a:rPr>
              <a:t>40</a:t>
            </a:r>
            <a:endParaRPr lang="en-US" sz="1300" dirty="0"/>
          </a:p>
        </p:txBody>
      </p:sp>
      <p:sp>
        <p:nvSpPr>
          <p:cNvPr id="26" name="Shape 24"/>
          <p:cNvSpPr/>
          <p:nvPr/>
        </p:nvSpPr>
        <p:spPr>
          <a:xfrm>
            <a:off x="1280160" y="2484120"/>
            <a:ext cx="4526280" cy="0"/>
          </a:xfrm>
          <a:prstGeom prst="line">
            <a:avLst/>
          </a:prstGeom>
          <a:noFill/>
          <a:ln w="9525">
            <a:solidFill>
              <a:srgbClr val="E3E7ED"/>
            </a:solidFill>
            <a:prstDash val="solid"/>
          </a:ln>
        </p:spPr>
      </p:sp>
      <p:sp>
        <p:nvSpPr>
          <p:cNvPr id="27" name="Text 25"/>
          <p:cNvSpPr txBox="1"/>
          <p:nvPr/>
        </p:nvSpPr>
        <p:spPr>
          <a:xfrm>
            <a:off x="822960" y="2356104"/>
            <a:ext cx="384048" cy="256032"/>
          </a:xfrm>
          <a:prstGeom prst="rect">
            <a:avLst/>
          </a:prstGeom>
          <a:noFill/>
          <a:ln/>
        </p:spPr>
        <p:txBody>
          <a:bodyPr wrap="square" lIns="0" tIns="0" rIns="0" bIns="0" rtlCol="0" anchor="ctr"/>
          <a:lstStyle/>
          <a:p>
            <a:pPr algn="r" indent="0" marL="0">
              <a:buNone/>
            </a:pPr>
            <a:r>
              <a:rPr lang="en-US" sz="1300" dirty="0">
                <a:solidFill>
                  <a:srgbClr val="3A4560"/>
                </a:solidFill>
                <a:latin typeface="Arial" pitchFamily="34" charset="0"/>
                <a:ea typeface="Arial" pitchFamily="34" charset="-122"/>
                <a:cs typeface="Arial" pitchFamily="34" charset="-120"/>
              </a:rPr>
              <a:t>50</a:t>
            </a:r>
            <a:endParaRPr lang="en-US" sz="1300" dirty="0"/>
          </a:p>
        </p:txBody>
      </p:sp>
      <p:sp>
        <p:nvSpPr>
          <p:cNvPr id="28" name="Shape 26"/>
          <p:cNvSpPr/>
          <p:nvPr/>
        </p:nvSpPr>
        <p:spPr>
          <a:xfrm>
            <a:off x="1280160" y="1965960"/>
            <a:ext cx="4526280" cy="0"/>
          </a:xfrm>
          <a:prstGeom prst="line">
            <a:avLst/>
          </a:prstGeom>
          <a:noFill/>
          <a:ln w="9525">
            <a:solidFill>
              <a:srgbClr val="E3E7ED"/>
            </a:solidFill>
            <a:prstDash val="solid"/>
          </a:ln>
        </p:spPr>
      </p:sp>
      <p:sp>
        <p:nvSpPr>
          <p:cNvPr id="29" name="Text 27"/>
          <p:cNvSpPr txBox="1"/>
          <p:nvPr/>
        </p:nvSpPr>
        <p:spPr>
          <a:xfrm>
            <a:off x="822960" y="1837944"/>
            <a:ext cx="384048" cy="256032"/>
          </a:xfrm>
          <a:prstGeom prst="rect">
            <a:avLst/>
          </a:prstGeom>
          <a:noFill/>
          <a:ln/>
        </p:spPr>
        <p:txBody>
          <a:bodyPr wrap="square" lIns="0" tIns="0" rIns="0" bIns="0" rtlCol="0" anchor="ctr"/>
          <a:lstStyle/>
          <a:p>
            <a:pPr algn="r" indent="0" marL="0">
              <a:buNone/>
            </a:pPr>
            <a:r>
              <a:rPr lang="en-US" sz="1300" dirty="0">
                <a:solidFill>
                  <a:srgbClr val="3A4560"/>
                </a:solidFill>
                <a:latin typeface="Arial" pitchFamily="34" charset="0"/>
                <a:ea typeface="Arial" pitchFamily="34" charset="-122"/>
                <a:cs typeface="Arial" pitchFamily="34" charset="-120"/>
              </a:rPr>
              <a:t>60</a:t>
            </a:r>
            <a:endParaRPr lang="en-US" sz="1300" dirty="0"/>
          </a:p>
        </p:txBody>
      </p:sp>
      <p:sp>
        <p:nvSpPr>
          <p:cNvPr id="30" name="Text 28"/>
          <p:cNvSpPr txBox="1"/>
          <p:nvPr/>
        </p:nvSpPr>
        <p:spPr>
          <a:xfrm>
            <a:off x="1005840" y="5129784"/>
            <a:ext cx="548640" cy="256032"/>
          </a:xfrm>
          <a:prstGeom prst="rect">
            <a:avLst/>
          </a:prstGeom>
          <a:noFill/>
          <a:ln/>
        </p:spPr>
        <p:txBody>
          <a:bodyPr wrap="square" lIns="0" tIns="0" rIns="0" bIns="0" rtlCol="0" anchor="t"/>
          <a:lstStyle/>
          <a:p>
            <a:pPr algn="ctr" indent="0" marL="0">
              <a:buNone/>
            </a:pPr>
            <a:r>
              <a:rPr lang="en-US" sz="1300" dirty="0">
                <a:solidFill>
                  <a:srgbClr val="3A4560"/>
                </a:solidFill>
                <a:latin typeface="Arial" pitchFamily="34" charset="0"/>
                <a:ea typeface="Arial" pitchFamily="34" charset="-122"/>
                <a:cs typeface="Arial" pitchFamily="34" charset="-120"/>
              </a:rPr>
              <a:t>64</a:t>
            </a:r>
            <a:endParaRPr lang="en-US" sz="1300" dirty="0"/>
          </a:p>
        </p:txBody>
      </p:sp>
      <p:sp>
        <p:nvSpPr>
          <p:cNvPr id="31" name="Text 29"/>
          <p:cNvSpPr txBox="1"/>
          <p:nvPr/>
        </p:nvSpPr>
        <p:spPr>
          <a:xfrm>
            <a:off x="1652451" y="5129784"/>
            <a:ext cx="548640" cy="256032"/>
          </a:xfrm>
          <a:prstGeom prst="rect">
            <a:avLst/>
          </a:prstGeom>
          <a:noFill/>
          <a:ln/>
        </p:spPr>
        <p:txBody>
          <a:bodyPr wrap="square" lIns="0" tIns="0" rIns="0" bIns="0" rtlCol="0" anchor="t"/>
          <a:lstStyle/>
          <a:p>
            <a:pPr algn="ctr" indent="0" marL="0">
              <a:buNone/>
            </a:pPr>
            <a:r>
              <a:rPr lang="en-US" sz="1300" dirty="0">
                <a:solidFill>
                  <a:srgbClr val="3A4560"/>
                </a:solidFill>
                <a:latin typeface="Arial" pitchFamily="34" charset="0"/>
                <a:ea typeface="Arial" pitchFamily="34" charset="-122"/>
                <a:cs typeface="Arial" pitchFamily="34" charset="-120"/>
              </a:rPr>
              <a:t>66</a:t>
            </a:r>
            <a:endParaRPr lang="en-US" sz="1300" dirty="0"/>
          </a:p>
        </p:txBody>
      </p:sp>
      <p:sp>
        <p:nvSpPr>
          <p:cNvPr id="32" name="Text 30"/>
          <p:cNvSpPr txBox="1"/>
          <p:nvPr/>
        </p:nvSpPr>
        <p:spPr>
          <a:xfrm>
            <a:off x="2299063" y="5129784"/>
            <a:ext cx="548640" cy="256032"/>
          </a:xfrm>
          <a:prstGeom prst="rect">
            <a:avLst/>
          </a:prstGeom>
          <a:noFill/>
          <a:ln/>
        </p:spPr>
        <p:txBody>
          <a:bodyPr wrap="square" lIns="0" tIns="0" rIns="0" bIns="0" rtlCol="0" anchor="t"/>
          <a:lstStyle/>
          <a:p>
            <a:pPr algn="ctr" indent="0" marL="0">
              <a:buNone/>
            </a:pPr>
            <a:r>
              <a:rPr lang="en-US" sz="1300" dirty="0">
                <a:solidFill>
                  <a:srgbClr val="3A4560"/>
                </a:solidFill>
                <a:latin typeface="Arial" pitchFamily="34" charset="0"/>
                <a:ea typeface="Arial" pitchFamily="34" charset="-122"/>
                <a:cs typeface="Arial" pitchFamily="34" charset="-120"/>
              </a:rPr>
              <a:t>68</a:t>
            </a:r>
            <a:endParaRPr lang="en-US" sz="1300" dirty="0"/>
          </a:p>
        </p:txBody>
      </p:sp>
      <p:sp>
        <p:nvSpPr>
          <p:cNvPr id="33" name="Text 31"/>
          <p:cNvSpPr txBox="1"/>
          <p:nvPr/>
        </p:nvSpPr>
        <p:spPr>
          <a:xfrm>
            <a:off x="2945674" y="5129784"/>
            <a:ext cx="548640" cy="256032"/>
          </a:xfrm>
          <a:prstGeom prst="rect">
            <a:avLst/>
          </a:prstGeom>
          <a:noFill/>
          <a:ln/>
        </p:spPr>
        <p:txBody>
          <a:bodyPr wrap="square" lIns="0" tIns="0" rIns="0" bIns="0" rtlCol="0" anchor="t"/>
          <a:lstStyle/>
          <a:p>
            <a:pPr algn="ctr" indent="0" marL="0">
              <a:buNone/>
            </a:pPr>
            <a:r>
              <a:rPr lang="en-US" sz="1300" dirty="0">
                <a:solidFill>
                  <a:srgbClr val="3A4560"/>
                </a:solidFill>
                <a:latin typeface="Arial" pitchFamily="34" charset="0"/>
                <a:ea typeface="Arial" pitchFamily="34" charset="-122"/>
                <a:cs typeface="Arial" pitchFamily="34" charset="-120"/>
              </a:rPr>
              <a:t>70</a:t>
            </a:r>
            <a:endParaRPr lang="en-US" sz="1300" dirty="0"/>
          </a:p>
        </p:txBody>
      </p:sp>
      <p:sp>
        <p:nvSpPr>
          <p:cNvPr id="34" name="Text 32"/>
          <p:cNvSpPr txBox="1"/>
          <p:nvPr/>
        </p:nvSpPr>
        <p:spPr>
          <a:xfrm>
            <a:off x="3592286" y="5129784"/>
            <a:ext cx="548640" cy="256032"/>
          </a:xfrm>
          <a:prstGeom prst="rect">
            <a:avLst/>
          </a:prstGeom>
          <a:noFill/>
          <a:ln/>
        </p:spPr>
        <p:txBody>
          <a:bodyPr wrap="square" lIns="0" tIns="0" rIns="0" bIns="0" rtlCol="0" anchor="t"/>
          <a:lstStyle/>
          <a:p>
            <a:pPr algn="ctr" indent="0" marL="0">
              <a:buNone/>
            </a:pPr>
            <a:r>
              <a:rPr lang="en-US" sz="1300" dirty="0">
                <a:solidFill>
                  <a:srgbClr val="3A4560"/>
                </a:solidFill>
                <a:latin typeface="Arial" pitchFamily="34" charset="0"/>
                <a:ea typeface="Arial" pitchFamily="34" charset="-122"/>
                <a:cs typeface="Arial" pitchFamily="34" charset="-120"/>
              </a:rPr>
              <a:t>72</a:t>
            </a:r>
            <a:endParaRPr lang="en-US" sz="1300" dirty="0"/>
          </a:p>
        </p:txBody>
      </p:sp>
      <p:sp>
        <p:nvSpPr>
          <p:cNvPr id="35" name="Text 33"/>
          <p:cNvSpPr txBox="1"/>
          <p:nvPr/>
        </p:nvSpPr>
        <p:spPr>
          <a:xfrm>
            <a:off x="4238897" y="5129784"/>
            <a:ext cx="548640" cy="256032"/>
          </a:xfrm>
          <a:prstGeom prst="rect">
            <a:avLst/>
          </a:prstGeom>
          <a:noFill/>
          <a:ln/>
        </p:spPr>
        <p:txBody>
          <a:bodyPr wrap="square" lIns="0" tIns="0" rIns="0" bIns="0" rtlCol="0" anchor="t"/>
          <a:lstStyle/>
          <a:p>
            <a:pPr algn="ctr" indent="0" marL="0">
              <a:buNone/>
            </a:pPr>
            <a:r>
              <a:rPr lang="en-US" sz="1300" dirty="0">
                <a:solidFill>
                  <a:srgbClr val="3A4560"/>
                </a:solidFill>
                <a:latin typeface="Arial" pitchFamily="34" charset="0"/>
                <a:ea typeface="Arial" pitchFamily="34" charset="-122"/>
                <a:cs typeface="Arial" pitchFamily="34" charset="-120"/>
              </a:rPr>
              <a:t>74</a:t>
            </a:r>
            <a:endParaRPr lang="en-US" sz="1300" dirty="0"/>
          </a:p>
        </p:txBody>
      </p:sp>
      <p:sp>
        <p:nvSpPr>
          <p:cNvPr id="36" name="Text 34"/>
          <p:cNvSpPr txBox="1"/>
          <p:nvPr/>
        </p:nvSpPr>
        <p:spPr>
          <a:xfrm>
            <a:off x="4885509" y="5129784"/>
            <a:ext cx="548640" cy="256032"/>
          </a:xfrm>
          <a:prstGeom prst="rect">
            <a:avLst/>
          </a:prstGeom>
          <a:noFill/>
          <a:ln/>
        </p:spPr>
        <p:txBody>
          <a:bodyPr wrap="square" lIns="0" tIns="0" rIns="0" bIns="0" rtlCol="0" anchor="t"/>
          <a:lstStyle/>
          <a:p>
            <a:pPr algn="ctr" indent="0" marL="0">
              <a:buNone/>
            </a:pPr>
            <a:r>
              <a:rPr lang="en-US" sz="1300" dirty="0">
                <a:solidFill>
                  <a:srgbClr val="3A4560"/>
                </a:solidFill>
                <a:latin typeface="Arial" pitchFamily="34" charset="0"/>
                <a:ea typeface="Arial" pitchFamily="34" charset="-122"/>
                <a:cs typeface="Arial" pitchFamily="34" charset="-120"/>
              </a:rPr>
              <a:t>76</a:t>
            </a:r>
            <a:endParaRPr lang="en-US" sz="1300" dirty="0"/>
          </a:p>
        </p:txBody>
      </p:sp>
      <p:sp>
        <p:nvSpPr>
          <p:cNvPr id="37" name="Text 35"/>
          <p:cNvSpPr txBox="1"/>
          <p:nvPr/>
        </p:nvSpPr>
        <p:spPr>
          <a:xfrm>
            <a:off x="5532120" y="5129784"/>
            <a:ext cx="548640" cy="256032"/>
          </a:xfrm>
          <a:prstGeom prst="rect">
            <a:avLst/>
          </a:prstGeom>
          <a:noFill/>
          <a:ln/>
        </p:spPr>
        <p:txBody>
          <a:bodyPr wrap="square" lIns="0" tIns="0" rIns="0" bIns="0" rtlCol="0" anchor="t"/>
          <a:lstStyle/>
          <a:p>
            <a:pPr algn="ctr" indent="0" marL="0">
              <a:buNone/>
            </a:pPr>
            <a:r>
              <a:rPr lang="en-US" sz="1300" dirty="0">
                <a:solidFill>
                  <a:srgbClr val="3A4560"/>
                </a:solidFill>
                <a:latin typeface="Arial" pitchFamily="34" charset="0"/>
                <a:ea typeface="Arial" pitchFamily="34" charset="-122"/>
                <a:cs typeface="Arial" pitchFamily="34" charset="-120"/>
              </a:rPr>
              <a:t>78</a:t>
            </a:r>
            <a:endParaRPr lang="en-US" sz="1300" dirty="0"/>
          </a:p>
        </p:txBody>
      </p:sp>
      <p:sp>
        <p:nvSpPr>
          <p:cNvPr id="38" name="Shape 36"/>
          <p:cNvSpPr/>
          <p:nvPr/>
        </p:nvSpPr>
        <p:spPr>
          <a:xfrm>
            <a:off x="1280160" y="1965960"/>
            <a:ext cx="0" cy="3108960"/>
          </a:xfrm>
          <a:prstGeom prst="line">
            <a:avLst/>
          </a:prstGeom>
          <a:noFill/>
          <a:ln w="15875">
            <a:solidFill>
              <a:srgbClr val="3A4560"/>
            </a:solidFill>
            <a:prstDash val="solid"/>
          </a:ln>
        </p:spPr>
      </p:sp>
      <p:sp>
        <p:nvSpPr>
          <p:cNvPr id="39" name="Shape 37"/>
          <p:cNvSpPr/>
          <p:nvPr/>
        </p:nvSpPr>
        <p:spPr>
          <a:xfrm>
            <a:off x="1280160" y="5074920"/>
            <a:ext cx="4526280" cy="0"/>
          </a:xfrm>
          <a:prstGeom prst="line">
            <a:avLst/>
          </a:prstGeom>
          <a:noFill/>
          <a:ln w="15875">
            <a:solidFill>
              <a:srgbClr val="3A4560"/>
            </a:solidFill>
            <a:prstDash val="solid"/>
          </a:ln>
        </p:spPr>
      </p:sp>
      <p:sp>
        <p:nvSpPr>
          <p:cNvPr id="40" name="Text 38"/>
          <p:cNvSpPr txBox="1"/>
          <p:nvPr/>
        </p:nvSpPr>
        <p:spPr>
          <a:xfrm>
            <a:off x="1280160" y="5440680"/>
            <a:ext cx="4526280" cy="274320"/>
          </a:xfrm>
          <a:prstGeom prst="rect">
            <a:avLst/>
          </a:prstGeom>
          <a:noFill/>
          <a:ln/>
        </p:spPr>
        <p:txBody>
          <a:bodyPr wrap="square" lIns="0" tIns="0" rIns="0" bIns="0" rtlCol="0" anchor="t"/>
          <a:lstStyle/>
          <a:p>
            <a:pPr algn="ctr" indent="0" marL="0">
              <a:buNone/>
            </a:pPr>
            <a:r>
              <a:rPr lang="en-US" sz="1400" b="1" dirty="0">
                <a:solidFill>
                  <a:srgbClr val="14213D"/>
                </a:solidFill>
                <a:latin typeface="Arial" pitchFamily="34" charset="0"/>
                <a:ea typeface="Arial" pitchFamily="34" charset="-122"/>
                <a:cs typeface="Arial" pitchFamily="34" charset="-120"/>
              </a:rPr>
              <a:t>Clean accuracy (%) · higher is better</a:t>
            </a:r>
            <a:endParaRPr lang="en-US" sz="1400" dirty="0"/>
          </a:p>
        </p:txBody>
      </p:sp>
      <p:sp>
        <p:nvSpPr>
          <p:cNvPr id="41" name="Text 39"/>
          <p:cNvSpPr txBox="1"/>
          <p:nvPr/>
        </p:nvSpPr>
        <p:spPr>
          <a:xfrm rot="16200000">
            <a:off x="-850392" y="3383280"/>
            <a:ext cx="3108960" cy="274320"/>
          </a:xfrm>
          <a:prstGeom prst="rect">
            <a:avLst/>
          </a:prstGeom>
          <a:noFill/>
          <a:ln/>
        </p:spPr>
        <p:txBody>
          <a:bodyPr wrap="square" lIns="0" tIns="0" rIns="0" bIns="0" rtlCol="0" anchor="t"/>
          <a:lstStyle/>
          <a:p>
            <a:pPr algn="ctr" indent="0" marL="0">
              <a:buNone/>
            </a:pPr>
            <a:r>
              <a:rPr lang="en-US" sz="1400" b="1" dirty="0">
                <a:solidFill>
                  <a:srgbClr val="14213D"/>
                </a:solidFill>
                <a:latin typeface="Arial" pitchFamily="34" charset="0"/>
                <a:ea typeface="Arial" pitchFamily="34" charset="-122"/>
                <a:cs typeface="Arial" pitchFamily="34" charset="-120"/>
              </a:rPr>
              <a:t>ASR/TTR (%) · lower is better</a:t>
            </a:r>
            <a:endParaRPr lang="en-US" sz="1400" dirty="0"/>
          </a:p>
        </p:txBody>
      </p:sp>
      <p:sp>
        <p:nvSpPr>
          <p:cNvPr id="42" name="Shape 40"/>
          <p:cNvSpPr/>
          <p:nvPr/>
        </p:nvSpPr>
        <p:spPr>
          <a:xfrm flipH="1" flipV="1">
            <a:off x="1371600" y="4526280"/>
            <a:ext cx="2333353" cy="341376"/>
          </a:xfrm>
          <a:prstGeom prst="line">
            <a:avLst/>
          </a:prstGeom>
          <a:noFill/>
          <a:ln w="12700">
            <a:solidFill>
              <a:srgbClr val="A9B1C0"/>
            </a:solidFill>
            <a:prstDash val="dash"/>
          </a:ln>
        </p:spPr>
      </p:sp>
      <p:sp>
        <p:nvSpPr>
          <p:cNvPr id="43" name="Shape 41"/>
          <p:cNvSpPr/>
          <p:nvPr/>
        </p:nvSpPr>
        <p:spPr>
          <a:xfrm flipV="1">
            <a:off x="4998176" y="4526280"/>
            <a:ext cx="122464" cy="341376"/>
          </a:xfrm>
          <a:prstGeom prst="line">
            <a:avLst/>
          </a:prstGeom>
          <a:noFill/>
          <a:ln w="12700">
            <a:solidFill>
              <a:srgbClr val="A9B1C0"/>
            </a:solidFill>
            <a:prstDash val="dash"/>
          </a:ln>
        </p:spPr>
      </p:sp>
      <p:sp>
        <p:nvSpPr>
          <p:cNvPr id="44" name="Shape 42"/>
          <p:cNvSpPr txBox="1"/>
          <p:nvPr/>
        </p:nvSpPr>
        <p:spPr>
          <a:xfrm>
            <a:off x="3704953" y="4867656"/>
            <a:ext cx="1293223" cy="129540"/>
          </a:xfrm>
          <a:prstGeom prst="rect">
            <a:avLst/>
          </a:prstGeom>
          <a:ln w="15875">
            <a:solidFill>
              <a:srgbClr val="6B7280"/>
            </a:solidFill>
            <a:prstDash val="dash"/>
          </a:ln>
        </p:spPr>
      </p:sp>
      <p:sp>
        <p:nvSpPr>
          <p:cNvPr id="45" name="Shape 43"/>
          <p:cNvSpPr txBox="1"/>
          <p:nvPr/>
        </p:nvSpPr>
        <p:spPr>
          <a:xfrm>
            <a:off x="1371600" y="2514600"/>
            <a:ext cx="3749040" cy="2011680"/>
          </a:xfrm>
          <a:prstGeom prst="rect">
            <a:avLst/>
          </a:prstGeom>
          <a:solidFill>
            <a:srgbClr val="FFFFFF"/>
          </a:solidFill>
          <a:ln w="15875">
            <a:solidFill>
              <a:srgbClr val="6B7280"/>
            </a:solidFill>
            <a:prstDash val="solid"/>
          </a:ln>
        </p:spPr>
      </p:sp>
      <p:sp>
        <p:nvSpPr>
          <p:cNvPr id="46" name="Text 44"/>
          <p:cNvSpPr txBox="1"/>
          <p:nvPr/>
        </p:nvSpPr>
        <p:spPr>
          <a:xfrm>
            <a:off x="1463040" y="2569464"/>
            <a:ext cx="3566160" cy="256032"/>
          </a:xfrm>
          <a:prstGeom prst="rect">
            <a:avLst/>
          </a:prstGeom>
          <a:noFill/>
          <a:ln/>
        </p:spPr>
        <p:txBody>
          <a:bodyPr wrap="square" lIns="0" tIns="0" rIns="0" bIns="0" rtlCol="0" anchor="t"/>
          <a:lstStyle/>
          <a:p>
            <a:pPr indent="0" marL="0">
              <a:buNone/>
            </a:pPr>
            <a:r>
              <a:rPr lang="en-US" sz="1200" i="1" dirty="0">
                <a:solidFill>
                  <a:srgbClr val="6B7280"/>
                </a:solidFill>
                <a:latin typeface="Arial" pitchFamily="34" charset="0"/>
                <a:ea typeface="Arial" pitchFamily="34" charset="-122"/>
                <a:cs typeface="Arial" pitchFamily="34" charset="-120"/>
              </a:rPr>
              <a:t>Zoom of dashed box (own axes)</a:t>
            </a:r>
            <a:endParaRPr lang="en-US" sz="1200" dirty="0"/>
          </a:p>
        </p:txBody>
      </p:sp>
      <p:sp>
        <p:nvSpPr>
          <p:cNvPr id="47" name="Shape 45"/>
          <p:cNvSpPr/>
          <p:nvPr/>
        </p:nvSpPr>
        <p:spPr>
          <a:xfrm>
            <a:off x="1874520" y="2880360"/>
            <a:ext cx="0" cy="1234440"/>
          </a:xfrm>
          <a:prstGeom prst="line">
            <a:avLst/>
          </a:prstGeom>
          <a:noFill/>
          <a:ln w="12700">
            <a:solidFill>
              <a:srgbClr val="9AA3B2"/>
            </a:solidFill>
            <a:prstDash val="solid"/>
          </a:ln>
        </p:spPr>
      </p:sp>
      <p:sp>
        <p:nvSpPr>
          <p:cNvPr id="48" name="Shape 46"/>
          <p:cNvSpPr/>
          <p:nvPr/>
        </p:nvSpPr>
        <p:spPr>
          <a:xfrm>
            <a:off x="1874520" y="4114800"/>
            <a:ext cx="3063240" cy="0"/>
          </a:xfrm>
          <a:prstGeom prst="line">
            <a:avLst/>
          </a:prstGeom>
          <a:noFill/>
          <a:ln w="12700">
            <a:solidFill>
              <a:srgbClr val="9AA3B2"/>
            </a:solidFill>
            <a:prstDash val="solid"/>
          </a:ln>
        </p:spPr>
      </p:sp>
      <p:sp>
        <p:nvSpPr>
          <p:cNvPr id="49" name="Text 47"/>
          <p:cNvSpPr txBox="1"/>
          <p:nvPr/>
        </p:nvSpPr>
        <p:spPr>
          <a:xfrm>
            <a:off x="1983105" y="4151376"/>
            <a:ext cx="548640" cy="228600"/>
          </a:xfrm>
          <a:prstGeom prst="rect">
            <a:avLst/>
          </a:prstGeom>
          <a:noFill/>
          <a:ln/>
        </p:spPr>
        <p:txBody>
          <a:bodyPr wrap="square" lIns="0" tIns="0" rIns="0" bIns="0" rtlCol="0" anchor="t"/>
          <a:lstStyle/>
          <a:p>
            <a:pPr algn="ctr" indent="0" marL="0">
              <a:buNone/>
            </a:pPr>
            <a:r>
              <a:rPr lang="en-US" sz="1200" dirty="0">
                <a:solidFill>
                  <a:srgbClr val="3A4560"/>
                </a:solidFill>
                <a:latin typeface="Arial" pitchFamily="34" charset="0"/>
                <a:ea typeface="Arial" pitchFamily="34" charset="-122"/>
                <a:cs typeface="Arial" pitchFamily="34" charset="-120"/>
              </a:rPr>
              <a:t>72</a:t>
            </a:r>
            <a:endParaRPr lang="en-US" sz="1200" dirty="0"/>
          </a:p>
        </p:txBody>
      </p:sp>
      <p:sp>
        <p:nvSpPr>
          <p:cNvPr id="50" name="Text 48"/>
          <p:cNvSpPr txBox="1"/>
          <p:nvPr/>
        </p:nvSpPr>
        <p:spPr>
          <a:xfrm>
            <a:off x="2748915" y="4151376"/>
            <a:ext cx="548640" cy="228600"/>
          </a:xfrm>
          <a:prstGeom prst="rect">
            <a:avLst/>
          </a:prstGeom>
          <a:noFill/>
          <a:ln/>
        </p:spPr>
        <p:txBody>
          <a:bodyPr wrap="square" lIns="0" tIns="0" rIns="0" bIns="0" rtlCol="0" anchor="t"/>
          <a:lstStyle/>
          <a:p>
            <a:pPr algn="ctr" indent="0" marL="0">
              <a:buNone/>
            </a:pPr>
            <a:r>
              <a:rPr lang="en-US" sz="1200" dirty="0">
                <a:solidFill>
                  <a:srgbClr val="3A4560"/>
                </a:solidFill>
                <a:latin typeface="Arial" pitchFamily="34" charset="0"/>
                <a:ea typeface="Arial" pitchFamily="34" charset="-122"/>
                <a:cs typeface="Arial" pitchFamily="34" charset="-120"/>
              </a:rPr>
              <a:t>73</a:t>
            </a:r>
            <a:endParaRPr lang="en-US" sz="1200" dirty="0"/>
          </a:p>
        </p:txBody>
      </p:sp>
      <p:sp>
        <p:nvSpPr>
          <p:cNvPr id="51" name="Text 49"/>
          <p:cNvSpPr txBox="1"/>
          <p:nvPr/>
        </p:nvSpPr>
        <p:spPr>
          <a:xfrm>
            <a:off x="3514725" y="4151376"/>
            <a:ext cx="548640" cy="228600"/>
          </a:xfrm>
          <a:prstGeom prst="rect">
            <a:avLst/>
          </a:prstGeom>
          <a:noFill/>
          <a:ln/>
        </p:spPr>
        <p:txBody>
          <a:bodyPr wrap="square" lIns="0" tIns="0" rIns="0" bIns="0" rtlCol="0" anchor="t"/>
          <a:lstStyle/>
          <a:p>
            <a:pPr algn="ctr" indent="0" marL="0">
              <a:buNone/>
            </a:pPr>
            <a:r>
              <a:rPr lang="en-US" sz="1200" dirty="0">
                <a:solidFill>
                  <a:srgbClr val="3A4560"/>
                </a:solidFill>
                <a:latin typeface="Arial" pitchFamily="34" charset="0"/>
                <a:ea typeface="Arial" pitchFamily="34" charset="-122"/>
                <a:cs typeface="Arial" pitchFamily="34" charset="-120"/>
              </a:rPr>
              <a:t>74</a:t>
            </a:r>
            <a:endParaRPr lang="en-US" sz="1200" dirty="0"/>
          </a:p>
        </p:txBody>
      </p:sp>
      <p:sp>
        <p:nvSpPr>
          <p:cNvPr id="52" name="Text 50"/>
          <p:cNvSpPr txBox="1"/>
          <p:nvPr/>
        </p:nvSpPr>
        <p:spPr>
          <a:xfrm>
            <a:off x="4280535" y="4151376"/>
            <a:ext cx="548640" cy="228600"/>
          </a:xfrm>
          <a:prstGeom prst="rect">
            <a:avLst/>
          </a:prstGeom>
          <a:noFill/>
          <a:ln/>
        </p:spPr>
        <p:txBody>
          <a:bodyPr wrap="square" lIns="0" tIns="0" rIns="0" bIns="0" rtlCol="0" anchor="t"/>
          <a:lstStyle/>
          <a:p>
            <a:pPr algn="ctr" indent="0" marL="0">
              <a:buNone/>
            </a:pPr>
            <a:r>
              <a:rPr lang="en-US" sz="1200" dirty="0">
                <a:solidFill>
                  <a:srgbClr val="3A4560"/>
                </a:solidFill>
                <a:latin typeface="Arial" pitchFamily="34" charset="0"/>
                <a:ea typeface="Arial" pitchFamily="34" charset="-122"/>
                <a:cs typeface="Arial" pitchFamily="34" charset="-120"/>
              </a:rPr>
              <a:t>75</a:t>
            </a:r>
            <a:endParaRPr lang="en-US" sz="1200" dirty="0"/>
          </a:p>
        </p:txBody>
      </p:sp>
      <p:sp>
        <p:nvSpPr>
          <p:cNvPr id="53" name="Text 51"/>
          <p:cNvSpPr txBox="1"/>
          <p:nvPr/>
        </p:nvSpPr>
        <p:spPr>
          <a:xfrm>
            <a:off x="1463040" y="3758184"/>
            <a:ext cx="347472" cy="228600"/>
          </a:xfrm>
          <a:prstGeom prst="rect">
            <a:avLst/>
          </a:prstGeom>
          <a:noFill/>
          <a:ln/>
        </p:spPr>
        <p:txBody>
          <a:bodyPr wrap="square" lIns="0" tIns="0" rIns="0" bIns="0" rtlCol="0" anchor="ctr"/>
          <a:lstStyle/>
          <a:p>
            <a:pPr algn="r" indent="0" marL="0">
              <a:buNone/>
            </a:pPr>
            <a:r>
              <a:rPr lang="en-US" sz="1200" dirty="0">
                <a:solidFill>
                  <a:srgbClr val="3A4560"/>
                </a:solidFill>
                <a:latin typeface="Arial" pitchFamily="34" charset="0"/>
                <a:ea typeface="Arial" pitchFamily="34" charset="-122"/>
                <a:cs typeface="Arial" pitchFamily="34" charset="-120"/>
              </a:rPr>
              <a:t>2</a:t>
            </a:r>
            <a:endParaRPr lang="en-US" sz="1200" dirty="0"/>
          </a:p>
        </p:txBody>
      </p:sp>
      <p:sp>
        <p:nvSpPr>
          <p:cNvPr id="54" name="Text 52"/>
          <p:cNvSpPr txBox="1"/>
          <p:nvPr/>
        </p:nvSpPr>
        <p:spPr>
          <a:xfrm>
            <a:off x="1463040" y="3264408"/>
            <a:ext cx="347472" cy="228600"/>
          </a:xfrm>
          <a:prstGeom prst="rect">
            <a:avLst/>
          </a:prstGeom>
          <a:noFill/>
          <a:ln/>
        </p:spPr>
        <p:txBody>
          <a:bodyPr wrap="square" lIns="0" tIns="0" rIns="0" bIns="0" rtlCol="0" anchor="ctr"/>
          <a:lstStyle/>
          <a:p>
            <a:pPr algn="r" indent="0" marL="0">
              <a:buNone/>
            </a:pPr>
            <a:r>
              <a:rPr lang="en-US" sz="1200" dirty="0">
                <a:solidFill>
                  <a:srgbClr val="3A4560"/>
                </a:solidFill>
                <a:latin typeface="Arial" pitchFamily="34" charset="0"/>
                <a:ea typeface="Arial" pitchFamily="34" charset="-122"/>
                <a:cs typeface="Arial" pitchFamily="34" charset="-120"/>
              </a:rPr>
              <a:t>3</a:t>
            </a:r>
            <a:endParaRPr lang="en-US" sz="1200" dirty="0"/>
          </a:p>
        </p:txBody>
      </p:sp>
      <p:sp>
        <p:nvSpPr>
          <p:cNvPr id="55" name="Text 53"/>
          <p:cNvSpPr txBox="1"/>
          <p:nvPr/>
        </p:nvSpPr>
        <p:spPr>
          <a:xfrm>
            <a:off x="1463040" y="2770632"/>
            <a:ext cx="347472" cy="228600"/>
          </a:xfrm>
          <a:prstGeom prst="rect">
            <a:avLst/>
          </a:prstGeom>
          <a:noFill/>
          <a:ln/>
        </p:spPr>
        <p:txBody>
          <a:bodyPr wrap="square" lIns="0" tIns="0" rIns="0" bIns="0" rtlCol="0" anchor="ctr"/>
          <a:lstStyle/>
          <a:p>
            <a:pPr algn="r" indent="0" marL="0">
              <a:buNone/>
            </a:pPr>
            <a:r>
              <a:rPr lang="en-US" sz="1200" dirty="0">
                <a:solidFill>
                  <a:srgbClr val="3A4560"/>
                </a:solidFill>
                <a:latin typeface="Arial" pitchFamily="34" charset="0"/>
                <a:ea typeface="Arial" pitchFamily="34" charset="-122"/>
                <a:cs typeface="Arial" pitchFamily="34" charset="-120"/>
              </a:rPr>
              <a:t>4</a:t>
            </a:r>
            <a:endParaRPr lang="en-US" sz="1200" dirty="0"/>
          </a:p>
        </p:txBody>
      </p:sp>
      <p:sp>
        <p:nvSpPr>
          <p:cNvPr id="56" name="Shape 54"/>
          <p:cNvSpPr txBox="1"/>
          <p:nvPr/>
        </p:nvSpPr>
        <p:spPr>
          <a:xfrm>
            <a:off x="4739172" y="2069013"/>
            <a:ext cx="201168" cy="201168"/>
          </a:xfrm>
          <a:prstGeom prst="ellipse">
            <a:avLst/>
          </a:prstGeom>
          <a:solidFill>
            <a:srgbClr val="D62839"/>
          </a:solidFill>
          <a:ln w="12700">
            <a:solidFill>
              <a:srgbClr val="FFFFFF"/>
            </a:solidFill>
            <a:prstDash val="solid"/>
          </a:ln>
        </p:spPr>
      </p:sp>
      <p:sp>
        <p:nvSpPr>
          <p:cNvPr id="57" name="Text 55"/>
          <p:cNvSpPr txBox="1"/>
          <p:nvPr/>
        </p:nvSpPr>
        <p:spPr>
          <a:xfrm>
            <a:off x="3559596" y="2041581"/>
            <a:ext cx="1097280" cy="256032"/>
          </a:xfrm>
          <a:prstGeom prst="rect">
            <a:avLst/>
          </a:prstGeom>
          <a:noFill/>
          <a:ln/>
        </p:spPr>
        <p:txBody>
          <a:bodyPr wrap="none" lIns="0" tIns="0" rIns="0" bIns="0" rtlCol="0" anchor="ctr"/>
          <a:lstStyle/>
          <a:p>
            <a:pPr algn="r" indent="0" marL="0">
              <a:buNone/>
            </a:pPr>
            <a:r>
              <a:rPr lang="en-US" sz="1400" b="1" dirty="0">
                <a:solidFill>
                  <a:srgbClr val="14213D"/>
                </a:solidFill>
                <a:latin typeface="Arial" pitchFamily="34" charset="0"/>
                <a:ea typeface="Arial" pitchFamily="34" charset="-122"/>
                <a:cs typeface="Arial" pitchFamily="34" charset="-120"/>
              </a:rPr>
              <a:t>M_attack</a:t>
            </a:r>
            <a:endParaRPr lang="en-US" sz="1400" dirty="0"/>
          </a:p>
        </p:txBody>
      </p:sp>
      <p:sp>
        <p:nvSpPr>
          <p:cNvPr id="58" name="Shape 56"/>
          <p:cNvSpPr txBox="1"/>
          <p:nvPr/>
        </p:nvSpPr>
        <p:spPr>
          <a:xfrm>
            <a:off x="2110696" y="4961900"/>
            <a:ext cx="201168" cy="201168"/>
          </a:xfrm>
          <a:prstGeom prst="ellipse">
            <a:avLst/>
          </a:prstGeom>
          <a:solidFill>
            <a:srgbClr val="E8890C"/>
          </a:solidFill>
          <a:ln w="12700">
            <a:solidFill>
              <a:srgbClr val="FFFFFF"/>
            </a:solidFill>
            <a:prstDash val="solid"/>
          </a:ln>
        </p:spPr>
      </p:sp>
      <p:sp>
        <p:nvSpPr>
          <p:cNvPr id="59" name="Text 57"/>
          <p:cNvSpPr txBox="1"/>
          <p:nvPr/>
        </p:nvSpPr>
        <p:spPr>
          <a:xfrm>
            <a:off x="1296880" y="4678436"/>
            <a:ext cx="731520" cy="256032"/>
          </a:xfrm>
          <a:prstGeom prst="rect">
            <a:avLst/>
          </a:prstGeom>
          <a:noFill/>
          <a:ln/>
        </p:spPr>
        <p:txBody>
          <a:bodyPr wrap="none" lIns="0" tIns="0" rIns="0" bIns="0" rtlCol="0" anchor="ctr"/>
          <a:lstStyle/>
          <a:p>
            <a:pPr algn="r" indent="0" marL="0">
              <a:buNone/>
            </a:pPr>
            <a:r>
              <a:rPr lang="en-US" sz="1400" b="1" dirty="0">
                <a:solidFill>
                  <a:srgbClr val="14213D"/>
                </a:solidFill>
                <a:latin typeface="Arial" pitchFamily="34" charset="0"/>
                <a:ea typeface="Arial" pitchFamily="34" charset="-122"/>
                <a:cs typeface="Arial" pitchFamily="34" charset="-120"/>
              </a:rPr>
              <a:t>M_sub</a:t>
            </a:r>
            <a:endParaRPr lang="en-US" sz="1400" dirty="0"/>
          </a:p>
        </p:txBody>
      </p:sp>
      <p:sp>
        <p:nvSpPr>
          <p:cNvPr id="60" name="Shape 58"/>
          <p:cNvSpPr txBox="1"/>
          <p:nvPr/>
        </p:nvSpPr>
        <p:spPr>
          <a:xfrm>
            <a:off x="4076852" y="4895698"/>
            <a:ext cx="109728" cy="109728"/>
          </a:xfrm>
          <a:prstGeom prst="ellipse">
            <a:avLst/>
          </a:prstGeom>
          <a:solidFill>
            <a:srgbClr val="7B4FB8"/>
          </a:solidFill>
          <a:ln w="12700">
            <a:solidFill>
              <a:srgbClr val="FFFFFF"/>
            </a:solidFill>
            <a:prstDash val="solid"/>
          </a:ln>
        </p:spPr>
      </p:sp>
      <p:sp>
        <p:nvSpPr>
          <p:cNvPr id="61" name="Shape 59"/>
          <p:cNvSpPr txBox="1"/>
          <p:nvPr/>
        </p:nvSpPr>
        <p:spPr>
          <a:xfrm>
            <a:off x="2784805" y="3569818"/>
            <a:ext cx="201168" cy="201168"/>
          </a:xfrm>
          <a:prstGeom prst="ellipse">
            <a:avLst/>
          </a:prstGeom>
          <a:solidFill>
            <a:srgbClr val="7B4FB8"/>
          </a:solidFill>
          <a:ln w="12700">
            <a:solidFill>
              <a:srgbClr val="FFFFFF"/>
            </a:solidFill>
            <a:prstDash val="solid"/>
          </a:ln>
        </p:spPr>
      </p:sp>
      <p:sp>
        <p:nvSpPr>
          <p:cNvPr id="62" name="Text 60"/>
          <p:cNvSpPr txBox="1"/>
          <p:nvPr/>
        </p:nvSpPr>
        <p:spPr>
          <a:xfrm>
            <a:off x="2428189" y="3816706"/>
            <a:ext cx="914400" cy="256032"/>
          </a:xfrm>
          <a:prstGeom prst="rect">
            <a:avLst/>
          </a:prstGeom>
          <a:noFill/>
          <a:ln/>
        </p:spPr>
        <p:txBody>
          <a:bodyPr wrap="none" lIns="0" tIns="0" rIns="0" bIns="0" rtlCol="0" anchor="ctr"/>
          <a:lstStyle/>
          <a:p>
            <a:pPr algn="ctr" indent="0" marL="0">
              <a:buNone/>
            </a:pPr>
            <a:r>
              <a:rPr lang="en-US" sz="1400" b="1" dirty="0">
                <a:solidFill>
                  <a:srgbClr val="14213D"/>
                </a:solidFill>
                <a:latin typeface="Arial" pitchFamily="34" charset="0"/>
                <a:ea typeface="Arial" pitchFamily="34" charset="-122"/>
                <a:cs typeface="Arial" pitchFamily="34" charset="-120"/>
              </a:rPr>
              <a:t>M_KD</a:t>
            </a:r>
            <a:endParaRPr lang="en-US" sz="1400" dirty="0"/>
          </a:p>
        </p:txBody>
      </p:sp>
      <p:sp>
        <p:nvSpPr>
          <p:cNvPr id="63" name="Shape 61"/>
          <p:cNvSpPr txBox="1"/>
          <p:nvPr/>
        </p:nvSpPr>
        <p:spPr>
          <a:xfrm>
            <a:off x="3847305" y="4881707"/>
            <a:ext cx="109728" cy="109728"/>
          </a:xfrm>
          <a:prstGeom prst="ellipse">
            <a:avLst/>
          </a:prstGeom>
          <a:solidFill>
            <a:srgbClr val="7CCFC4"/>
          </a:solidFill>
          <a:ln w="19050">
            <a:solidFill>
              <a:srgbClr val="0B7A75"/>
            </a:solidFill>
            <a:prstDash val="solid"/>
          </a:ln>
        </p:spPr>
      </p:sp>
      <p:sp>
        <p:nvSpPr>
          <p:cNvPr id="64" name="Shape 62"/>
          <p:cNvSpPr txBox="1"/>
          <p:nvPr/>
        </p:nvSpPr>
        <p:spPr>
          <a:xfrm>
            <a:off x="2241080" y="3436498"/>
            <a:ext cx="201168" cy="201168"/>
          </a:xfrm>
          <a:prstGeom prst="ellipse">
            <a:avLst/>
          </a:prstGeom>
          <a:solidFill>
            <a:srgbClr val="7CCFC4"/>
          </a:solidFill>
          <a:ln w="19050">
            <a:solidFill>
              <a:srgbClr val="0B7A75"/>
            </a:solidFill>
            <a:prstDash val="solid"/>
          </a:ln>
        </p:spPr>
      </p:sp>
      <p:sp>
        <p:nvSpPr>
          <p:cNvPr id="65" name="Text 63"/>
          <p:cNvSpPr txBox="1"/>
          <p:nvPr/>
        </p:nvSpPr>
        <p:spPr>
          <a:xfrm>
            <a:off x="2021624" y="3134746"/>
            <a:ext cx="1737360" cy="256032"/>
          </a:xfrm>
          <a:prstGeom prst="rect">
            <a:avLst/>
          </a:prstGeom>
          <a:noFill/>
          <a:ln/>
        </p:spPr>
        <p:txBody>
          <a:bodyPr wrap="none" lIns="0" tIns="0" rIns="0" bIns="0" rtlCol="0" anchor="ctr"/>
          <a:lstStyle/>
          <a:p>
            <a:pPr algn="l" indent="0" marL="0">
              <a:buNone/>
            </a:pPr>
            <a:r>
              <a:rPr lang="en-US" sz="1400" b="1" dirty="0">
                <a:solidFill>
                  <a:srgbClr val="14213D"/>
                </a:solidFill>
                <a:latin typeface="Arial" pitchFamily="34" charset="0"/>
                <a:ea typeface="Arial" pitchFamily="34" charset="-122"/>
                <a:cs typeface="Arial" pitchFamily="34" charset="-120"/>
              </a:rPr>
              <a:t>FedEraser Ecal=1</a:t>
            </a:r>
            <a:endParaRPr lang="en-US" sz="1400" dirty="0"/>
          </a:p>
        </p:txBody>
      </p:sp>
      <p:sp>
        <p:nvSpPr>
          <p:cNvPr id="66" name="Shape 64"/>
          <p:cNvSpPr txBox="1"/>
          <p:nvPr/>
        </p:nvSpPr>
        <p:spPr>
          <a:xfrm>
            <a:off x="4778426" y="4898807"/>
            <a:ext cx="109728" cy="109728"/>
          </a:xfrm>
          <a:prstGeom prst="ellipse">
            <a:avLst/>
          </a:prstGeom>
          <a:solidFill>
            <a:srgbClr val="0B7A75"/>
          </a:solidFill>
          <a:ln w="12700">
            <a:solidFill>
              <a:srgbClr val="FFFFFF"/>
            </a:solidFill>
            <a:prstDash val="solid"/>
          </a:ln>
        </p:spPr>
      </p:sp>
      <p:sp>
        <p:nvSpPr>
          <p:cNvPr id="67" name="Shape 65"/>
          <p:cNvSpPr txBox="1"/>
          <p:nvPr/>
        </p:nvSpPr>
        <p:spPr>
          <a:xfrm>
            <a:off x="4446613" y="3599444"/>
            <a:ext cx="201168" cy="201168"/>
          </a:xfrm>
          <a:prstGeom prst="ellipse">
            <a:avLst/>
          </a:prstGeom>
          <a:solidFill>
            <a:srgbClr val="0B7A75"/>
          </a:solidFill>
          <a:ln w="12700">
            <a:solidFill>
              <a:srgbClr val="FFFFFF"/>
            </a:solidFill>
            <a:prstDash val="solid"/>
          </a:ln>
        </p:spPr>
      </p:sp>
      <p:sp>
        <p:nvSpPr>
          <p:cNvPr id="68" name="Text 66"/>
          <p:cNvSpPr txBox="1"/>
          <p:nvPr/>
        </p:nvSpPr>
        <p:spPr>
          <a:xfrm>
            <a:off x="3221317" y="3846332"/>
            <a:ext cx="1737360" cy="256032"/>
          </a:xfrm>
          <a:prstGeom prst="rect">
            <a:avLst/>
          </a:prstGeom>
          <a:noFill/>
          <a:ln/>
        </p:spPr>
        <p:txBody>
          <a:bodyPr wrap="none" lIns="0" tIns="0" rIns="0" bIns="0" rtlCol="0" anchor="ctr"/>
          <a:lstStyle/>
          <a:p>
            <a:pPr algn="r" indent="0" marL="0">
              <a:buNone/>
            </a:pPr>
            <a:r>
              <a:rPr lang="en-US" sz="1400" b="1" dirty="0">
                <a:solidFill>
                  <a:srgbClr val="14213D"/>
                </a:solidFill>
                <a:latin typeface="Arial" pitchFamily="34" charset="0"/>
                <a:ea typeface="Arial" pitchFamily="34" charset="-122"/>
                <a:cs typeface="Arial" pitchFamily="34" charset="-120"/>
              </a:rPr>
              <a:t>FedEraser Ecal=2</a:t>
            </a:r>
            <a:endParaRPr lang="en-US" sz="1400" dirty="0"/>
          </a:p>
        </p:txBody>
      </p:sp>
      <p:sp>
        <p:nvSpPr>
          <p:cNvPr id="69" name="Shape 67"/>
          <p:cNvSpPr txBox="1"/>
          <p:nvPr/>
        </p:nvSpPr>
        <p:spPr>
          <a:xfrm>
            <a:off x="4739629" y="4864090"/>
            <a:ext cx="109728" cy="109728"/>
          </a:xfrm>
          <a:prstGeom prst="ellipse">
            <a:avLst/>
          </a:prstGeom>
          <a:solidFill>
            <a:srgbClr val="FFFFFF"/>
          </a:solidFill>
          <a:ln w="25400">
            <a:solidFill>
              <a:srgbClr val="4A4F57"/>
            </a:solidFill>
            <a:prstDash val="dash"/>
          </a:ln>
        </p:spPr>
      </p:sp>
      <p:sp>
        <p:nvSpPr>
          <p:cNvPr id="70" name="Shape 68"/>
          <p:cNvSpPr txBox="1"/>
          <p:nvPr/>
        </p:nvSpPr>
        <p:spPr>
          <a:xfrm>
            <a:off x="4354716" y="3268614"/>
            <a:ext cx="201168" cy="201168"/>
          </a:xfrm>
          <a:prstGeom prst="ellipse">
            <a:avLst/>
          </a:prstGeom>
          <a:solidFill>
            <a:srgbClr val="FFFFFF"/>
          </a:solidFill>
          <a:ln w="25400">
            <a:solidFill>
              <a:srgbClr val="4A4F57"/>
            </a:solidFill>
            <a:prstDash val="dash"/>
          </a:ln>
        </p:spPr>
      </p:sp>
      <p:sp>
        <p:nvSpPr>
          <p:cNvPr id="71" name="Text 69"/>
          <p:cNvSpPr txBox="1"/>
          <p:nvPr/>
        </p:nvSpPr>
        <p:spPr>
          <a:xfrm>
            <a:off x="3312300" y="2966862"/>
            <a:ext cx="1554480" cy="256032"/>
          </a:xfrm>
          <a:prstGeom prst="rect">
            <a:avLst/>
          </a:prstGeom>
          <a:noFill/>
          <a:ln/>
        </p:spPr>
        <p:txBody>
          <a:bodyPr wrap="none" lIns="0" tIns="0" rIns="0" bIns="0" rtlCol="0" anchor="ctr"/>
          <a:lstStyle/>
          <a:p>
            <a:pPr algn="r" indent="0" marL="0">
              <a:buNone/>
            </a:pPr>
            <a:r>
              <a:rPr lang="en-US" sz="1400" b="1" dirty="0">
                <a:solidFill>
                  <a:srgbClr val="14213D"/>
                </a:solidFill>
                <a:latin typeface="Arial" pitchFamily="34" charset="0"/>
                <a:ea typeface="Arial" pitchFamily="34" charset="-122"/>
                <a:cs typeface="Arial" pitchFamily="34" charset="-120"/>
              </a:rPr>
              <a:t>M_CF reference</a:t>
            </a:r>
            <a:endParaRPr lang="en-US" sz="1400" dirty="0"/>
          </a:p>
        </p:txBody>
      </p:sp>
      <p:sp>
        <p:nvSpPr>
          <p:cNvPr id="72" name="Text 70"/>
          <p:cNvSpPr txBox="1"/>
          <p:nvPr/>
        </p:nvSpPr>
        <p:spPr>
          <a:xfrm>
            <a:off x="6217920" y="1554480"/>
            <a:ext cx="5440680" cy="347472"/>
          </a:xfrm>
          <a:prstGeom prst="rect">
            <a:avLst/>
          </a:prstGeom>
          <a:noFill/>
          <a:ln/>
        </p:spPr>
        <p:txBody>
          <a:bodyPr wrap="square" lIns="0" tIns="0" rIns="0" bIns="0" rtlCol="0" anchor="t"/>
          <a:lstStyle/>
          <a:p>
            <a:pPr indent="0" marL="0">
              <a:buNone/>
            </a:pPr>
            <a:r>
              <a:rPr lang="en-US" sz="1800" b="1" dirty="0">
                <a:solidFill>
                  <a:srgbClr val="14213D"/>
                </a:solidFill>
                <a:latin typeface="Arial" pitchFamily="34" charset="0"/>
                <a:ea typeface="Arial" pitchFamily="34" charset="-122"/>
                <a:cs typeface="Arial" pitchFamily="34" charset="-120"/>
              </a:rPr>
              <a:t>Non-IID · one saved partition / seed</a:t>
            </a:r>
            <a:endParaRPr lang="en-US" sz="1800" dirty="0"/>
          </a:p>
        </p:txBody>
      </p:sp>
      <p:sp>
        <p:nvSpPr>
          <p:cNvPr id="73" name="Shape 71"/>
          <p:cNvSpPr/>
          <p:nvPr/>
        </p:nvSpPr>
        <p:spPr>
          <a:xfrm>
            <a:off x="6949440" y="5074920"/>
            <a:ext cx="4526280" cy="0"/>
          </a:xfrm>
          <a:prstGeom prst="line">
            <a:avLst/>
          </a:prstGeom>
          <a:noFill/>
          <a:ln w="9525">
            <a:solidFill>
              <a:srgbClr val="E3E7ED"/>
            </a:solidFill>
            <a:prstDash val="solid"/>
          </a:ln>
        </p:spPr>
      </p:sp>
      <p:sp>
        <p:nvSpPr>
          <p:cNvPr id="74" name="Text 72"/>
          <p:cNvSpPr txBox="1"/>
          <p:nvPr/>
        </p:nvSpPr>
        <p:spPr>
          <a:xfrm>
            <a:off x="6492240" y="4946904"/>
            <a:ext cx="384048" cy="256032"/>
          </a:xfrm>
          <a:prstGeom prst="rect">
            <a:avLst/>
          </a:prstGeom>
          <a:noFill/>
          <a:ln/>
        </p:spPr>
        <p:txBody>
          <a:bodyPr wrap="square" lIns="0" tIns="0" rIns="0" bIns="0" rtlCol="0" anchor="ctr"/>
          <a:lstStyle/>
          <a:p>
            <a:pPr algn="r" indent="0" marL="0">
              <a:buNone/>
            </a:pPr>
            <a:r>
              <a:rPr lang="en-US" sz="1300" dirty="0">
                <a:solidFill>
                  <a:srgbClr val="3A4560"/>
                </a:solidFill>
                <a:latin typeface="Arial" pitchFamily="34" charset="0"/>
                <a:ea typeface="Arial" pitchFamily="34" charset="-122"/>
                <a:cs typeface="Arial" pitchFamily="34" charset="-120"/>
              </a:rPr>
              <a:t>0</a:t>
            </a:r>
            <a:endParaRPr lang="en-US" sz="1300" dirty="0"/>
          </a:p>
        </p:txBody>
      </p:sp>
      <p:sp>
        <p:nvSpPr>
          <p:cNvPr id="75" name="Shape 73"/>
          <p:cNvSpPr/>
          <p:nvPr/>
        </p:nvSpPr>
        <p:spPr>
          <a:xfrm>
            <a:off x="6949440" y="4297680"/>
            <a:ext cx="4526280" cy="0"/>
          </a:xfrm>
          <a:prstGeom prst="line">
            <a:avLst/>
          </a:prstGeom>
          <a:noFill/>
          <a:ln w="9525">
            <a:solidFill>
              <a:srgbClr val="E3E7ED"/>
            </a:solidFill>
            <a:prstDash val="solid"/>
          </a:ln>
        </p:spPr>
      </p:sp>
      <p:sp>
        <p:nvSpPr>
          <p:cNvPr id="76" name="Text 74"/>
          <p:cNvSpPr txBox="1"/>
          <p:nvPr/>
        </p:nvSpPr>
        <p:spPr>
          <a:xfrm>
            <a:off x="6492240" y="4169664"/>
            <a:ext cx="384048" cy="256032"/>
          </a:xfrm>
          <a:prstGeom prst="rect">
            <a:avLst/>
          </a:prstGeom>
          <a:noFill/>
          <a:ln/>
        </p:spPr>
        <p:txBody>
          <a:bodyPr wrap="square" lIns="0" tIns="0" rIns="0" bIns="0" rtlCol="0" anchor="ctr"/>
          <a:lstStyle/>
          <a:p>
            <a:pPr algn="r" indent="0" marL="0">
              <a:buNone/>
            </a:pPr>
            <a:r>
              <a:rPr lang="en-US" sz="1300" dirty="0">
                <a:solidFill>
                  <a:srgbClr val="3A4560"/>
                </a:solidFill>
                <a:latin typeface="Arial" pitchFamily="34" charset="0"/>
                <a:ea typeface="Arial" pitchFamily="34" charset="-122"/>
                <a:cs typeface="Arial" pitchFamily="34" charset="-120"/>
              </a:rPr>
              <a:t>10</a:t>
            </a:r>
            <a:endParaRPr lang="en-US" sz="1300" dirty="0"/>
          </a:p>
        </p:txBody>
      </p:sp>
      <p:sp>
        <p:nvSpPr>
          <p:cNvPr id="77" name="Shape 75"/>
          <p:cNvSpPr/>
          <p:nvPr/>
        </p:nvSpPr>
        <p:spPr>
          <a:xfrm>
            <a:off x="6949440" y="3520440"/>
            <a:ext cx="4526280" cy="0"/>
          </a:xfrm>
          <a:prstGeom prst="line">
            <a:avLst/>
          </a:prstGeom>
          <a:noFill/>
          <a:ln w="9525">
            <a:solidFill>
              <a:srgbClr val="E3E7ED"/>
            </a:solidFill>
            <a:prstDash val="solid"/>
          </a:ln>
        </p:spPr>
      </p:sp>
      <p:sp>
        <p:nvSpPr>
          <p:cNvPr id="78" name="Text 76"/>
          <p:cNvSpPr txBox="1"/>
          <p:nvPr/>
        </p:nvSpPr>
        <p:spPr>
          <a:xfrm>
            <a:off x="6492240" y="3392424"/>
            <a:ext cx="384048" cy="256032"/>
          </a:xfrm>
          <a:prstGeom prst="rect">
            <a:avLst/>
          </a:prstGeom>
          <a:noFill/>
          <a:ln/>
        </p:spPr>
        <p:txBody>
          <a:bodyPr wrap="square" lIns="0" tIns="0" rIns="0" bIns="0" rtlCol="0" anchor="ctr"/>
          <a:lstStyle/>
          <a:p>
            <a:pPr algn="r" indent="0" marL="0">
              <a:buNone/>
            </a:pPr>
            <a:r>
              <a:rPr lang="en-US" sz="1300" dirty="0">
                <a:solidFill>
                  <a:srgbClr val="3A4560"/>
                </a:solidFill>
                <a:latin typeface="Arial" pitchFamily="34" charset="0"/>
                <a:ea typeface="Arial" pitchFamily="34" charset="-122"/>
                <a:cs typeface="Arial" pitchFamily="34" charset="-120"/>
              </a:rPr>
              <a:t>20</a:t>
            </a:r>
            <a:endParaRPr lang="en-US" sz="1300" dirty="0"/>
          </a:p>
        </p:txBody>
      </p:sp>
      <p:sp>
        <p:nvSpPr>
          <p:cNvPr id="79" name="Shape 77"/>
          <p:cNvSpPr/>
          <p:nvPr/>
        </p:nvSpPr>
        <p:spPr>
          <a:xfrm>
            <a:off x="6949440" y="2743200"/>
            <a:ext cx="4526280" cy="0"/>
          </a:xfrm>
          <a:prstGeom prst="line">
            <a:avLst/>
          </a:prstGeom>
          <a:noFill/>
          <a:ln w="9525">
            <a:solidFill>
              <a:srgbClr val="E3E7ED"/>
            </a:solidFill>
            <a:prstDash val="solid"/>
          </a:ln>
        </p:spPr>
      </p:sp>
      <p:sp>
        <p:nvSpPr>
          <p:cNvPr id="80" name="Text 78"/>
          <p:cNvSpPr txBox="1"/>
          <p:nvPr/>
        </p:nvSpPr>
        <p:spPr>
          <a:xfrm>
            <a:off x="6492240" y="2615184"/>
            <a:ext cx="384048" cy="256032"/>
          </a:xfrm>
          <a:prstGeom prst="rect">
            <a:avLst/>
          </a:prstGeom>
          <a:noFill/>
          <a:ln/>
        </p:spPr>
        <p:txBody>
          <a:bodyPr wrap="square" lIns="0" tIns="0" rIns="0" bIns="0" rtlCol="0" anchor="ctr"/>
          <a:lstStyle/>
          <a:p>
            <a:pPr algn="r" indent="0" marL="0">
              <a:buNone/>
            </a:pPr>
            <a:r>
              <a:rPr lang="en-US" sz="1300" dirty="0">
                <a:solidFill>
                  <a:srgbClr val="3A4560"/>
                </a:solidFill>
                <a:latin typeface="Arial" pitchFamily="34" charset="0"/>
                <a:ea typeface="Arial" pitchFamily="34" charset="-122"/>
                <a:cs typeface="Arial" pitchFamily="34" charset="-120"/>
              </a:rPr>
              <a:t>30</a:t>
            </a:r>
            <a:endParaRPr lang="en-US" sz="1300" dirty="0"/>
          </a:p>
        </p:txBody>
      </p:sp>
      <p:sp>
        <p:nvSpPr>
          <p:cNvPr id="81" name="Shape 79"/>
          <p:cNvSpPr/>
          <p:nvPr/>
        </p:nvSpPr>
        <p:spPr>
          <a:xfrm>
            <a:off x="6949440" y="1965960"/>
            <a:ext cx="4526280" cy="0"/>
          </a:xfrm>
          <a:prstGeom prst="line">
            <a:avLst/>
          </a:prstGeom>
          <a:noFill/>
          <a:ln w="9525">
            <a:solidFill>
              <a:srgbClr val="E3E7ED"/>
            </a:solidFill>
            <a:prstDash val="solid"/>
          </a:ln>
        </p:spPr>
      </p:sp>
      <p:sp>
        <p:nvSpPr>
          <p:cNvPr id="82" name="Text 80"/>
          <p:cNvSpPr txBox="1"/>
          <p:nvPr/>
        </p:nvSpPr>
        <p:spPr>
          <a:xfrm>
            <a:off x="6492240" y="1837944"/>
            <a:ext cx="384048" cy="256032"/>
          </a:xfrm>
          <a:prstGeom prst="rect">
            <a:avLst/>
          </a:prstGeom>
          <a:noFill/>
          <a:ln/>
        </p:spPr>
        <p:txBody>
          <a:bodyPr wrap="square" lIns="0" tIns="0" rIns="0" bIns="0" rtlCol="0" anchor="ctr"/>
          <a:lstStyle/>
          <a:p>
            <a:pPr algn="r" indent="0" marL="0">
              <a:buNone/>
            </a:pPr>
            <a:r>
              <a:rPr lang="en-US" sz="1300" dirty="0">
                <a:solidFill>
                  <a:srgbClr val="3A4560"/>
                </a:solidFill>
                <a:latin typeface="Arial" pitchFamily="34" charset="0"/>
                <a:ea typeface="Arial" pitchFamily="34" charset="-122"/>
                <a:cs typeface="Arial" pitchFamily="34" charset="-120"/>
              </a:rPr>
              <a:t>40</a:t>
            </a:r>
            <a:endParaRPr lang="en-US" sz="1300" dirty="0"/>
          </a:p>
        </p:txBody>
      </p:sp>
      <p:sp>
        <p:nvSpPr>
          <p:cNvPr id="83" name="Text 81"/>
          <p:cNvSpPr txBox="1"/>
          <p:nvPr/>
        </p:nvSpPr>
        <p:spPr>
          <a:xfrm>
            <a:off x="6675120" y="5129784"/>
            <a:ext cx="548640" cy="256032"/>
          </a:xfrm>
          <a:prstGeom prst="rect">
            <a:avLst/>
          </a:prstGeom>
          <a:noFill/>
          <a:ln/>
        </p:spPr>
        <p:txBody>
          <a:bodyPr wrap="square" lIns="0" tIns="0" rIns="0" bIns="0" rtlCol="0" anchor="t"/>
          <a:lstStyle/>
          <a:p>
            <a:pPr algn="ctr" indent="0" marL="0">
              <a:buNone/>
            </a:pPr>
            <a:r>
              <a:rPr lang="en-US" sz="1300" dirty="0">
                <a:solidFill>
                  <a:srgbClr val="3A4560"/>
                </a:solidFill>
                <a:latin typeface="Arial" pitchFamily="34" charset="0"/>
                <a:ea typeface="Arial" pitchFamily="34" charset="-122"/>
                <a:cs typeface="Arial" pitchFamily="34" charset="-120"/>
              </a:rPr>
              <a:t>20</a:t>
            </a:r>
            <a:endParaRPr lang="en-US" sz="1300" dirty="0"/>
          </a:p>
        </p:txBody>
      </p:sp>
      <p:sp>
        <p:nvSpPr>
          <p:cNvPr id="84" name="Text 82"/>
          <p:cNvSpPr txBox="1"/>
          <p:nvPr/>
        </p:nvSpPr>
        <p:spPr>
          <a:xfrm>
            <a:off x="7429500" y="5129784"/>
            <a:ext cx="548640" cy="256032"/>
          </a:xfrm>
          <a:prstGeom prst="rect">
            <a:avLst/>
          </a:prstGeom>
          <a:noFill/>
          <a:ln/>
        </p:spPr>
        <p:txBody>
          <a:bodyPr wrap="square" lIns="0" tIns="0" rIns="0" bIns="0" rtlCol="0" anchor="t"/>
          <a:lstStyle/>
          <a:p>
            <a:pPr algn="ctr" indent="0" marL="0">
              <a:buNone/>
            </a:pPr>
            <a:r>
              <a:rPr lang="en-US" sz="1300" dirty="0">
                <a:solidFill>
                  <a:srgbClr val="3A4560"/>
                </a:solidFill>
                <a:latin typeface="Arial" pitchFamily="34" charset="0"/>
                <a:ea typeface="Arial" pitchFamily="34" charset="-122"/>
                <a:cs typeface="Arial" pitchFamily="34" charset="-120"/>
              </a:rPr>
              <a:t>30</a:t>
            </a:r>
            <a:endParaRPr lang="en-US" sz="1300" dirty="0"/>
          </a:p>
        </p:txBody>
      </p:sp>
      <p:sp>
        <p:nvSpPr>
          <p:cNvPr id="85" name="Text 83"/>
          <p:cNvSpPr txBox="1"/>
          <p:nvPr/>
        </p:nvSpPr>
        <p:spPr>
          <a:xfrm>
            <a:off x="8183880" y="5129784"/>
            <a:ext cx="548640" cy="256032"/>
          </a:xfrm>
          <a:prstGeom prst="rect">
            <a:avLst/>
          </a:prstGeom>
          <a:noFill/>
          <a:ln/>
        </p:spPr>
        <p:txBody>
          <a:bodyPr wrap="square" lIns="0" tIns="0" rIns="0" bIns="0" rtlCol="0" anchor="t"/>
          <a:lstStyle/>
          <a:p>
            <a:pPr algn="ctr" indent="0" marL="0">
              <a:buNone/>
            </a:pPr>
            <a:r>
              <a:rPr lang="en-US" sz="1300" dirty="0">
                <a:solidFill>
                  <a:srgbClr val="3A4560"/>
                </a:solidFill>
                <a:latin typeface="Arial" pitchFamily="34" charset="0"/>
                <a:ea typeface="Arial" pitchFamily="34" charset="-122"/>
                <a:cs typeface="Arial" pitchFamily="34" charset="-120"/>
              </a:rPr>
              <a:t>40</a:t>
            </a:r>
            <a:endParaRPr lang="en-US" sz="1300" dirty="0"/>
          </a:p>
        </p:txBody>
      </p:sp>
      <p:sp>
        <p:nvSpPr>
          <p:cNvPr id="86" name="Text 84"/>
          <p:cNvSpPr txBox="1"/>
          <p:nvPr/>
        </p:nvSpPr>
        <p:spPr>
          <a:xfrm>
            <a:off x="8938260" y="5129784"/>
            <a:ext cx="548640" cy="256032"/>
          </a:xfrm>
          <a:prstGeom prst="rect">
            <a:avLst/>
          </a:prstGeom>
          <a:noFill/>
          <a:ln/>
        </p:spPr>
        <p:txBody>
          <a:bodyPr wrap="square" lIns="0" tIns="0" rIns="0" bIns="0" rtlCol="0" anchor="t"/>
          <a:lstStyle/>
          <a:p>
            <a:pPr algn="ctr" indent="0" marL="0">
              <a:buNone/>
            </a:pPr>
            <a:r>
              <a:rPr lang="en-US" sz="1300" dirty="0">
                <a:solidFill>
                  <a:srgbClr val="3A4560"/>
                </a:solidFill>
                <a:latin typeface="Arial" pitchFamily="34" charset="0"/>
                <a:ea typeface="Arial" pitchFamily="34" charset="-122"/>
                <a:cs typeface="Arial" pitchFamily="34" charset="-120"/>
              </a:rPr>
              <a:t>50</a:t>
            </a:r>
            <a:endParaRPr lang="en-US" sz="1300" dirty="0"/>
          </a:p>
        </p:txBody>
      </p:sp>
      <p:sp>
        <p:nvSpPr>
          <p:cNvPr id="87" name="Text 85"/>
          <p:cNvSpPr txBox="1"/>
          <p:nvPr/>
        </p:nvSpPr>
        <p:spPr>
          <a:xfrm>
            <a:off x="9692640" y="5129784"/>
            <a:ext cx="548640" cy="256032"/>
          </a:xfrm>
          <a:prstGeom prst="rect">
            <a:avLst/>
          </a:prstGeom>
          <a:noFill/>
          <a:ln/>
        </p:spPr>
        <p:txBody>
          <a:bodyPr wrap="square" lIns="0" tIns="0" rIns="0" bIns="0" rtlCol="0" anchor="t"/>
          <a:lstStyle/>
          <a:p>
            <a:pPr algn="ctr" indent="0" marL="0">
              <a:buNone/>
            </a:pPr>
            <a:r>
              <a:rPr lang="en-US" sz="1300" dirty="0">
                <a:solidFill>
                  <a:srgbClr val="3A4560"/>
                </a:solidFill>
                <a:latin typeface="Arial" pitchFamily="34" charset="0"/>
                <a:ea typeface="Arial" pitchFamily="34" charset="-122"/>
                <a:cs typeface="Arial" pitchFamily="34" charset="-120"/>
              </a:rPr>
              <a:t>60</a:t>
            </a:r>
            <a:endParaRPr lang="en-US" sz="1300" dirty="0"/>
          </a:p>
        </p:txBody>
      </p:sp>
      <p:sp>
        <p:nvSpPr>
          <p:cNvPr id="88" name="Text 86"/>
          <p:cNvSpPr txBox="1"/>
          <p:nvPr/>
        </p:nvSpPr>
        <p:spPr>
          <a:xfrm>
            <a:off x="10447020" y="5129784"/>
            <a:ext cx="548640" cy="256032"/>
          </a:xfrm>
          <a:prstGeom prst="rect">
            <a:avLst/>
          </a:prstGeom>
          <a:noFill/>
          <a:ln/>
        </p:spPr>
        <p:txBody>
          <a:bodyPr wrap="square" lIns="0" tIns="0" rIns="0" bIns="0" rtlCol="0" anchor="t"/>
          <a:lstStyle/>
          <a:p>
            <a:pPr algn="ctr" indent="0" marL="0">
              <a:buNone/>
            </a:pPr>
            <a:r>
              <a:rPr lang="en-US" sz="1300" dirty="0">
                <a:solidFill>
                  <a:srgbClr val="3A4560"/>
                </a:solidFill>
                <a:latin typeface="Arial" pitchFamily="34" charset="0"/>
                <a:ea typeface="Arial" pitchFamily="34" charset="-122"/>
                <a:cs typeface="Arial" pitchFamily="34" charset="-120"/>
              </a:rPr>
              <a:t>70</a:t>
            </a:r>
            <a:endParaRPr lang="en-US" sz="1300" dirty="0"/>
          </a:p>
        </p:txBody>
      </p:sp>
      <p:sp>
        <p:nvSpPr>
          <p:cNvPr id="89" name="Text 87"/>
          <p:cNvSpPr txBox="1"/>
          <p:nvPr/>
        </p:nvSpPr>
        <p:spPr>
          <a:xfrm>
            <a:off x="11201400" y="5129784"/>
            <a:ext cx="548640" cy="256032"/>
          </a:xfrm>
          <a:prstGeom prst="rect">
            <a:avLst/>
          </a:prstGeom>
          <a:noFill/>
          <a:ln/>
        </p:spPr>
        <p:txBody>
          <a:bodyPr wrap="square" lIns="0" tIns="0" rIns="0" bIns="0" rtlCol="0" anchor="t"/>
          <a:lstStyle/>
          <a:p>
            <a:pPr algn="ctr" indent="0" marL="0">
              <a:buNone/>
            </a:pPr>
            <a:r>
              <a:rPr lang="en-US" sz="1300" dirty="0">
                <a:solidFill>
                  <a:srgbClr val="3A4560"/>
                </a:solidFill>
                <a:latin typeface="Arial" pitchFamily="34" charset="0"/>
                <a:ea typeface="Arial" pitchFamily="34" charset="-122"/>
                <a:cs typeface="Arial" pitchFamily="34" charset="-120"/>
              </a:rPr>
              <a:t>80</a:t>
            </a:r>
            <a:endParaRPr lang="en-US" sz="1300" dirty="0"/>
          </a:p>
        </p:txBody>
      </p:sp>
      <p:sp>
        <p:nvSpPr>
          <p:cNvPr id="90" name="Shape 88"/>
          <p:cNvSpPr/>
          <p:nvPr/>
        </p:nvSpPr>
        <p:spPr>
          <a:xfrm>
            <a:off x="6949440" y="1965960"/>
            <a:ext cx="0" cy="3108960"/>
          </a:xfrm>
          <a:prstGeom prst="line">
            <a:avLst/>
          </a:prstGeom>
          <a:noFill/>
          <a:ln w="15875">
            <a:solidFill>
              <a:srgbClr val="3A4560"/>
            </a:solidFill>
            <a:prstDash val="solid"/>
          </a:ln>
        </p:spPr>
      </p:sp>
      <p:sp>
        <p:nvSpPr>
          <p:cNvPr id="91" name="Shape 89"/>
          <p:cNvSpPr/>
          <p:nvPr/>
        </p:nvSpPr>
        <p:spPr>
          <a:xfrm>
            <a:off x="6949440" y="5074920"/>
            <a:ext cx="4526280" cy="0"/>
          </a:xfrm>
          <a:prstGeom prst="line">
            <a:avLst/>
          </a:prstGeom>
          <a:noFill/>
          <a:ln w="15875">
            <a:solidFill>
              <a:srgbClr val="3A4560"/>
            </a:solidFill>
            <a:prstDash val="solid"/>
          </a:ln>
        </p:spPr>
      </p:sp>
      <p:sp>
        <p:nvSpPr>
          <p:cNvPr id="92" name="Text 90"/>
          <p:cNvSpPr txBox="1"/>
          <p:nvPr/>
        </p:nvSpPr>
        <p:spPr>
          <a:xfrm>
            <a:off x="6949440" y="5440680"/>
            <a:ext cx="4526280" cy="274320"/>
          </a:xfrm>
          <a:prstGeom prst="rect">
            <a:avLst/>
          </a:prstGeom>
          <a:noFill/>
          <a:ln/>
        </p:spPr>
        <p:txBody>
          <a:bodyPr wrap="square" lIns="0" tIns="0" rIns="0" bIns="0" rtlCol="0" anchor="t"/>
          <a:lstStyle/>
          <a:p>
            <a:pPr algn="ctr" indent="0" marL="0">
              <a:buNone/>
            </a:pPr>
            <a:r>
              <a:rPr lang="en-US" sz="1400" b="1" dirty="0">
                <a:solidFill>
                  <a:srgbClr val="14213D"/>
                </a:solidFill>
                <a:latin typeface="Arial" pitchFamily="34" charset="0"/>
                <a:ea typeface="Arial" pitchFamily="34" charset="-122"/>
                <a:cs typeface="Arial" pitchFamily="34" charset="-120"/>
              </a:rPr>
              <a:t>Clean accuracy (%) · higher is better</a:t>
            </a:r>
            <a:endParaRPr lang="en-US" sz="1400" dirty="0"/>
          </a:p>
        </p:txBody>
      </p:sp>
      <p:sp>
        <p:nvSpPr>
          <p:cNvPr id="93" name="Text 91"/>
          <p:cNvSpPr txBox="1"/>
          <p:nvPr/>
        </p:nvSpPr>
        <p:spPr>
          <a:xfrm rot="16200000">
            <a:off x="4818888" y="3383280"/>
            <a:ext cx="3108960" cy="274320"/>
          </a:xfrm>
          <a:prstGeom prst="rect">
            <a:avLst/>
          </a:prstGeom>
          <a:noFill/>
          <a:ln/>
        </p:spPr>
        <p:txBody>
          <a:bodyPr wrap="square" lIns="0" tIns="0" rIns="0" bIns="0" rtlCol="0" anchor="t"/>
          <a:lstStyle/>
          <a:p>
            <a:pPr algn="ctr" indent="0" marL="0">
              <a:buNone/>
            </a:pPr>
            <a:r>
              <a:rPr lang="en-US" sz="1400" b="1" dirty="0">
                <a:solidFill>
                  <a:srgbClr val="14213D"/>
                </a:solidFill>
                <a:latin typeface="Arial" pitchFamily="34" charset="0"/>
                <a:ea typeface="Arial" pitchFamily="34" charset="-122"/>
                <a:cs typeface="Arial" pitchFamily="34" charset="-120"/>
              </a:rPr>
              <a:t>ASR/TTR (%) · lower is better</a:t>
            </a:r>
            <a:endParaRPr lang="en-US" sz="1400" dirty="0"/>
          </a:p>
        </p:txBody>
      </p:sp>
      <p:sp>
        <p:nvSpPr>
          <p:cNvPr id="94" name="Shape 92"/>
          <p:cNvSpPr/>
          <p:nvPr/>
        </p:nvSpPr>
        <p:spPr>
          <a:xfrm flipH="1" flipV="1">
            <a:off x="6903720" y="4434840"/>
            <a:ext cx="2950083" cy="329184"/>
          </a:xfrm>
          <a:prstGeom prst="line">
            <a:avLst/>
          </a:prstGeom>
          <a:noFill/>
          <a:ln w="12700">
            <a:solidFill>
              <a:srgbClr val="A9B1C0"/>
            </a:solidFill>
            <a:prstDash val="dash"/>
          </a:ln>
        </p:spPr>
      </p:sp>
      <p:sp>
        <p:nvSpPr>
          <p:cNvPr id="95" name="Shape 93"/>
          <p:cNvSpPr/>
          <p:nvPr/>
        </p:nvSpPr>
        <p:spPr>
          <a:xfrm flipH="1" flipV="1">
            <a:off x="10195560" y="4434840"/>
            <a:ext cx="865251" cy="329184"/>
          </a:xfrm>
          <a:prstGeom prst="line">
            <a:avLst/>
          </a:prstGeom>
          <a:noFill/>
          <a:ln w="12700">
            <a:solidFill>
              <a:srgbClr val="A9B1C0"/>
            </a:solidFill>
            <a:prstDash val="dash"/>
          </a:ln>
        </p:spPr>
      </p:sp>
      <p:sp>
        <p:nvSpPr>
          <p:cNvPr id="96" name="Shape 94"/>
          <p:cNvSpPr txBox="1"/>
          <p:nvPr/>
        </p:nvSpPr>
        <p:spPr>
          <a:xfrm>
            <a:off x="9853803" y="4764024"/>
            <a:ext cx="1207008" cy="93269"/>
          </a:xfrm>
          <a:prstGeom prst="rect">
            <a:avLst/>
          </a:prstGeom>
          <a:ln w="15875">
            <a:solidFill>
              <a:srgbClr val="6B7280"/>
            </a:solidFill>
            <a:prstDash val="dash"/>
          </a:ln>
        </p:spPr>
      </p:sp>
      <p:sp>
        <p:nvSpPr>
          <p:cNvPr id="97" name="Shape 95"/>
          <p:cNvSpPr txBox="1"/>
          <p:nvPr/>
        </p:nvSpPr>
        <p:spPr>
          <a:xfrm>
            <a:off x="6903720" y="2240280"/>
            <a:ext cx="3291840" cy="2194560"/>
          </a:xfrm>
          <a:prstGeom prst="rect">
            <a:avLst/>
          </a:prstGeom>
          <a:solidFill>
            <a:srgbClr val="FFFFFF"/>
          </a:solidFill>
          <a:ln w="15875">
            <a:solidFill>
              <a:srgbClr val="6B7280"/>
            </a:solidFill>
            <a:prstDash val="solid"/>
          </a:ln>
        </p:spPr>
      </p:sp>
      <p:sp>
        <p:nvSpPr>
          <p:cNvPr id="98" name="Text 96"/>
          <p:cNvSpPr txBox="1"/>
          <p:nvPr/>
        </p:nvSpPr>
        <p:spPr>
          <a:xfrm>
            <a:off x="6995160" y="2295144"/>
            <a:ext cx="3108960" cy="256032"/>
          </a:xfrm>
          <a:prstGeom prst="rect">
            <a:avLst/>
          </a:prstGeom>
          <a:noFill/>
          <a:ln/>
        </p:spPr>
        <p:txBody>
          <a:bodyPr wrap="square" lIns="0" tIns="0" rIns="0" bIns="0" rtlCol="0" anchor="t"/>
          <a:lstStyle/>
          <a:p>
            <a:pPr indent="0" marL="0">
              <a:buNone/>
            </a:pPr>
            <a:r>
              <a:rPr lang="en-US" sz="1200" i="1" dirty="0">
                <a:solidFill>
                  <a:srgbClr val="6B7280"/>
                </a:solidFill>
                <a:latin typeface="Arial" pitchFamily="34" charset="0"/>
                <a:ea typeface="Arial" pitchFamily="34" charset="-122"/>
                <a:cs typeface="Arial" pitchFamily="34" charset="-120"/>
              </a:rPr>
              <a:t>Zoom of dashed box (own axes)</a:t>
            </a:r>
            <a:endParaRPr lang="en-US" sz="1200" dirty="0"/>
          </a:p>
        </p:txBody>
      </p:sp>
      <p:sp>
        <p:nvSpPr>
          <p:cNvPr id="99" name="Shape 97"/>
          <p:cNvSpPr/>
          <p:nvPr/>
        </p:nvSpPr>
        <p:spPr>
          <a:xfrm>
            <a:off x="7406640" y="2606040"/>
            <a:ext cx="0" cy="1417320"/>
          </a:xfrm>
          <a:prstGeom prst="line">
            <a:avLst/>
          </a:prstGeom>
          <a:noFill/>
          <a:ln w="12700">
            <a:solidFill>
              <a:srgbClr val="9AA3B2"/>
            </a:solidFill>
            <a:prstDash val="solid"/>
          </a:ln>
        </p:spPr>
      </p:sp>
      <p:sp>
        <p:nvSpPr>
          <p:cNvPr id="100" name="Shape 98"/>
          <p:cNvSpPr/>
          <p:nvPr/>
        </p:nvSpPr>
        <p:spPr>
          <a:xfrm>
            <a:off x="7406640" y="4023360"/>
            <a:ext cx="2606040" cy="0"/>
          </a:xfrm>
          <a:prstGeom prst="line">
            <a:avLst/>
          </a:prstGeom>
          <a:noFill/>
          <a:ln w="12700">
            <a:solidFill>
              <a:srgbClr val="9AA3B2"/>
            </a:solidFill>
            <a:prstDash val="solid"/>
          </a:ln>
        </p:spPr>
      </p:sp>
      <p:sp>
        <p:nvSpPr>
          <p:cNvPr id="101" name="Text 99"/>
          <p:cNvSpPr txBox="1"/>
          <p:nvPr/>
        </p:nvSpPr>
        <p:spPr>
          <a:xfrm>
            <a:off x="7376636" y="4059936"/>
            <a:ext cx="548640" cy="228600"/>
          </a:xfrm>
          <a:prstGeom prst="rect">
            <a:avLst/>
          </a:prstGeom>
          <a:noFill/>
          <a:ln/>
        </p:spPr>
        <p:txBody>
          <a:bodyPr wrap="square" lIns="0" tIns="0" rIns="0" bIns="0" rtlCol="0" anchor="t"/>
          <a:lstStyle/>
          <a:p>
            <a:pPr algn="ctr" indent="0" marL="0">
              <a:buNone/>
            </a:pPr>
            <a:r>
              <a:rPr lang="en-US" sz="1200" dirty="0">
                <a:solidFill>
                  <a:srgbClr val="3A4560"/>
                </a:solidFill>
                <a:latin typeface="Arial" pitchFamily="34" charset="0"/>
                <a:ea typeface="Arial" pitchFamily="34" charset="-122"/>
                <a:cs typeface="Arial" pitchFamily="34" charset="-120"/>
              </a:rPr>
              <a:t>60</a:t>
            </a:r>
            <a:endParaRPr lang="en-US" sz="1200" dirty="0"/>
          </a:p>
        </p:txBody>
      </p:sp>
      <p:sp>
        <p:nvSpPr>
          <p:cNvPr id="102" name="Text 100"/>
          <p:cNvSpPr txBox="1"/>
          <p:nvPr/>
        </p:nvSpPr>
        <p:spPr>
          <a:xfrm>
            <a:off x="8191024" y="4059936"/>
            <a:ext cx="548640" cy="228600"/>
          </a:xfrm>
          <a:prstGeom prst="rect">
            <a:avLst/>
          </a:prstGeom>
          <a:noFill/>
          <a:ln/>
        </p:spPr>
        <p:txBody>
          <a:bodyPr wrap="square" lIns="0" tIns="0" rIns="0" bIns="0" rtlCol="0" anchor="t"/>
          <a:lstStyle/>
          <a:p>
            <a:pPr algn="ctr" indent="0" marL="0">
              <a:buNone/>
            </a:pPr>
            <a:r>
              <a:rPr lang="en-US" sz="1200" dirty="0">
                <a:solidFill>
                  <a:srgbClr val="3A4560"/>
                </a:solidFill>
                <a:latin typeface="Arial" pitchFamily="34" charset="0"/>
                <a:ea typeface="Arial" pitchFamily="34" charset="-122"/>
                <a:cs typeface="Arial" pitchFamily="34" charset="-120"/>
              </a:rPr>
              <a:t>65</a:t>
            </a:r>
            <a:endParaRPr lang="en-US" sz="1200" dirty="0"/>
          </a:p>
        </p:txBody>
      </p:sp>
      <p:sp>
        <p:nvSpPr>
          <p:cNvPr id="103" name="Text 101"/>
          <p:cNvSpPr txBox="1"/>
          <p:nvPr/>
        </p:nvSpPr>
        <p:spPr>
          <a:xfrm>
            <a:off x="9005411" y="4059936"/>
            <a:ext cx="548640" cy="228600"/>
          </a:xfrm>
          <a:prstGeom prst="rect">
            <a:avLst/>
          </a:prstGeom>
          <a:noFill/>
          <a:ln/>
        </p:spPr>
        <p:txBody>
          <a:bodyPr wrap="square" lIns="0" tIns="0" rIns="0" bIns="0" rtlCol="0" anchor="t"/>
          <a:lstStyle/>
          <a:p>
            <a:pPr algn="ctr" indent="0" marL="0">
              <a:buNone/>
            </a:pPr>
            <a:r>
              <a:rPr lang="en-US" sz="1200" dirty="0">
                <a:solidFill>
                  <a:srgbClr val="3A4560"/>
                </a:solidFill>
                <a:latin typeface="Arial" pitchFamily="34" charset="0"/>
                <a:ea typeface="Arial" pitchFamily="34" charset="-122"/>
                <a:cs typeface="Arial" pitchFamily="34" charset="-120"/>
              </a:rPr>
              <a:t>70</a:t>
            </a:r>
            <a:endParaRPr lang="en-US" sz="1200" dirty="0"/>
          </a:p>
        </p:txBody>
      </p:sp>
      <p:sp>
        <p:nvSpPr>
          <p:cNvPr id="104" name="Text 102"/>
          <p:cNvSpPr txBox="1"/>
          <p:nvPr/>
        </p:nvSpPr>
        <p:spPr>
          <a:xfrm>
            <a:off x="6995160" y="3677412"/>
            <a:ext cx="347472" cy="228600"/>
          </a:xfrm>
          <a:prstGeom prst="rect">
            <a:avLst/>
          </a:prstGeom>
          <a:noFill/>
          <a:ln/>
        </p:spPr>
        <p:txBody>
          <a:bodyPr wrap="square" lIns="0" tIns="0" rIns="0" bIns="0" rtlCol="0" anchor="ctr"/>
          <a:lstStyle/>
          <a:p>
            <a:pPr algn="r" indent="0" marL="0">
              <a:buNone/>
            </a:pPr>
            <a:r>
              <a:rPr lang="en-US" sz="1200" dirty="0">
                <a:solidFill>
                  <a:srgbClr val="3A4560"/>
                </a:solidFill>
                <a:latin typeface="Arial" pitchFamily="34" charset="0"/>
                <a:ea typeface="Arial" pitchFamily="34" charset="-122"/>
                <a:cs typeface="Arial" pitchFamily="34" charset="-120"/>
              </a:rPr>
              <a:t>3</a:t>
            </a:r>
            <a:endParaRPr lang="en-US" sz="1200" dirty="0"/>
          </a:p>
        </p:txBody>
      </p:sp>
      <p:sp>
        <p:nvSpPr>
          <p:cNvPr id="105" name="Text 103"/>
          <p:cNvSpPr txBox="1"/>
          <p:nvPr/>
        </p:nvSpPr>
        <p:spPr>
          <a:xfrm>
            <a:off x="6995160" y="2496312"/>
            <a:ext cx="347472" cy="228600"/>
          </a:xfrm>
          <a:prstGeom prst="rect">
            <a:avLst/>
          </a:prstGeom>
          <a:noFill/>
          <a:ln/>
        </p:spPr>
        <p:txBody>
          <a:bodyPr wrap="square" lIns="0" tIns="0" rIns="0" bIns="0" rtlCol="0" anchor="ctr"/>
          <a:lstStyle/>
          <a:p>
            <a:pPr algn="r" indent="0" marL="0">
              <a:buNone/>
            </a:pPr>
            <a:r>
              <a:rPr lang="en-US" sz="1200" dirty="0">
                <a:solidFill>
                  <a:srgbClr val="3A4560"/>
                </a:solidFill>
                <a:latin typeface="Arial" pitchFamily="34" charset="0"/>
                <a:ea typeface="Arial" pitchFamily="34" charset="-122"/>
                <a:cs typeface="Arial" pitchFamily="34" charset="-120"/>
              </a:rPr>
              <a:t>4</a:t>
            </a:r>
            <a:endParaRPr lang="en-US" sz="1200" dirty="0"/>
          </a:p>
        </p:txBody>
      </p:sp>
      <p:sp>
        <p:nvSpPr>
          <p:cNvPr id="106" name="Shape 104"/>
          <p:cNvSpPr txBox="1"/>
          <p:nvPr/>
        </p:nvSpPr>
        <p:spPr>
          <a:xfrm>
            <a:off x="10605668" y="2470846"/>
            <a:ext cx="201168" cy="201168"/>
          </a:xfrm>
          <a:prstGeom prst="ellipse">
            <a:avLst/>
          </a:prstGeom>
          <a:solidFill>
            <a:srgbClr val="D62839"/>
          </a:solidFill>
          <a:ln w="12700">
            <a:solidFill>
              <a:srgbClr val="FFFFFF"/>
            </a:solidFill>
            <a:prstDash val="solid"/>
          </a:ln>
        </p:spPr>
      </p:sp>
      <p:sp>
        <p:nvSpPr>
          <p:cNvPr id="107" name="Text 105"/>
          <p:cNvSpPr txBox="1"/>
          <p:nvPr/>
        </p:nvSpPr>
        <p:spPr>
          <a:xfrm>
            <a:off x="10294772" y="2169094"/>
            <a:ext cx="868680" cy="256032"/>
          </a:xfrm>
          <a:prstGeom prst="rect">
            <a:avLst/>
          </a:prstGeom>
          <a:noFill/>
          <a:ln/>
        </p:spPr>
        <p:txBody>
          <a:bodyPr wrap="none" lIns="0" tIns="0" rIns="0" bIns="0" rtlCol="0" anchor="ctr"/>
          <a:lstStyle/>
          <a:p>
            <a:pPr algn="r" indent="0" marL="0">
              <a:buNone/>
            </a:pPr>
            <a:r>
              <a:rPr lang="en-US" sz="1400" b="1" dirty="0">
                <a:solidFill>
                  <a:srgbClr val="14213D"/>
                </a:solidFill>
                <a:latin typeface="Arial" pitchFamily="34" charset="0"/>
                <a:ea typeface="Arial" pitchFamily="34" charset="-122"/>
                <a:cs typeface="Arial" pitchFamily="34" charset="-120"/>
              </a:rPr>
              <a:t>M_attack</a:t>
            </a:r>
            <a:endParaRPr lang="en-US" sz="1400" dirty="0"/>
          </a:p>
        </p:txBody>
      </p:sp>
      <p:sp>
        <p:nvSpPr>
          <p:cNvPr id="108" name="Shape 106"/>
          <p:cNvSpPr txBox="1"/>
          <p:nvPr/>
        </p:nvSpPr>
        <p:spPr>
          <a:xfrm>
            <a:off x="7455378" y="4906716"/>
            <a:ext cx="201168" cy="201168"/>
          </a:xfrm>
          <a:prstGeom prst="ellipse">
            <a:avLst/>
          </a:prstGeom>
          <a:solidFill>
            <a:srgbClr val="E8890C"/>
          </a:solidFill>
          <a:ln w="12700">
            <a:solidFill>
              <a:srgbClr val="FFFFFF"/>
            </a:solidFill>
            <a:prstDash val="solid"/>
          </a:ln>
        </p:spPr>
      </p:sp>
      <p:sp>
        <p:nvSpPr>
          <p:cNvPr id="109" name="Text 107"/>
          <p:cNvSpPr txBox="1"/>
          <p:nvPr/>
        </p:nvSpPr>
        <p:spPr>
          <a:xfrm>
            <a:off x="7738842" y="4623252"/>
            <a:ext cx="731520" cy="256032"/>
          </a:xfrm>
          <a:prstGeom prst="rect">
            <a:avLst/>
          </a:prstGeom>
          <a:noFill/>
          <a:ln/>
        </p:spPr>
        <p:txBody>
          <a:bodyPr wrap="none" lIns="0" tIns="0" rIns="0" bIns="0" rtlCol="0" anchor="ctr"/>
          <a:lstStyle/>
          <a:p>
            <a:pPr algn="l" indent="0" marL="0">
              <a:buNone/>
            </a:pPr>
            <a:r>
              <a:rPr lang="en-US" sz="1400" b="1" dirty="0">
                <a:solidFill>
                  <a:srgbClr val="14213D"/>
                </a:solidFill>
                <a:latin typeface="Arial" pitchFamily="34" charset="0"/>
                <a:ea typeface="Arial" pitchFamily="34" charset="-122"/>
                <a:cs typeface="Arial" pitchFamily="34" charset="-120"/>
              </a:rPr>
              <a:t>M_sub</a:t>
            </a:r>
            <a:endParaRPr lang="en-US" sz="1400" dirty="0"/>
          </a:p>
        </p:txBody>
      </p:sp>
      <p:sp>
        <p:nvSpPr>
          <p:cNvPr id="110" name="Shape 108"/>
          <p:cNvSpPr txBox="1"/>
          <p:nvPr/>
        </p:nvSpPr>
        <p:spPr>
          <a:xfrm>
            <a:off x="9939254" y="4733254"/>
            <a:ext cx="109728" cy="109728"/>
          </a:xfrm>
          <a:prstGeom prst="ellipse">
            <a:avLst/>
          </a:prstGeom>
          <a:solidFill>
            <a:srgbClr val="7B4FB8"/>
          </a:solidFill>
          <a:ln w="12700">
            <a:solidFill>
              <a:srgbClr val="FFFFFF"/>
            </a:solidFill>
            <a:prstDash val="solid"/>
          </a:ln>
        </p:spPr>
      </p:sp>
      <p:sp>
        <p:nvSpPr>
          <p:cNvPr id="111" name="Shape 109"/>
          <p:cNvSpPr txBox="1"/>
          <p:nvPr/>
        </p:nvSpPr>
        <p:spPr>
          <a:xfrm>
            <a:off x="7609008" y="2871597"/>
            <a:ext cx="201168" cy="201168"/>
          </a:xfrm>
          <a:prstGeom prst="ellipse">
            <a:avLst/>
          </a:prstGeom>
          <a:solidFill>
            <a:srgbClr val="7B4FB8"/>
          </a:solidFill>
          <a:ln w="12700">
            <a:solidFill>
              <a:srgbClr val="FFFFFF"/>
            </a:solidFill>
            <a:prstDash val="solid"/>
          </a:ln>
        </p:spPr>
      </p:sp>
      <p:sp>
        <p:nvSpPr>
          <p:cNvPr id="112" name="Text 110"/>
          <p:cNvSpPr txBox="1"/>
          <p:nvPr/>
        </p:nvSpPr>
        <p:spPr>
          <a:xfrm>
            <a:off x="7343832" y="2569845"/>
            <a:ext cx="731520" cy="256032"/>
          </a:xfrm>
          <a:prstGeom prst="rect">
            <a:avLst/>
          </a:prstGeom>
          <a:noFill/>
          <a:ln/>
        </p:spPr>
        <p:txBody>
          <a:bodyPr wrap="none" lIns="0" tIns="0" rIns="0" bIns="0" rtlCol="0" anchor="ctr"/>
          <a:lstStyle/>
          <a:p>
            <a:pPr algn="ctr" indent="0" marL="0">
              <a:buNone/>
            </a:pPr>
            <a:r>
              <a:rPr lang="en-US" sz="1400" b="1" dirty="0">
                <a:solidFill>
                  <a:srgbClr val="14213D"/>
                </a:solidFill>
                <a:latin typeface="Arial" pitchFamily="34" charset="0"/>
                <a:ea typeface="Arial" pitchFamily="34" charset="-122"/>
                <a:cs typeface="Arial" pitchFamily="34" charset="-120"/>
              </a:rPr>
              <a:t>M_KD</a:t>
            </a:r>
            <a:endParaRPr lang="en-US" sz="1400" dirty="0"/>
          </a:p>
        </p:txBody>
      </p:sp>
      <p:sp>
        <p:nvSpPr>
          <p:cNvPr id="113" name="Shape 111"/>
          <p:cNvSpPr txBox="1"/>
          <p:nvPr/>
        </p:nvSpPr>
        <p:spPr>
          <a:xfrm>
            <a:off x="10345865" y="4745690"/>
            <a:ext cx="109728" cy="109728"/>
          </a:xfrm>
          <a:prstGeom prst="ellipse">
            <a:avLst/>
          </a:prstGeom>
          <a:solidFill>
            <a:srgbClr val="7CCFC4"/>
          </a:solidFill>
          <a:ln w="19050">
            <a:solidFill>
              <a:srgbClr val="0B7A75"/>
            </a:solidFill>
            <a:prstDash val="solid"/>
          </a:ln>
        </p:spPr>
      </p:sp>
      <p:sp>
        <p:nvSpPr>
          <p:cNvPr id="114" name="Shape 112"/>
          <p:cNvSpPr txBox="1"/>
          <p:nvPr/>
        </p:nvSpPr>
        <p:spPr>
          <a:xfrm>
            <a:off x="8486918" y="3060573"/>
            <a:ext cx="201168" cy="201168"/>
          </a:xfrm>
          <a:prstGeom prst="ellipse">
            <a:avLst/>
          </a:prstGeom>
          <a:solidFill>
            <a:srgbClr val="7CCFC4"/>
          </a:solidFill>
          <a:ln w="19050">
            <a:solidFill>
              <a:srgbClr val="0B7A75"/>
            </a:solidFill>
            <a:prstDash val="solid"/>
          </a:ln>
        </p:spPr>
      </p:sp>
      <p:sp>
        <p:nvSpPr>
          <p:cNvPr id="115" name="Text 113"/>
          <p:cNvSpPr txBox="1"/>
          <p:nvPr/>
        </p:nvSpPr>
        <p:spPr>
          <a:xfrm>
            <a:off x="8267462" y="2649093"/>
            <a:ext cx="1737360" cy="256032"/>
          </a:xfrm>
          <a:prstGeom prst="rect">
            <a:avLst/>
          </a:prstGeom>
          <a:noFill/>
          <a:ln/>
        </p:spPr>
        <p:txBody>
          <a:bodyPr wrap="none" lIns="0" tIns="0" rIns="0" bIns="0" rtlCol="0" anchor="ctr"/>
          <a:lstStyle/>
          <a:p>
            <a:pPr algn="l" indent="0" marL="0">
              <a:buNone/>
            </a:pPr>
            <a:r>
              <a:rPr lang="en-US" sz="1400" b="1" dirty="0">
                <a:solidFill>
                  <a:srgbClr val="14213D"/>
                </a:solidFill>
                <a:latin typeface="Arial" pitchFamily="34" charset="0"/>
                <a:ea typeface="Arial" pitchFamily="34" charset="-122"/>
                <a:cs typeface="Arial" pitchFamily="34" charset="-120"/>
              </a:rPr>
              <a:t>FedEraser Ecal=1</a:t>
            </a:r>
            <a:endParaRPr lang="en-US" sz="1400" dirty="0"/>
          </a:p>
        </p:txBody>
      </p:sp>
      <p:sp>
        <p:nvSpPr>
          <p:cNvPr id="116" name="Shape 114"/>
          <p:cNvSpPr txBox="1"/>
          <p:nvPr/>
        </p:nvSpPr>
        <p:spPr>
          <a:xfrm>
            <a:off x="10582740" y="4779889"/>
            <a:ext cx="109728" cy="109728"/>
          </a:xfrm>
          <a:prstGeom prst="ellipse">
            <a:avLst/>
          </a:prstGeom>
          <a:solidFill>
            <a:srgbClr val="0B7A75"/>
          </a:solidFill>
          <a:ln w="12700">
            <a:solidFill>
              <a:srgbClr val="FFFFFF"/>
            </a:solidFill>
            <a:prstDash val="solid"/>
          </a:ln>
        </p:spPr>
      </p:sp>
      <p:sp>
        <p:nvSpPr>
          <p:cNvPr id="117" name="Shape 115"/>
          <p:cNvSpPr txBox="1"/>
          <p:nvPr/>
        </p:nvSpPr>
        <p:spPr>
          <a:xfrm>
            <a:off x="8998353" y="3580257"/>
            <a:ext cx="201168" cy="201168"/>
          </a:xfrm>
          <a:prstGeom prst="ellipse">
            <a:avLst/>
          </a:prstGeom>
          <a:solidFill>
            <a:srgbClr val="0B7A75"/>
          </a:solidFill>
          <a:ln w="12700">
            <a:solidFill>
              <a:srgbClr val="FFFFFF"/>
            </a:solidFill>
            <a:prstDash val="solid"/>
          </a:ln>
        </p:spPr>
      </p:sp>
      <p:sp>
        <p:nvSpPr>
          <p:cNvPr id="118" name="Text 116"/>
          <p:cNvSpPr txBox="1"/>
          <p:nvPr/>
        </p:nvSpPr>
        <p:spPr>
          <a:xfrm>
            <a:off x="7206129" y="3552825"/>
            <a:ext cx="1737360" cy="256032"/>
          </a:xfrm>
          <a:prstGeom prst="rect">
            <a:avLst/>
          </a:prstGeom>
          <a:noFill/>
          <a:ln/>
        </p:spPr>
        <p:txBody>
          <a:bodyPr wrap="none" lIns="0" tIns="0" rIns="0" bIns="0" rtlCol="0" anchor="ctr"/>
          <a:lstStyle/>
          <a:p>
            <a:pPr algn="r" indent="0" marL="0">
              <a:buNone/>
            </a:pPr>
            <a:r>
              <a:rPr lang="en-US" sz="1400" b="1" dirty="0">
                <a:solidFill>
                  <a:srgbClr val="14213D"/>
                </a:solidFill>
                <a:latin typeface="Arial" pitchFamily="34" charset="0"/>
                <a:ea typeface="Arial" pitchFamily="34" charset="-122"/>
                <a:cs typeface="Arial" pitchFamily="34" charset="-120"/>
              </a:rPr>
              <a:t>FedEraser Ecal=2</a:t>
            </a:r>
            <a:endParaRPr lang="en-US" sz="1400" dirty="0"/>
          </a:p>
        </p:txBody>
      </p:sp>
      <p:sp>
        <p:nvSpPr>
          <p:cNvPr id="119" name="Shape 117"/>
          <p:cNvSpPr txBox="1"/>
          <p:nvPr/>
        </p:nvSpPr>
        <p:spPr>
          <a:xfrm>
            <a:off x="10639318" y="4755794"/>
            <a:ext cx="109728" cy="109728"/>
          </a:xfrm>
          <a:prstGeom prst="ellipse">
            <a:avLst/>
          </a:prstGeom>
          <a:solidFill>
            <a:srgbClr val="FFFFFF"/>
          </a:solidFill>
          <a:ln w="25400">
            <a:solidFill>
              <a:srgbClr val="4A4F57"/>
            </a:solidFill>
            <a:prstDash val="dash"/>
          </a:ln>
        </p:spPr>
      </p:sp>
      <p:sp>
        <p:nvSpPr>
          <p:cNvPr id="120" name="Shape 118"/>
          <p:cNvSpPr txBox="1"/>
          <p:nvPr/>
        </p:nvSpPr>
        <p:spPr>
          <a:xfrm>
            <a:off x="9120511" y="3214116"/>
            <a:ext cx="201168" cy="201168"/>
          </a:xfrm>
          <a:prstGeom prst="ellipse">
            <a:avLst/>
          </a:prstGeom>
          <a:solidFill>
            <a:srgbClr val="FFFFFF"/>
          </a:solidFill>
          <a:ln w="25400">
            <a:solidFill>
              <a:srgbClr val="4A4F57"/>
            </a:solidFill>
            <a:prstDash val="dash"/>
          </a:ln>
        </p:spPr>
      </p:sp>
      <p:sp>
        <p:nvSpPr>
          <p:cNvPr id="121" name="Text 119"/>
          <p:cNvSpPr txBox="1"/>
          <p:nvPr/>
        </p:nvSpPr>
        <p:spPr>
          <a:xfrm>
            <a:off x="8718175" y="2912364"/>
            <a:ext cx="1554480" cy="256032"/>
          </a:xfrm>
          <a:prstGeom prst="rect">
            <a:avLst/>
          </a:prstGeom>
          <a:noFill/>
          <a:ln/>
        </p:spPr>
        <p:txBody>
          <a:bodyPr wrap="none" lIns="0" tIns="0" rIns="0" bIns="0" rtlCol="0" anchor="ctr"/>
          <a:lstStyle/>
          <a:p>
            <a:pPr algn="l" indent="0" marL="0">
              <a:buNone/>
            </a:pPr>
            <a:r>
              <a:rPr lang="en-US" sz="1400" b="1" dirty="0">
                <a:solidFill>
                  <a:srgbClr val="14213D"/>
                </a:solidFill>
                <a:latin typeface="Arial" pitchFamily="34" charset="0"/>
                <a:ea typeface="Arial" pitchFamily="34" charset="-122"/>
                <a:cs typeface="Arial" pitchFamily="34" charset="-120"/>
              </a:rPr>
              <a:t>M_CF reference</a:t>
            </a:r>
            <a:endParaRPr lang="en-US" sz="1400" dirty="0"/>
          </a:p>
        </p:txBody>
      </p:sp>
      <p:sp>
        <p:nvSpPr>
          <p:cNvPr id="122" name="Text 120"/>
          <p:cNvSpPr txBox="1"/>
          <p:nvPr/>
        </p:nvSpPr>
        <p:spPr>
          <a:xfrm>
            <a:off x="548640" y="6144768"/>
            <a:ext cx="11094415" cy="274320"/>
          </a:xfrm>
          <a:prstGeom prst="rect">
            <a:avLst/>
          </a:prstGeom>
          <a:noFill/>
          <a:ln/>
        </p:spPr>
        <p:txBody>
          <a:bodyPr wrap="square" lIns="0" tIns="0" rIns="0" bIns="0" rtlCol="0" anchor="t"/>
          <a:lstStyle/>
          <a:p>
            <a:pPr indent="0" marL="0">
              <a:buNone/>
            </a:pPr>
            <a:r>
              <a:rPr lang="en-US" sz="1150" dirty="0">
                <a:solidFill>
                  <a:srgbClr val="6B7280"/>
                </a:solidFill>
                <a:latin typeface="Arial" pitchFamily="34" charset="0"/>
                <a:ea typeface="Arial" pitchFamily="34" charset="-122"/>
                <a:cs typeface="Arial" pitchFamily="34" charset="-120"/>
              </a:rPr>
              <a:t>Each point is one model endpoint; this is a two-metric view, not a combined score. Dashed boxes are magnified in the insets.</a:t>
            </a:r>
            <a:endParaRPr lang="en-US" sz="115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A8394"/>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1672" cy="731520"/>
          </a:xfrm>
          <a:prstGeom prst="rect">
            <a:avLst/>
          </a:prstGeom>
          <a:noFill/>
          <a:ln/>
        </p:spPr>
        <p:txBody>
          <a:bodyPr wrap="square" lIns="0" tIns="0" rIns="0" bIns="0" rtlCol="0" anchor="ctr"/>
          <a:lstStyle/>
          <a:p>
            <a:pPr algn="l" indent="0" marL="0">
              <a:buNone/>
            </a:pPr>
            <a:r>
              <a:rPr lang="en-US" sz="3000" b="1" dirty="0">
                <a:solidFill>
                  <a:srgbClr val="14213D"/>
                </a:solidFill>
                <a:latin typeface="Arial" pitchFamily="34" charset="0"/>
                <a:ea typeface="Arial" pitchFamily="34" charset="-122"/>
                <a:cs typeface="Arial" pitchFamily="34" charset="-120"/>
              </a:rPr>
              <a:t>IID: trigger suppression with utility trade-offs</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2743200"/>
                <a:gridCol w="1669694"/>
                <a:gridCol w="1669694"/>
                <a:gridCol w="1669694"/>
                <a:gridCol w="1669694"/>
                <a:gridCol w="1672438"/>
              </a:tblGrid>
              <a:tr h="502920">
                <a:tc>
                  <a:txBody>
                    <a:bodyPr/>
                    <a:lstStyle/>
                    <a:p>
                      <a:pPr algn="l" indent="0" marL="0">
                        <a:buNone/>
                      </a:pPr>
                      <a:r>
                        <a:rPr lang="en-US" sz="1500" b="1" dirty="0">
                          <a:solidFill>
                            <a:srgbClr val="FFFFFF"/>
                          </a:solidFill>
                          <a:latin typeface="Arial" pitchFamily="34" charset="0"/>
                          <a:ea typeface="Arial" pitchFamily="34" charset="-122"/>
                          <a:cs typeface="Arial" pitchFamily="34" charset="-120"/>
                        </a:rPr>
                        <a:t>Model</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Clean acc.</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ASR/TTR</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UTR</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Airplane recall</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Macro-F1</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r>
              <a:tr h="457200">
                <a:tc>
                  <a:txBody>
                    <a:bodyPr/>
                    <a:lstStyle/>
                    <a:p>
                      <a:pPr algn="l" indent="0" marL="0">
                        <a:buNone/>
                      </a:pPr>
                      <a:r>
                        <a:rPr lang="en-US" sz="1700" b="1" dirty="0">
                          <a:solidFill>
                            <a:srgbClr val="B3001B"/>
                          </a:solidFill>
                          <a:latin typeface="Arial" pitchFamily="34" charset="0"/>
                          <a:ea typeface="Arial" pitchFamily="34" charset="-122"/>
                          <a:cs typeface="Arial" pitchFamily="34" charset="-120"/>
                        </a:rPr>
                        <a:t>M_attack</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CE9EB"/>
                    </a:solidFill>
                  </a:tcPr>
                </a:tc>
                <a:tc>
                  <a:txBody>
                    <a:bodyPr/>
                    <a:lstStyle/>
                    <a:p>
                      <a:pPr algn="ctr" indent="0" marL="0">
                        <a:buNone/>
                      </a:pPr>
                      <a:r>
                        <a:rPr lang="en-US" sz="1700" dirty="0">
                          <a:solidFill>
                            <a:srgbClr val="14213D"/>
                          </a:solidFill>
                          <a:latin typeface="Arial" pitchFamily="34" charset="0"/>
                          <a:ea typeface="Arial" pitchFamily="34" charset="-122"/>
                          <a:cs typeface="Arial" pitchFamily="34" charset="-120"/>
                        </a:rPr>
                        <a:t>75.01%</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4213D"/>
                          </a:solidFill>
                          <a:latin typeface="Arial" pitchFamily="34" charset="0"/>
                          <a:ea typeface="Arial" pitchFamily="34" charset="-122"/>
                          <a:cs typeface="Arial" pitchFamily="34" charset="-120"/>
                        </a:rPr>
                        <a:t>56.07%</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4213D"/>
                          </a:solidFill>
                          <a:latin typeface="Arial" pitchFamily="34" charset="0"/>
                          <a:ea typeface="Arial" pitchFamily="34" charset="-122"/>
                          <a:cs typeface="Arial" pitchFamily="34" charset="-120"/>
                        </a:rPr>
                        <a:t>3.41%</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4213D"/>
                          </a:solidFill>
                          <a:latin typeface="Arial" pitchFamily="34" charset="0"/>
                          <a:ea typeface="Arial" pitchFamily="34" charset="-122"/>
                          <a:cs typeface="Arial" pitchFamily="34" charset="-120"/>
                        </a:rPr>
                        <a:t>82.0%</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4213D"/>
                          </a:solidFill>
                          <a:latin typeface="Arial" pitchFamily="34" charset="0"/>
                          <a:ea typeface="Arial" pitchFamily="34" charset="-122"/>
                          <a:cs typeface="Arial" pitchFamily="34" charset="-120"/>
                        </a:rPr>
                        <a:t>~74.8%</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457200">
                <a:tc>
                  <a:txBody>
                    <a:bodyPr/>
                    <a:lstStyle/>
                    <a:p>
                      <a:pPr algn="l" indent="0" marL="0">
                        <a:buNone/>
                      </a:pPr>
                      <a:r>
                        <a:rPr lang="en-US" sz="1700" b="1" dirty="0">
                          <a:solidFill>
                            <a:srgbClr val="A85500"/>
                          </a:solidFill>
                          <a:latin typeface="Arial" pitchFamily="34" charset="0"/>
                          <a:ea typeface="Arial" pitchFamily="34" charset="-122"/>
                          <a:cs typeface="Arial" pitchFamily="34" charset="-120"/>
                        </a:rPr>
                        <a:t>M_sub</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DF1DF"/>
                    </a:solidFill>
                  </a:tcPr>
                </a:tc>
                <a:tc>
                  <a:txBody>
                    <a:bodyPr/>
                    <a:lstStyle/>
                    <a:p>
                      <a:pPr algn="ctr" indent="0" marL="0">
                        <a:buNone/>
                      </a:pPr>
                      <a:r>
                        <a:rPr lang="en-US" sz="1700" dirty="0">
                          <a:solidFill>
                            <a:srgbClr val="14213D"/>
                          </a:solidFill>
                          <a:latin typeface="Arial" pitchFamily="34" charset="0"/>
                          <a:ea typeface="Arial" pitchFamily="34" charset="-122"/>
                          <a:cs typeface="Arial" pitchFamily="34" charset="-120"/>
                        </a:rPr>
                        <a:t>66.88%</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700" dirty="0">
                          <a:solidFill>
                            <a:srgbClr val="14213D"/>
                          </a:solidFill>
                          <a:latin typeface="Arial" pitchFamily="34" charset="0"/>
                          <a:ea typeface="Arial" pitchFamily="34" charset="-122"/>
                          <a:cs typeface="Arial" pitchFamily="34" charset="-120"/>
                        </a:rPr>
                        <a:t>0.24%</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700" dirty="0">
                          <a:solidFill>
                            <a:srgbClr val="14213D"/>
                          </a:solidFill>
                          <a:latin typeface="Arial" pitchFamily="34" charset="0"/>
                          <a:ea typeface="Arial" pitchFamily="34" charset="-122"/>
                          <a:cs typeface="Arial" pitchFamily="34" charset="-120"/>
                        </a:rPr>
                        <a:t>0.56%</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700" dirty="0">
                          <a:solidFill>
                            <a:srgbClr val="14213D"/>
                          </a:solidFill>
                          <a:latin typeface="Arial" pitchFamily="34" charset="0"/>
                          <a:ea typeface="Arial" pitchFamily="34" charset="-122"/>
                          <a:cs typeface="Arial" pitchFamily="34" charset="-120"/>
                        </a:rPr>
                        <a:t>40.6%</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700" dirty="0">
                          <a:solidFill>
                            <a:srgbClr val="14213D"/>
                          </a:solidFill>
                          <a:latin typeface="Arial" pitchFamily="34" charset="0"/>
                          <a:ea typeface="Arial" pitchFamily="34" charset="-122"/>
                          <a:cs typeface="Arial" pitchFamily="34" charset="-120"/>
                        </a:rPr>
                        <a:t>66.76%</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r>
              <a:tr h="457200">
                <a:tc>
                  <a:txBody>
                    <a:bodyPr/>
                    <a:lstStyle/>
                    <a:p>
                      <a:pPr algn="l" indent="0" marL="0">
                        <a:buNone/>
                      </a:pPr>
                      <a:r>
                        <a:rPr lang="en-US" sz="1700" b="1" dirty="0">
                          <a:solidFill>
                            <a:srgbClr val="5E3499"/>
                          </a:solidFill>
                          <a:latin typeface="Arial" pitchFamily="34" charset="0"/>
                          <a:ea typeface="Arial" pitchFamily="34" charset="-122"/>
                          <a:cs typeface="Arial" pitchFamily="34" charset="-120"/>
                        </a:rPr>
                        <a:t>M_KD</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FE8F8"/>
                    </a:solidFill>
                  </a:tcPr>
                </a:tc>
                <a:tc>
                  <a:txBody>
                    <a:bodyPr/>
                    <a:lstStyle/>
                    <a:p>
                      <a:pPr algn="ctr" indent="0" marL="0">
                        <a:buNone/>
                      </a:pPr>
                      <a:r>
                        <a:rPr lang="en-US" sz="1700" dirty="0">
                          <a:solidFill>
                            <a:srgbClr val="14213D"/>
                          </a:solidFill>
                          <a:latin typeface="Arial" pitchFamily="34" charset="0"/>
                          <a:ea typeface="Arial" pitchFamily="34" charset="-122"/>
                          <a:cs typeface="Arial" pitchFamily="34" charset="-120"/>
                        </a:rPr>
                        <a:t>72.82%</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4213D"/>
                          </a:solidFill>
                          <a:latin typeface="Arial" pitchFamily="34" charset="0"/>
                          <a:ea typeface="Arial" pitchFamily="34" charset="-122"/>
                          <a:cs typeface="Arial" pitchFamily="34" charset="-120"/>
                        </a:rPr>
                        <a:t>2.40%</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4213D"/>
                          </a:solidFill>
                          <a:latin typeface="Arial" pitchFamily="34" charset="0"/>
                          <a:ea typeface="Arial" pitchFamily="34" charset="-122"/>
                          <a:cs typeface="Arial" pitchFamily="34" charset="-120"/>
                        </a:rPr>
                        <a:t>3.94%</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4213D"/>
                          </a:solidFill>
                          <a:latin typeface="Arial" pitchFamily="34" charset="0"/>
                          <a:ea typeface="Arial" pitchFamily="34" charset="-122"/>
                          <a:cs typeface="Arial" pitchFamily="34" charset="-120"/>
                        </a:rPr>
                        <a:t>81.4%</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4213D"/>
                          </a:solidFill>
                          <a:latin typeface="Arial" pitchFamily="34" charset="0"/>
                          <a:ea typeface="Arial" pitchFamily="34" charset="-122"/>
                          <a:cs typeface="Arial" pitchFamily="34" charset="-120"/>
                        </a:rPr>
                        <a:t>72.73%</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457200">
                <a:tc>
                  <a:txBody>
                    <a:bodyPr/>
                    <a:lstStyle/>
                    <a:p>
                      <a:pPr algn="l" indent="0" marL="0">
                        <a:buNone/>
                      </a:pPr>
                      <a:r>
                        <a:rPr lang="en-US" sz="1700" b="1" dirty="0">
                          <a:solidFill>
                            <a:srgbClr val="0B7A75"/>
                          </a:solidFill>
                          <a:latin typeface="Arial" pitchFamily="34" charset="0"/>
                          <a:ea typeface="Arial" pitchFamily="34" charset="-122"/>
                          <a:cs typeface="Arial" pitchFamily="34" charset="-120"/>
                        </a:rPr>
                        <a:t>FedEraser Ecal=1</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4F4F2"/>
                    </a:solidFill>
                  </a:tcPr>
                </a:tc>
                <a:tc>
                  <a:txBody>
                    <a:bodyPr/>
                    <a:lstStyle/>
                    <a:p>
                      <a:pPr algn="ctr" indent="0" marL="0">
                        <a:buNone/>
                      </a:pPr>
                      <a:r>
                        <a:rPr lang="en-US" sz="1700" dirty="0">
                          <a:solidFill>
                            <a:srgbClr val="14213D"/>
                          </a:solidFill>
                          <a:latin typeface="Arial" pitchFamily="34" charset="0"/>
                          <a:ea typeface="Arial" pitchFamily="34" charset="-122"/>
                          <a:cs typeface="Arial" pitchFamily="34" charset="-120"/>
                        </a:rPr>
                        <a:t>72.11%</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700" dirty="0">
                          <a:solidFill>
                            <a:srgbClr val="14213D"/>
                          </a:solidFill>
                          <a:latin typeface="Arial" pitchFamily="34" charset="0"/>
                          <a:ea typeface="Arial" pitchFamily="34" charset="-122"/>
                          <a:cs typeface="Arial" pitchFamily="34" charset="-120"/>
                        </a:rPr>
                        <a:t>2.67%</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700" dirty="0">
                          <a:solidFill>
                            <a:srgbClr val="14213D"/>
                          </a:solidFill>
                          <a:latin typeface="Arial" pitchFamily="34" charset="0"/>
                          <a:ea typeface="Arial" pitchFamily="34" charset="-122"/>
                          <a:cs typeface="Arial" pitchFamily="34" charset="-120"/>
                        </a:rPr>
                        <a:t>2.98%</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700" dirty="0">
                          <a:solidFill>
                            <a:srgbClr val="14213D"/>
                          </a:solidFill>
                          <a:latin typeface="Arial" pitchFamily="34" charset="0"/>
                          <a:ea typeface="Arial" pitchFamily="34" charset="-122"/>
                          <a:cs typeface="Arial" pitchFamily="34" charset="-120"/>
                        </a:rPr>
                        <a:t>77.4%</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700" dirty="0">
                          <a:solidFill>
                            <a:srgbClr val="14213D"/>
                          </a:solidFill>
                          <a:latin typeface="Arial" pitchFamily="34" charset="0"/>
                          <a:ea typeface="Arial" pitchFamily="34" charset="-122"/>
                          <a:cs typeface="Arial" pitchFamily="34" charset="-120"/>
                        </a:rPr>
                        <a:t>71.84%</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r>
              <a:tr h="457200">
                <a:tc>
                  <a:txBody>
                    <a:bodyPr/>
                    <a:lstStyle/>
                    <a:p>
                      <a:pPr algn="l" indent="0" marL="0">
                        <a:buNone/>
                      </a:pPr>
                      <a:r>
                        <a:rPr lang="en-US" sz="1700" b="1" dirty="0">
                          <a:solidFill>
                            <a:srgbClr val="0B7A75"/>
                          </a:solidFill>
                          <a:latin typeface="Arial" pitchFamily="34" charset="0"/>
                          <a:ea typeface="Arial" pitchFamily="34" charset="-122"/>
                          <a:cs typeface="Arial" pitchFamily="34" charset="-120"/>
                        </a:rPr>
                        <a:t>FedEraser Ecal=2</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4F4F2"/>
                    </a:solidFill>
                  </a:tcPr>
                </a:tc>
                <a:tc>
                  <a:txBody>
                    <a:bodyPr/>
                    <a:lstStyle/>
                    <a:p>
                      <a:pPr algn="ctr" indent="0" marL="0">
                        <a:buNone/>
                      </a:pPr>
                      <a:r>
                        <a:rPr lang="en-US" sz="1700" b="1" dirty="0">
                          <a:solidFill>
                            <a:srgbClr val="14213D"/>
                          </a:solidFill>
                          <a:latin typeface="Arial" pitchFamily="34" charset="0"/>
                          <a:ea typeface="Arial" pitchFamily="34" charset="-122"/>
                          <a:cs typeface="Arial" pitchFamily="34" charset="-120"/>
                        </a:rPr>
                        <a:t>74.99%</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700" b="1" dirty="0">
                          <a:solidFill>
                            <a:srgbClr val="14213D"/>
                          </a:solidFill>
                          <a:latin typeface="Arial" pitchFamily="34" charset="0"/>
                          <a:ea typeface="Arial" pitchFamily="34" charset="-122"/>
                          <a:cs typeface="Arial" pitchFamily="34" charset="-120"/>
                        </a:rPr>
                        <a:t>2.34%</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700" b="1" dirty="0">
                          <a:solidFill>
                            <a:srgbClr val="14213D"/>
                          </a:solidFill>
                          <a:latin typeface="Arial" pitchFamily="34" charset="0"/>
                          <a:ea typeface="Arial" pitchFamily="34" charset="-122"/>
                          <a:cs typeface="Arial" pitchFamily="34" charset="-120"/>
                        </a:rPr>
                        <a:t>2.49%</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700" b="1" dirty="0">
                          <a:solidFill>
                            <a:srgbClr val="14213D"/>
                          </a:solidFill>
                          <a:latin typeface="Arial" pitchFamily="34" charset="0"/>
                          <a:ea typeface="Arial" pitchFamily="34" charset="-122"/>
                          <a:cs typeface="Arial" pitchFamily="34" charset="-120"/>
                        </a:rPr>
                        <a:t>78.6%</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700" b="1" dirty="0">
                          <a:solidFill>
                            <a:srgbClr val="14213D"/>
                          </a:solidFill>
                          <a:latin typeface="Arial" pitchFamily="34" charset="0"/>
                          <a:ea typeface="Arial" pitchFamily="34" charset="-122"/>
                          <a:cs typeface="Arial" pitchFamily="34" charset="-120"/>
                        </a:rPr>
                        <a:t>74.86%</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457200">
                <a:tc>
                  <a:txBody>
                    <a:bodyPr/>
                    <a:lstStyle/>
                    <a:p>
                      <a:pPr algn="l" indent="0" marL="0">
                        <a:buNone/>
                      </a:pPr>
                      <a:r>
                        <a:rPr lang="en-US" sz="1700" b="1" i="1" dirty="0">
                          <a:solidFill>
                            <a:srgbClr val="4A4F57"/>
                          </a:solidFill>
                          <a:latin typeface="Arial" pitchFamily="34" charset="0"/>
                          <a:ea typeface="Arial" pitchFamily="34" charset="-122"/>
                          <a:cs typeface="Arial" pitchFamily="34" charset="-120"/>
                        </a:rPr>
                        <a:t>M_CF reference</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CEDEF"/>
                    </a:solidFill>
                  </a:tcPr>
                </a:tc>
                <a:tc>
                  <a:txBody>
                    <a:bodyPr/>
                    <a:lstStyle/>
                    <a:p>
                      <a:pPr algn="ctr" indent="0" marL="0">
                        <a:buNone/>
                      </a:pPr>
                      <a:r>
                        <a:rPr lang="en-US" sz="1700" i="1" dirty="0">
                          <a:solidFill>
                            <a:srgbClr val="14213D"/>
                          </a:solidFill>
                          <a:latin typeface="Arial" pitchFamily="34" charset="0"/>
                          <a:ea typeface="Arial" pitchFamily="34" charset="-122"/>
                          <a:cs typeface="Arial" pitchFamily="34" charset="-120"/>
                        </a:rPr>
                        <a:t>74.87%</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700" i="1" dirty="0">
                          <a:solidFill>
                            <a:srgbClr val="14213D"/>
                          </a:solidFill>
                          <a:latin typeface="Arial" pitchFamily="34" charset="0"/>
                          <a:ea typeface="Arial" pitchFamily="34" charset="-122"/>
                          <a:cs typeface="Arial" pitchFamily="34" charset="-120"/>
                        </a:rPr>
                        <a:t>3.01%</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700" i="1" dirty="0">
                          <a:solidFill>
                            <a:srgbClr val="14213D"/>
                          </a:solidFill>
                          <a:latin typeface="Arial" pitchFamily="34" charset="0"/>
                          <a:ea typeface="Arial" pitchFamily="34" charset="-122"/>
                          <a:cs typeface="Arial" pitchFamily="34" charset="-120"/>
                        </a:rPr>
                        <a:t>3.62%</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700" i="1" dirty="0">
                          <a:solidFill>
                            <a:srgbClr val="14213D"/>
                          </a:solidFill>
                          <a:latin typeface="Arial" pitchFamily="34" charset="0"/>
                          <a:ea typeface="Arial" pitchFamily="34" charset="-122"/>
                          <a:cs typeface="Arial" pitchFamily="34" charset="-120"/>
                        </a:rPr>
                        <a:t>82.4%</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700" i="1" dirty="0">
                          <a:solidFill>
                            <a:srgbClr val="14213D"/>
                          </a:solidFill>
                          <a:latin typeface="Arial" pitchFamily="34" charset="0"/>
                          <a:ea typeface="Arial" pitchFamily="34" charset="-122"/>
                          <a:cs typeface="Arial" pitchFamily="34" charset="-120"/>
                        </a:rPr>
                        <a:t>74.70%</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r>
            </a:tbl>
          </a:graphicData>
        </a:graphic>
      </p:graphicFrame>
      <p:sp>
        <p:nvSpPr>
          <p:cNvPr id="4" name="Text 1"/>
          <p:cNvSpPr txBox="1"/>
          <p:nvPr/>
        </p:nvSpPr>
        <p:spPr>
          <a:xfrm>
            <a:off x="548640" y="4709160"/>
            <a:ext cx="11094415" cy="1371600"/>
          </a:xfrm>
          <a:prstGeom prst="roundRect">
            <a:avLst>
              <a:gd name="adj" fmla="val 5333"/>
            </a:avLst>
          </a:prstGeom>
          <a:solidFill>
            <a:srgbClr val="F4F6F9"/>
          </a:solidFill>
          <a:ln/>
        </p:spPr>
        <p:txBody>
          <a:bodyPr wrap="square" lIns="203200" tIns="203200" rIns="203200" bIns="203200" rtlCol="0" anchor="ctr"/>
          <a:lstStyle/>
          <a:p>
            <a:pPr algn="l" indent="0" marL="0">
              <a:spcAft>
                <a:spcPts val="600"/>
              </a:spcAft>
              <a:buNone/>
            </a:pPr>
            <a:r>
              <a:rPr lang="en-US" sz="1600" dirty="0">
                <a:solidFill>
                  <a:srgbClr val="14213D"/>
                </a:solidFill>
                <a:latin typeface="Arial" pitchFamily="34" charset="0"/>
                <a:ea typeface="Arial" pitchFamily="34" charset="-122"/>
                <a:cs typeface="Arial" pitchFamily="34" charset="-120"/>
              </a:rPr>
              <a:t>M_sub has the lowest TTR (0.24%) but poorer utility: 66.88% accuracy and 40.6% Airplane recall.</a:t>
            </a:r>
            <a:endParaRPr lang="en-US" sz="1600" dirty="0"/>
          </a:p>
          <a:p>
            <a:pPr algn="l" indent="0" marL="0">
              <a:spcAft>
                <a:spcPts val="600"/>
              </a:spcAft>
              <a:buNone/>
            </a:pPr>
            <a:r>
              <a:rPr lang="en-US" sz="1600" dirty="0">
                <a:solidFill>
                  <a:srgbClr val="14213D"/>
                </a:solidFill>
                <a:latin typeface="Arial" pitchFamily="34" charset="0"/>
                <a:ea typeface="Arial" pitchFamily="34" charset="-122"/>
                <a:cs typeface="Arial" pitchFamily="34" charset="-120"/>
              </a:rPr>
              <a:t>Ecal=2 is close to M_CF on accuracy and Macro-F1 and has lower TTR in this run (2.34% vs 3.01%), but its Airplane recall is lower (78.6% vs 82.4%).</a:t>
            </a:r>
            <a:endParaRPr lang="en-US" sz="1600" dirty="0"/>
          </a:p>
        </p:txBody>
      </p:sp>
      <p:sp>
        <p:nvSpPr>
          <p:cNvPr id="5" name="Text 2"/>
          <p:cNvSpPr txBox="1"/>
          <p:nvPr/>
        </p:nvSpPr>
        <p:spPr>
          <a:xfrm>
            <a:off x="548640" y="6126480"/>
            <a:ext cx="11094415" cy="347472"/>
          </a:xfrm>
          <a:prstGeom prst="rect">
            <a:avLst/>
          </a:prstGeom>
          <a:noFill/>
          <a:ln/>
        </p:spPr>
        <p:txBody>
          <a:bodyPr wrap="square" lIns="0" tIns="0" rIns="0" bIns="0" rtlCol="0" anchor="t"/>
          <a:lstStyle/>
          <a:p>
            <a:pPr indent="0" marL="0">
              <a:buNone/>
            </a:pPr>
            <a:r>
              <a:rPr lang="en-US" sz="1150" dirty="0">
                <a:solidFill>
                  <a:srgbClr val="6B7280"/>
                </a:solidFill>
                <a:latin typeface="Arial" pitchFamily="34" charset="0"/>
                <a:ea typeface="Arial" pitchFamily="34" charset="-122"/>
                <a:cs typeface="Arial" pitchFamily="34" charset="-120"/>
              </a:rPr>
              <a:t>Counterfactual agreement is on slide 17 and in Appendix A. M_CF is a counterfactual reference, not an unlearning method.</a:t>
            </a:r>
            <a:endParaRPr lang="en-US" sz="115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A8394"/>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1672" cy="731520"/>
          </a:xfrm>
          <a:prstGeom prst="rect">
            <a:avLst/>
          </a:prstGeom>
          <a:noFill/>
          <a:ln/>
        </p:spPr>
        <p:txBody>
          <a:bodyPr wrap="square" lIns="0" tIns="0" rIns="0" bIns="0" rtlCol="0" anchor="ctr"/>
          <a:lstStyle/>
          <a:p>
            <a:pPr algn="l" indent="0" marL="0">
              <a:buNone/>
            </a:pPr>
            <a:r>
              <a:rPr lang="en-US" sz="3000" b="1" dirty="0">
                <a:solidFill>
                  <a:srgbClr val="14213D"/>
                </a:solidFill>
                <a:latin typeface="Arial" pitchFamily="34" charset="0"/>
                <a:ea typeface="Arial" pitchFamily="34" charset="-122"/>
                <a:cs typeface="Arial" pitchFamily="34" charset="-120"/>
              </a:rPr>
              <a:t>Non-IID: direct subtraction fails on utility</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94415" cy="914400"/>
        </p:xfrm>
        <a:graphic>
          <a:graphicData uri="http://schemas.openxmlformats.org/drawingml/2006/table">
            <a:tbl>
              <a:tblPr/>
              <a:tblGrid>
                <a:gridCol w="2743200"/>
                <a:gridCol w="1669694"/>
                <a:gridCol w="1669694"/>
                <a:gridCol w="1669694"/>
                <a:gridCol w="1669694"/>
                <a:gridCol w="1672438"/>
              </a:tblGrid>
              <a:tr h="384048">
                <a:tc>
                  <a:txBody>
                    <a:bodyPr/>
                    <a:lstStyle/>
                    <a:p>
                      <a:pPr algn="l" indent="0" marL="0">
                        <a:buNone/>
                      </a:pPr>
                      <a:r>
                        <a:rPr lang="en-US" sz="1300" b="1" dirty="0">
                          <a:solidFill>
                            <a:srgbClr val="FFFFFF"/>
                          </a:solidFill>
                          <a:latin typeface="Arial" pitchFamily="34" charset="0"/>
                          <a:ea typeface="Arial" pitchFamily="34" charset="-122"/>
                          <a:cs typeface="Arial" pitchFamily="34" charset="-120"/>
                        </a:rPr>
                        <a:t>Model</a:t>
                      </a:r>
                      <a:endParaRPr lang="en-US" sz="13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Clean acc.</a:t>
                      </a:r>
                      <a:endParaRPr lang="en-US" sz="13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ASR/TTR</a:t>
                      </a:r>
                      <a:endParaRPr lang="en-US" sz="13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UTR</a:t>
                      </a:r>
                      <a:endParaRPr lang="en-US" sz="13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Airplane recall</a:t>
                      </a:r>
                      <a:endParaRPr lang="en-US" sz="13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Macro-F1</a:t>
                      </a:r>
                      <a:endParaRPr lang="en-US" sz="13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r>
              <a:tr h="329184">
                <a:tc>
                  <a:txBody>
                    <a:bodyPr/>
                    <a:lstStyle/>
                    <a:p>
                      <a:pPr algn="l" indent="0" marL="0">
                        <a:buNone/>
                      </a:pPr>
                      <a:r>
                        <a:rPr lang="en-US" sz="1400" b="1" dirty="0">
                          <a:solidFill>
                            <a:srgbClr val="B3001B"/>
                          </a:solidFill>
                          <a:latin typeface="Arial" pitchFamily="34" charset="0"/>
                          <a:ea typeface="Arial" pitchFamily="34" charset="-122"/>
                          <a:cs typeface="Arial" pitchFamily="34" charset="-120"/>
                        </a:rPr>
                        <a:t>M_attack</a:t>
                      </a:r>
                      <a:endParaRPr lang="en-US" sz="14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CE9EB"/>
                    </a:solidFill>
                  </a:tcPr>
                </a:tc>
                <a:tc>
                  <a:txBody>
                    <a:bodyPr/>
                    <a:lstStyle/>
                    <a:p>
                      <a:pPr algn="ctr" indent="0" marL="0">
                        <a:buNone/>
                      </a:pPr>
                      <a:r>
                        <a:rPr lang="en-US" sz="1400" dirty="0">
                          <a:solidFill>
                            <a:srgbClr val="14213D"/>
                          </a:solidFill>
                          <a:latin typeface="Arial" pitchFamily="34" charset="0"/>
                          <a:ea typeface="Arial" pitchFamily="34" charset="-122"/>
                          <a:cs typeface="Arial" pitchFamily="34" charset="-120"/>
                        </a:rPr>
                        <a:t>69.80%</a:t>
                      </a:r>
                      <a:endParaRPr lang="en-US" sz="14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Arial" pitchFamily="34" charset="0"/>
                          <a:ea typeface="Arial" pitchFamily="34" charset="-122"/>
                          <a:cs typeface="Arial" pitchFamily="34" charset="-120"/>
                        </a:rPr>
                        <a:t>32.21%</a:t>
                      </a:r>
                      <a:endParaRPr lang="en-US" sz="14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Arial" pitchFamily="34" charset="0"/>
                          <a:ea typeface="Arial" pitchFamily="34" charset="-122"/>
                          <a:cs typeface="Arial" pitchFamily="34" charset="-120"/>
                        </a:rPr>
                        <a:t>4.00%</a:t>
                      </a:r>
                      <a:endParaRPr lang="en-US" sz="14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Arial" pitchFamily="34" charset="0"/>
                          <a:ea typeface="Arial" pitchFamily="34" charset="-122"/>
                          <a:cs typeface="Arial" pitchFamily="34" charset="-120"/>
                        </a:rPr>
                        <a:t>81.3%</a:t>
                      </a:r>
                      <a:endParaRPr lang="en-US" sz="14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Arial" pitchFamily="34" charset="0"/>
                          <a:ea typeface="Arial" pitchFamily="34" charset="-122"/>
                          <a:cs typeface="Arial" pitchFamily="34" charset="-120"/>
                        </a:rPr>
                        <a:t>68.69%</a:t>
                      </a:r>
                      <a:endParaRPr lang="en-US" sz="14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329184">
                <a:tc>
                  <a:txBody>
                    <a:bodyPr/>
                    <a:lstStyle/>
                    <a:p>
                      <a:pPr algn="l" indent="0" marL="0">
                        <a:buNone/>
                      </a:pPr>
                      <a:r>
                        <a:rPr lang="en-US" sz="1400" b="1" dirty="0">
                          <a:solidFill>
                            <a:srgbClr val="A85500"/>
                          </a:solidFill>
                          <a:latin typeface="Arial" pitchFamily="34" charset="0"/>
                          <a:ea typeface="Arial" pitchFamily="34" charset="-122"/>
                          <a:cs typeface="Arial" pitchFamily="34" charset="-120"/>
                        </a:rPr>
                        <a:t>M_sub</a:t>
                      </a:r>
                      <a:endParaRPr lang="en-US" sz="14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DF1DF"/>
                    </a:solidFill>
                  </a:tcPr>
                </a:tc>
                <a:tc>
                  <a:txBody>
                    <a:bodyPr/>
                    <a:lstStyle/>
                    <a:p>
                      <a:pPr algn="ctr" indent="0" marL="0">
                        <a:buNone/>
                      </a:pPr>
                      <a:r>
                        <a:rPr lang="en-US" sz="1400" dirty="0">
                          <a:solidFill>
                            <a:srgbClr val="14213D"/>
                          </a:solidFill>
                          <a:latin typeface="Arial" pitchFamily="34" charset="0"/>
                          <a:ea typeface="Arial" pitchFamily="34" charset="-122"/>
                          <a:cs typeface="Arial" pitchFamily="34" charset="-120"/>
                        </a:rPr>
                        <a:t>28.04%</a:t>
                      </a:r>
                      <a:endParaRPr lang="en-US" sz="14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400" dirty="0">
                          <a:solidFill>
                            <a:srgbClr val="14213D"/>
                          </a:solidFill>
                          <a:latin typeface="Arial" pitchFamily="34" charset="0"/>
                          <a:ea typeface="Arial" pitchFamily="34" charset="-122"/>
                          <a:cs typeface="Arial" pitchFamily="34" charset="-120"/>
                        </a:rPr>
                        <a:t>0.87%</a:t>
                      </a:r>
                      <a:endParaRPr lang="en-US" sz="14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400" dirty="0">
                          <a:solidFill>
                            <a:srgbClr val="14213D"/>
                          </a:solidFill>
                          <a:latin typeface="Arial" pitchFamily="34" charset="0"/>
                          <a:ea typeface="Arial" pitchFamily="34" charset="-122"/>
                          <a:cs typeface="Arial" pitchFamily="34" charset="-120"/>
                        </a:rPr>
                        <a:t>1.02%</a:t>
                      </a:r>
                      <a:endParaRPr lang="en-US" sz="14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400" dirty="0">
                          <a:solidFill>
                            <a:srgbClr val="14213D"/>
                          </a:solidFill>
                          <a:latin typeface="Arial" pitchFamily="34" charset="0"/>
                          <a:ea typeface="Arial" pitchFamily="34" charset="-122"/>
                          <a:cs typeface="Arial" pitchFamily="34" charset="-120"/>
                        </a:rPr>
                        <a:t>14.2%</a:t>
                      </a:r>
                      <a:endParaRPr lang="en-US" sz="14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400" dirty="0">
                          <a:solidFill>
                            <a:srgbClr val="14213D"/>
                          </a:solidFill>
                          <a:latin typeface="Arial" pitchFamily="34" charset="0"/>
                          <a:ea typeface="Arial" pitchFamily="34" charset="-122"/>
                          <a:cs typeface="Arial" pitchFamily="34" charset="-120"/>
                        </a:rPr>
                        <a:t>17.10%</a:t>
                      </a:r>
                      <a:endParaRPr lang="en-US" sz="14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r>
              <a:tr h="329184">
                <a:tc>
                  <a:txBody>
                    <a:bodyPr/>
                    <a:lstStyle/>
                    <a:p>
                      <a:pPr algn="l" indent="0" marL="0">
                        <a:buNone/>
                      </a:pPr>
                      <a:r>
                        <a:rPr lang="en-US" sz="1400" b="1" dirty="0">
                          <a:solidFill>
                            <a:srgbClr val="5E3499"/>
                          </a:solidFill>
                          <a:latin typeface="Arial" pitchFamily="34" charset="0"/>
                          <a:ea typeface="Arial" pitchFamily="34" charset="-122"/>
                          <a:cs typeface="Arial" pitchFamily="34" charset="-120"/>
                        </a:rPr>
                        <a:t>M_KD</a:t>
                      </a:r>
                      <a:endParaRPr lang="en-US" sz="14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FE8F8"/>
                    </a:solidFill>
                  </a:tcPr>
                </a:tc>
                <a:tc>
                  <a:txBody>
                    <a:bodyPr/>
                    <a:lstStyle/>
                    <a:p>
                      <a:pPr algn="ctr" indent="0" marL="0">
                        <a:buNone/>
                      </a:pPr>
                      <a:r>
                        <a:rPr lang="en-US" sz="1400" dirty="0">
                          <a:solidFill>
                            <a:srgbClr val="14213D"/>
                          </a:solidFill>
                          <a:latin typeface="Arial" pitchFamily="34" charset="0"/>
                          <a:ea typeface="Arial" pitchFamily="34" charset="-122"/>
                          <a:cs typeface="Arial" pitchFamily="34" charset="-120"/>
                        </a:rPr>
                        <a:t>60.36%</a:t>
                      </a:r>
                      <a:endParaRPr lang="en-US" sz="14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Arial" pitchFamily="34" charset="0"/>
                          <a:ea typeface="Arial" pitchFamily="34" charset="-122"/>
                          <a:cs typeface="Arial" pitchFamily="34" charset="-120"/>
                        </a:rPr>
                        <a:t>3.69%</a:t>
                      </a:r>
                      <a:endParaRPr lang="en-US" sz="14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Arial" pitchFamily="34" charset="0"/>
                          <a:ea typeface="Arial" pitchFamily="34" charset="-122"/>
                          <a:cs typeface="Arial" pitchFamily="34" charset="-120"/>
                        </a:rPr>
                        <a:t>4.66%</a:t>
                      </a:r>
                      <a:endParaRPr lang="en-US" sz="14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Arial" pitchFamily="34" charset="0"/>
                          <a:ea typeface="Arial" pitchFamily="34" charset="-122"/>
                          <a:cs typeface="Arial" pitchFamily="34" charset="-120"/>
                        </a:rPr>
                        <a:t>75.6%</a:t>
                      </a:r>
                      <a:endParaRPr lang="en-US" sz="14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Arial" pitchFamily="34" charset="0"/>
                          <a:ea typeface="Arial" pitchFamily="34" charset="-122"/>
                          <a:cs typeface="Arial" pitchFamily="34" charset="-120"/>
                        </a:rPr>
                        <a:t>57.67%</a:t>
                      </a:r>
                      <a:endParaRPr lang="en-US" sz="14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329184">
                <a:tc>
                  <a:txBody>
                    <a:bodyPr/>
                    <a:lstStyle/>
                    <a:p>
                      <a:pPr algn="l" indent="0" marL="0">
                        <a:buNone/>
                      </a:pPr>
                      <a:r>
                        <a:rPr lang="en-US" sz="1400" b="1" dirty="0">
                          <a:solidFill>
                            <a:srgbClr val="0B7A75"/>
                          </a:solidFill>
                          <a:latin typeface="Arial" pitchFamily="34" charset="0"/>
                          <a:ea typeface="Arial" pitchFamily="34" charset="-122"/>
                          <a:cs typeface="Arial" pitchFamily="34" charset="-120"/>
                        </a:rPr>
                        <a:t>FedEraser Ecal=1</a:t>
                      </a:r>
                      <a:endParaRPr lang="en-US" sz="14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4F4F2"/>
                    </a:solidFill>
                  </a:tcPr>
                </a:tc>
                <a:tc>
                  <a:txBody>
                    <a:bodyPr/>
                    <a:lstStyle/>
                    <a:p>
                      <a:pPr algn="ctr" indent="0" marL="0">
                        <a:buNone/>
                      </a:pPr>
                      <a:r>
                        <a:rPr lang="en-US" sz="1400" dirty="0">
                          <a:solidFill>
                            <a:srgbClr val="14213D"/>
                          </a:solidFill>
                          <a:latin typeface="Arial" pitchFamily="34" charset="0"/>
                          <a:ea typeface="Arial" pitchFamily="34" charset="-122"/>
                          <a:cs typeface="Arial" pitchFamily="34" charset="-120"/>
                        </a:rPr>
                        <a:t>65.75%</a:t>
                      </a:r>
                      <a:endParaRPr lang="en-US" sz="14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400" dirty="0">
                          <a:solidFill>
                            <a:srgbClr val="14213D"/>
                          </a:solidFill>
                          <a:latin typeface="Arial" pitchFamily="34" charset="0"/>
                          <a:ea typeface="Arial" pitchFamily="34" charset="-122"/>
                          <a:cs typeface="Arial" pitchFamily="34" charset="-120"/>
                        </a:rPr>
                        <a:t>3.53%</a:t>
                      </a:r>
                      <a:endParaRPr lang="en-US" sz="14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400" dirty="0">
                          <a:solidFill>
                            <a:srgbClr val="14213D"/>
                          </a:solidFill>
                          <a:latin typeface="Arial" pitchFamily="34" charset="0"/>
                          <a:ea typeface="Arial" pitchFamily="34" charset="-122"/>
                          <a:cs typeface="Arial" pitchFamily="34" charset="-120"/>
                        </a:rPr>
                        <a:t>4.13%</a:t>
                      </a:r>
                      <a:endParaRPr lang="en-US" sz="14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400" dirty="0">
                          <a:solidFill>
                            <a:srgbClr val="14213D"/>
                          </a:solidFill>
                          <a:latin typeface="Arial" pitchFamily="34" charset="0"/>
                          <a:ea typeface="Arial" pitchFamily="34" charset="-122"/>
                          <a:cs typeface="Arial" pitchFamily="34" charset="-120"/>
                        </a:rPr>
                        <a:t>77.7%</a:t>
                      </a:r>
                      <a:endParaRPr lang="en-US" sz="14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400" dirty="0">
                          <a:solidFill>
                            <a:srgbClr val="14213D"/>
                          </a:solidFill>
                          <a:latin typeface="Arial" pitchFamily="34" charset="0"/>
                          <a:ea typeface="Arial" pitchFamily="34" charset="-122"/>
                          <a:cs typeface="Arial" pitchFamily="34" charset="-120"/>
                        </a:rPr>
                        <a:t>64.21%</a:t>
                      </a:r>
                      <a:endParaRPr lang="en-US" sz="14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r>
              <a:tr h="329184">
                <a:tc>
                  <a:txBody>
                    <a:bodyPr/>
                    <a:lstStyle/>
                    <a:p>
                      <a:pPr algn="l" indent="0" marL="0">
                        <a:buNone/>
                      </a:pPr>
                      <a:r>
                        <a:rPr lang="en-US" sz="1400" b="1" dirty="0">
                          <a:solidFill>
                            <a:srgbClr val="0B7A75"/>
                          </a:solidFill>
                          <a:latin typeface="Arial" pitchFamily="34" charset="0"/>
                          <a:ea typeface="Arial" pitchFamily="34" charset="-122"/>
                          <a:cs typeface="Arial" pitchFamily="34" charset="-120"/>
                        </a:rPr>
                        <a:t>FedEraser Ecal=2</a:t>
                      </a:r>
                      <a:endParaRPr lang="en-US" sz="14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4F4F2"/>
                    </a:solidFill>
                  </a:tcPr>
                </a:tc>
                <a:tc>
                  <a:txBody>
                    <a:bodyPr/>
                    <a:lstStyle/>
                    <a:p>
                      <a:pPr algn="ctr" indent="0" marL="0">
                        <a:buNone/>
                      </a:pPr>
                      <a:r>
                        <a:rPr lang="en-US" sz="1400" b="1" dirty="0">
                          <a:solidFill>
                            <a:srgbClr val="14213D"/>
                          </a:solidFill>
                          <a:latin typeface="Arial" pitchFamily="34" charset="0"/>
                          <a:ea typeface="Arial" pitchFamily="34" charset="-122"/>
                          <a:cs typeface="Arial" pitchFamily="34" charset="-120"/>
                        </a:rPr>
                        <a:t>68.89%</a:t>
                      </a:r>
                      <a:endParaRPr lang="en-US" sz="14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4213D"/>
                          </a:solidFill>
                          <a:latin typeface="Arial" pitchFamily="34" charset="0"/>
                          <a:ea typeface="Arial" pitchFamily="34" charset="-122"/>
                          <a:cs typeface="Arial" pitchFamily="34" charset="-120"/>
                        </a:rPr>
                        <a:t>3.09%</a:t>
                      </a:r>
                      <a:endParaRPr lang="en-US" sz="14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4213D"/>
                          </a:solidFill>
                          <a:latin typeface="Arial" pitchFamily="34" charset="0"/>
                          <a:ea typeface="Arial" pitchFamily="34" charset="-122"/>
                          <a:cs typeface="Arial" pitchFamily="34" charset="-120"/>
                        </a:rPr>
                        <a:t>4.11%</a:t>
                      </a:r>
                      <a:endParaRPr lang="en-US" sz="14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4213D"/>
                          </a:solidFill>
                          <a:latin typeface="Arial" pitchFamily="34" charset="0"/>
                          <a:ea typeface="Arial" pitchFamily="34" charset="-122"/>
                          <a:cs typeface="Arial" pitchFamily="34" charset="-120"/>
                        </a:rPr>
                        <a:t>81.1%</a:t>
                      </a:r>
                      <a:endParaRPr lang="en-US" sz="14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4213D"/>
                          </a:solidFill>
                          <a:latin typeface="Arial" pitchFamily="34" charset="0"/>
                          <a:ea typeface="Arial" pitchFamily="34" charset="-122"/>
                          <a:cs typeface="Arial" pitchFamily="34" charset="-120"/>
                        </a:rPr>
                        <a:t>67.60%</a:t>
                      </a:r>
                      <a:endParaRPr lang="en-US" sz="14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329184">
                <a:tc>
                  <a:txBody>
                    <a:bodyPr/>
                    <a:lstStyle/>
                    <a:p>
                      <a:pPr algn="l" indent="0" marL="0">
                        <a:buNone/>
                      </a:pPr>
                      <a:r>
                        <a:rPr lang="en-US" sz="1400" b="1" i="1" dirty="0">
                          <a:solidFill>
                            <a:srgbClr val="4A4F57"/>
                          </a:solidFill>
                          <a:latin typeface="Arial" pitchFamily="34" charset="0"/>
                          <a:ea typeface="Arial" pitchFamily="34" charset="-122"/>
                          <a:cs typeface="Arial" pitchFamily="34" charset="-120"/>
                        </a:rPr>
                        <a:t>M_CF reference</a:t>
                      </a:r>
                      <a:endParaRPr lang="en-US" sz="14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CEDEF"/>
                    </a:solidFill>
                  </a:tcPr>
                </a:tc>
                <a:tc>
                  <a:txBody>
                    <a:bodyPr/>
                    <a:lstStyle/>
                    <a:p>
                      <a:pPr algn="ctr" indent="0" marL="0">
                        <a:buNone/>
                      </a:pPr>
                      <a:r>
                        <a:rPr lang="en-US" sz="1400" i="1" dirty="0">
                          <a:solidFill>
                            <a:srgbClr val="14213D"/>
                          </a:solidFill>
                          <a:latin typeface="Arial" pitchFamily="34" charset="0"/>
                          <a:ea typeface="Arial" pitchFamily="34" charset="-122"/>
                          <a:cs typeface="Arial" pitchFamily="34" charset="-120"/>
                        </a:rPr>
                        <a:t>69.64%</a:t>
                      </a:r>
                      <a:endParaRPr lang="en-US" sz="14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400" i="1" dirty="0">
                          <a:solidFill>
                            <a:srgbClr val="14213D"/>
                          </a:solidFill>
                          <a:latin typeface="Arial" pitchFamily="34" charset="0"/>
                          <a:ea typeface="Arial" pitchFamily="34" charset="-122"/>
                          <a:cs typeface="Arial" pitchFamily="34" charset="-120"/>
                        </a:rPr>
                        <a:t>3.40%</a:t>
                      </a:r>
                      <a:endParaRPr lang="en-US" sz="14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400" i="1" dirty="0">
                          <a:solidFill>
                            <a:srgbClr val="14213D"/>
                          </a:solidFill>
                          <a:latin typeface="Arial" pitchFamily="34" charset="0"/>
                          <a:ea typeface="Arial" pitchFamily="34" charset="-122"/>
                          <a:cs typeface="Arial" pitchFamily="34" charset="-120"/>
                        </a:rPr>
                        <a:t>3.74%</a:t>
                      </a:r>
                      <a:endParaRPr lang="en-US" sz="14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400" i="1" dirty="0">
                          <a:solidFill>
                            <a:srgbClr val="14213D"/>
                          </a:solidFill>
                          <a:latin typeface="Arial" pitchFamily="34" charset="0"/>
                          <a:ea typeface="Arial" pitchFamily="34" charset="-122"/>
                          <a:cs typeface="Arial" pitchFamily="34" charset="-120"/>
                        </a:rPr>
                        <a:t>79.0%</a:t>
                      </a:r>
                      <a:endParaRPr lang="en-US" sz="14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400" i="1" dirty="0">
                          <a:solidFill>
                            <a:srgbClr val="14213D"/>
                          </a:solidFill>
                          <a:latin typeface="Arial" pitchFamily="34" charset="0"/>
                          <a:ea typeface="Arial" pitchFamily="34" charset="-122"/>
                          <a:cs typeface="Arial" pitchFamily="34" charset="-120"/>
                        </a:rPr>
                        <a:t>68.42%</a:t>
                      </a:r>
                      <a:endParaRPr lang="en-US" sz="14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r>
            </a:tbl>
          </a:graphicData>
        </a:graphic>
      </p:graphicFrame>
      <p:sp>
        <p:nvSpPr>
          <p:cNvPr id="4" name="Text 1"/>
          <p:cNvSpPr txBox="1"/>
          <p:nvPr/>
        </p:nvSpPr>
        <p:spPr>
          <a:xfrm>
            <a:off x="548640" y="3657600"/>
            <a:ext cx="11094415" cy="274320"/>
          </a:xfrm>
          <a:prstGeom prst="rect">
            <a:avLst/>
          </a:prstGeom>
          <a:noFill/>
          <a:ln/>
        </p:spPr>
        <p:txBody>
          <a:bodyPr wrap="square" lIns="0" tIns="0" rIns="0" bIns="0" rtlCol="0" anchor="t"/>
          <a:lstStyle/>
          <a:p>
            <a:pPr indent="0" marL="0">
              <a:buNone/>
            </a:pPr>
            <a:r>
              <a:rPr lang="en-US" sz="1400" b="1" dirty="0">
                <a:solidFill>
                  <a:srgbClr val="14213D"/>
                </a:solidFill>
                <a:latin typeface="Arial" pitchFamily="34" charset="0"/>
                <a:ea typeface="Arial" pitchFamily="34" charset="-122"/>
                <a:cs typeface="Arial" pitchFamily="34" charset="-120"/>
              </a:rPr>
              <a:t>Clean accuracy, independently evaluated endpoints (not a cumulative waterfall) · one saved partition / seed</a:t>
            </a:r>
            <a:endParaRPr lang="en-US" sz="1400" dirty="0"/>
          </a:p>
        </p:txBody>
      </p:sp>
      <p:sp>
        <p:nvSpPr>
          <p:cNvPr id="5" name="Shape 2"/>
          <p:cNvSpPr/>
          <p:nvPr/>
        </p:nvSpPr>
        <p:spPr>
          <a:xfrm>
            <a:off x="2651760" y="4023360"/>
            <a:ext cx="0" cy="1956816"/>
          </a:xfrm>
          <a:prstGeom prst="line">
            <a:avLst/>
          </a:prstGeom>
          <a:noFill/>
          <a:ln w="9525">
            <a:solidFill>
              <a:srgbClr val="E3E7ED"/>
            </a:solidFill>
            <a:prstDash val="solid"/>
          </a:ln>
        </p:spPr>
      </p:sp>
      <p:sp>
        <p:nvSpPr>
          <p:cNvPr id="6" name="Text 3"/>
          <p:cNvSpPr txBox="1"/>
          <p:nvPr/>
        </p:nvSpPr>
        <p:spPr>
          <a:xfrm>
            <a:off x="2377440" y="5980176"/>
            <a:ext cx="548640" cy="228600"/>
          </a:xfrm>
          <a:prstGeom prst="rect">
            <a:avLst/>
          </a:prstGeom>
          <a:noFill/>
          <a:ln/>
        </p:spPr>
        <p:txBody>
          <a:bodyPr wrap="square" lIns="0" tIns="0" rIns="0" bIns="0" rtlCol="0" anchor="t"/>
          <a:lstStyle/>
          <a:p>
            <a:pPr algn="ctr" indent="0" marL="0">
              <a:buNone/>
            </a:pPr>
            <a:r>
              <a:rPr lang="en-US" sz="1200" dirty="0">
                <a:solidFill>
                  <a:srgbClr val="3A4560"/>
                </a:solidFill>
                <a:latin typeface="Arial" pitchFamily="34" charset="0"/>
                <a:ea typeface="Arial" pitchFamily="34" charset="-122"/>
                <a:cs typeface="Arial" pitchFamily="34" charset="-120"/>
              </a:rPr>
              <a:t>20</a:t>
            </a:r>
            <a:endParaRPr lang="en-US" sz="1200" dirty="0"/>
          </a:p>
        </p:txBody>
      </p:sp>
      <p:sp>
        <p:nvSpPr>
          <p:cNvPr id="7" name="Shape 4"/>
          <p:cNvSpPr/>
          <p:nvPr/>
        </p:nvSpPr>
        <p:spPr>
          <a:xfrm>
            <a:off x="3632662" y="4023360"/>
            <a:ext cx="0" cy="1956816"/>
          </a:xfrm>
          <a:prstGeom prst="line">
            <a:avLst/>
          </a:prstGeom>
          <a:noFill/>
          <a:ln w="9525">
            <a:solidFill>
              <a:srgbClr val="E3E7ED"/>
            </a:solidFill>
            <a:prstDash val="solid"/>
          </a:ln>
        </p:spPr>
      </p:sp>
      <p:sp>
        <p:nvSpPr>
          <p:cNvPr id="8" name="Text 5"/>
          <p:cNvSpPr txBox="1"/>
          <p:nvPr/>
        </p:nvSpPr>
        <p:spPr>
          <a:xfrm>
            <a:off x="3358342" y="5980176"/>
            <a:ext cx="548640" cy="228600"/>
          </a:xfrm>
          <a:prstGeom prst="rect">
            <a:avLst/>
          </a:prstGeom>
          <a:noFill/>
          <a:ln/>
        </p:spPr>
        <p:txBody>
          <a:bodyPr wrap="square" lIns="0" tIns="0" rIns="0" bIns="0" rtlCol="0" anchor="t"/>
          <a:lstStyle/>
          <a:p>
            <a:pPr algn="ctr" indent="0" marL="0">
              <a:buNone/>
            </a:pPr>
            <a:r>
              <a:rPr lang="en-US" sz="1200" dirty="0">
                <a:solidFill>
                  <a:srgbClr val="3A4560"/>
                </a:solidFill>
                <a:latin typeface="Arial" pitchFamily="34" charset="0"/>
                <a:ea typeface="Arial" pitchFamily="34" charset="-122"/>
                <a:cs typeface="Arial" pitchFamily="34" charset="-120"/>
              </a:rPr>
              <a:t>30</a:t>
            </a:r>
            <a:endParaRPr lang="en-US" sz="1200" dirty="0"/>
          </a:p>
        </p:txBody>
      </p:sp>
      <p:sp>
        <p:nvSpPr>
          <p:cNvPr id="9" name="Shape 6"/>
          <p:cNvSpPr/>
          <p:nvPr/>
        </p:nvSpPr>
        <p:spPr>
          <a:xfrm>
            <a:off x="4613564" y="4023360"/>
            <a:ext cx="0" cy="1956816"/>
          </a:xfrm>
          <a:prstGeom prst="line">
            <a:avLst/>
          </a:prstGeom>
          <a:noFill/>
          <a:ln w="9525">
            <a:solidFill>
              <a:srgbClr val="E3E7ED"/>
            </a:solidFill>
            <a:prstDash val="solid"/>
          </a:ln>
        </p:spPr>
      </p:sp>
      <p:sp>
        <p:nvSpPr>
          <p:cNvPr id="10" name="Text 7"/>
          <p:cNvSpPr txBox="1"/>
          <p:nvPr/>
        </p:nvSpPr>
        <p:spPr>
          <a:xfrm>
            <a:off x="4339244" y="5980176"/>
            <a:ext cx="548640" cy="228600"/>
          </a:xfrm>
          <a:prstGeom prst="rect">
            <a:avLst/>
          </a:prstGeom>
          <a:noFill/>
          <a:ln/>
        </p:spPr>
        <p:txBody>
          <a:bodyPr wrap="square" lIns="0" tIns="0" rIns="0" bIns="0" rtlCol="0" anchor="t"/>
          <a:lstStyle/>
          <a:p>
            <a:pPr algn="ctr" indent="0" marL="0">
              <a:buNone/>
            </a:pPr>
            <a:r>
              <a:rPr lang="en-US" sz="1200" dirty="0">
                <a:solidFill>
                  <a:srgbClr val="3A4560"/>
                </a:solidFill>
                <a:latin typeface="Arial" pitchFamily="34" charset="0"/>
                <a:ea typeface="Arial" pitchFamily="34" charset="-122"/>
                <a:cs typeface="Arial" pitchFamily="34" charset="-120"/>
              </a:rPr>
              <a:t>40</a:t>
            </a:r>
            <a:endParaRPr lang="en-US" sz="1200" dirty="0"/>
          </a:p>
        </p:txBody>
      </p:sp>
      <p:sp>
        <p:nvSpPr>
          <p:cNvPr id="11" name="Shape 8"/>
          <p:cNvSpPr/>
          <p:nvPr/>
        </p:nvSpPr>
        <p:spPr>
          <a:xfrm>
            <a:off x="5594465" y="4023360"/>
            <a:ext cx="0" cy="1956816"/>
          </a:xfrm>
          <a:prstGeom prst="line">
            <a:avLst/>
          </a:prstGeom>
          <a:noFill/>
          <a:ln w="9525">
            <a:solidFill>
              <a:srgbClr val="E3E7ED"/>
            </a:solidFill>
            <a:prstDash val="solid"/>
          </a:ln>
        </p:spPr>
      </p:sp>
      <p:sp>
        <p:nvSpPr>
          <p:cNvPr id="12" name="Text 9"/>
          <p:cNvSpPr txBox="1"/>
          <p:nvPr/>
        </p:nvSpPr>
        <p:spPr>
          <a:xfrm>
            <a:off x="5320145" y="5980176"/>
            <a:ext cx="548640" cy="228600"/>
          </a:xfrm>
          <a:prstGeom prst="rect">
            <a:avLst/>
          </a:prstGeom>
          <a:noFill/>
          <a:ln/>
        </p:spPr>
        <p:txBody>
          <a:bodyPr wrap="square" lIns="0" tIns="0" rIns="0" bIns="0" rtlCol="0" anchor="t"/>
          <a:lstStyle/>
          <a:p>
            <a:pPr algn="ctr" indent="0" marL="0">
              <a:buNone/>
            </a:pPr>
            <a:r>
              <a:rPr lang="en-US" sz="1200" dirty="0">
                <a:solidFill>
                  <a:srgbClr val="3A4560"/>
                </a:solidFill>
                <a:latin typeface="Arial" pitchFamily="34" charset="0"/>
                <a:ea typeface="Arial" pitchFamily="34" charset="-122"/>
                <a:cs typeface="Arial" pitchFamily="34" charset="-120"/>
              </a:rPr>
              <a:t>50</a:t>
            </a:r>
            <a:endParaRPr lang="en-US" sz="1200" dirty="0"/>
          </a:p>
        </p:txBody>
      </p:sp>
      <p:sp>
        <p:nvSpPr>
          <p:cNvPr id="13" name="Shape 10"/>
          <p:cNvSpPr/>
          <p:nvPr/>
        </p:nvSpPr>
        <p:spPr>
          <a:xfrm>
            <a:off x="6575367" y="4023360"/>
            <a:ext cx="0" cy="1956816"/>
          </a:xfrm>
          <a:prstGeom prst="line">
            <a:avLst/>
          </a:prstGeom>
          <a:noFill/>
          <a:ln w="9525">
            <a:solidFill>
              <a:srgbClr val="E3E7ED"/>
            </a:solidFill>
            <a:prstDash val="solid"/>
          </a:ln>
        </p:spPr>
      </p:sp>
      <p:sp>
        <p:nvSpPr>
          <p:cNvPr id="14" name="Text 11"/>
          <p:cNvSpPr txBox="1"/>
          <p:nvPr/>
        </p:nvSpPr>
        <p:spPr>
          <a:xfrm>
            <a:off x="6301047" y="5980176"/>
            <a:ext cx="548640" cy="228600"/>
          </a:xfrm>
          <a:prstGeom prst="rect">
            <a:avLst/>
          </a:prstGeom>
          <a:noFill/>
          <a:ln/>
        </p:spPr>
        <p:txBody>
          <a:bodyPr wrap="square" lIns="0" tIns="0" rIns="0" bIns="0" rtlCol="0" anchor="t"/>
          <a:lstStyle/>
          <a:p>
            <a:pPr algn="ctr" indent="0" marL="0">
              <a:buNone/>
            </a:pPr>
            <a:r>
              <a:rPr lang="en-US" sz="1200" dirty="0">
                <a:solidFill>
                  <a:srgbClr val="3A4560"/>
                </a:solidFill>
                <a:latin typeface="Arial" pitchFamily="34" charset="0"/>
                <a:ea typeface="Arial" pitchFamily="34" charset="-122"/>
                <a:cs typeface="Arial" pitchFamily="34" charset="-120"/>
              </a:rPr>
              <a:t>60</a:t>
            </a:r>
            <a:endParaRPr lang="en-US" sz="1200" dirty="0"/>
          </a:p>
        </p:txBody>
      </p:sp>
      <p:sp>
        <p:nvSpPr>
          <p:cNvPr id="15" name="Shape 12"/>
          <p:cNvSpPr/>
          <p:nvPr/>
        </p:nvSpPr>
        <p:spPr>
          <a:xfrm>
            <a:off x="7556269" y="4023360"/>
            <a:ext cx="0" cy="1956816"/>
          </a:xfrm>
          <a:prstGeom prst="line">
            <a:avLst/>
          </a:prstGeom>
          <a:noFill/>
          <a:ln w="9525">
            <a:solidFill>
              <a:srgbClr val="E3E7ED"/>
            </a:solidFill>
            <a:prstDash val="solid"/>
          </a:ln>
        </p:spPr>
      </p:sp>
      <p:sp>
        <p:nvSpPr>
          <p:cNvPr id="16" name="Text 13"/>
          <p:cNvSpPr txBox="1"/>
          <p:nvPr/>
        </p:nvSpPr>
        <p:spPr>
          <a:xfrm>
            <a:off x="7281949" y="5980176"/>
            <a:ext cx="548640" cy="228600"/>
          </a:xfrm>
          <a:prstGeom prst="rect">
            <a:avLst/>
          </a:prstGeom>
          <a:noFill/>
          <a:ln/>
        </p:spPr>
        <p:txBody>
          <a:bodyPr wrap="square" lIns="0" tIns="0" rIns="0" bIns="0" rtlCol="0" anchor="t"/>
          <a:lstStyle/>
          <a:p>
            <a:pPr algn="ctr" indent="0" marL="0">
              <a:buNone/>
            </a:pPr>
            <a:r>
              <a:rPr lang="en-US" sz="1200" dirty="0">
                <a:solidFill>
                  <a:srgbClr val="3A4560"/>
                </a:solidFill>
                <a:latin typeface="Arial" pitchFamily="34" charset="0"/>
                <a:ea typeface="Arial" pitchFamily="34" charset="-122"/>
                <a:cs typeface="Arial" pitchFamily="34" charset="-120"/>
              </a:rPr>
              <a:t>70</a:t>
            </a:r>
            <a:endParaRPr lang="en-US" sz="1200" dirty="0"/>
          </a:p>
        </p:txBody>
      </p:sp>
      <p:sp>
        <p:nvSpPr>
          <p:cNvPr id="17" name="Shape 14"/>
          <p:cNvSpPr/>
          <p:nvPr/>
        </p:nvSpPr>
        <p:spPr>
          <a:xfrm>
            <a:off x="7520957" y="4023360"/>
            <a:ext cx="0" cy="1956816"/>
          </a:xfrm>
          <a:prstGeom prst="line">
            <a:avLst/>
          </a:prstGeom>
          <a:noFill/>
          <a:ln w="12700">
            <a:solidFill>
              <a:srgbClr val="4A4F57"/>
            </a:solidFill>
            <a:prstDash val="dash"/>
          </a:ln>
        </p:spPr>
      </p:sp>
      <p:sp>
        <p:nvSpPr>
          <p:cNvPr id="18" name="Text 15"/>
          <p:cNvSpPr txBox="1"/>
          <p:nvPr/>
        </p:nvSpPr>
        <p:spPr>
          <a:xfrm>
            <a:off x="8183880" y="5980176"/>
            <a:ext cx="2011680" cy="228600"/>
          </a:xfrm>
          <a:prstGeom prst="rect">
            <a:avLst/>
          </a:prstGeom>
          <a:noFill/>
          <a:ln/>
        </p:spPr>
        <p:txBody>
          <a:bodyPr wrap="square" lIns="0" tIns="0" rIns="0" bIns="0" rtlCol="0" anchor="t"/>
          <a:lstStyle/>
          <a:p>
            <a:pPr indent="0" marL="0">
              <a:buNone/>
            </a:pPr>
            <a:r>
              <a:rPr lang="en-US" sz="1200" dirty="0">
                <a:solidFill>
                  <a:srgbClr val="6B7280"/>
                </a:solidFill>
                <a:latin typeface="Arial" pitchFamily="34" charset="0"/>
                <a:ea typeface="Arial" pitchFamily="34" charset="-122"/>
                <a:cs typeface="Arial" pitchFamily="34" charset="-120"/>
              </a:rPr>
              <a:t>Clean accuracy (%)</a:t>
            </a:r>
            <a:endParaRPr lang="en-US" sz="1200" dirty="0"/>
          </a:p>
        </p:txBody>
      </p:sp>
      <p:sp>
        <p:nvSpPr>
          <p:cNvPr id="19" name="Text 16"/>
          <p:cNvSpPr txBox="1"/>
          <p:nvPr/>
        </p:nvSpPr>
        <p:spPr>
          <a:xfrm>
            <a:off x="9326880" y="3886200"/>
            <a:ext cx="2286000" cy="228600"/>
          </a:xfrm>
          <a:prstGeom prst="rect">
            <a:avLst/>
          </a:prstGeom>
          <a:noFill/>
          <a:ln/>
        </p:spPr>
        <p:txBody>
          <a:bodyPr wrap="square" lIns="0" tIns="0" rIns="0" bIns="0" rtlCol="0" anchor="t"/>
          <a:lstStyle/>
          <a:p>
            <a:pPr algn="r" indent="0" marL="0">
              <a:buNone/>
            </a:pPr>
            <a:r>
              <a:rPr lang="en-US" sz="1200" b="1" dirty="0">
                <a:solidFill>
                  <a:srgbClr val="6B7280"/>
                </a:solidFill>
                <a:latin typeface="Arial" pitchFamily="34" charset="0"/>
                <a:ea typeface="Arial" pitchFamily="34" charset="-122"/>
                <a:cs typeface="Arial" pitchFamily="34" charset="-120"/>
              </a:rPr>
              <a:t>Gain vs M_sub</a:t>
            </a:r>
            <a:endParaRPr lang="en-US" sz="1200" dirty="0"/>
          </a:p>
        </p:txBody>
      </p:sp>
      <p:sp>
        <p:nvSpPr>
          <p:cNvPr id="20" name="Text 17"/>
          <p:cNvSpPr txBox="1"/>
          <p:nvPr/>
        </p:nvSpPr>
        <p:spPr>
          <a:xfrm>
            <a:off x="8229600" y="3886200"/>
            <a:ext cx="1097280" cy="228600"/>
          </a:xfrm>
          <a:prstGeom prst="rect">
            <a:avLst/>
          </a:prstGeom>
          <a:noFill/>
          <a:ln/>
        </p:spPr>
        <p:txBody>
          <a:bodyPr wrap="square" lIns="0" tIns="0" rIns="0" bIns="0" rtlCol="0" anchor="t"/>
          <a:lstStyle/>
          <a:p>
            <a:pPr indent="0" marL="0">
              <a:buNone/>
            </a:pPr>
            <a:r>
              <a:rPr lang="en-US" sz="1200" b="1" dirty="0">
                <a:solidFill>
                  <a:srgbClr val="6B7280"/>
                </a:solidFill>
                <a:latin typeface="Arial" pitchFamily="34" charset="0"/>
                <a:ea typeface="Arial" pitchFamily="34" charset="-122"/>
                <a:cs typeface="Arial" pitchFamily="34" charset="-120"/>
              </a:rPr>
              <a:t>Accuracy</a:t>
            </a:r>
            <a:endParaRPr lang="en-US" sz="1200" dirty="0"/>
          </a:p>
        </p:txBody>
      </p:sp>
      <p:sp>
        <p:nvSpPr>
          <p:cNvPr id="21" name="Text 18"/>
          <p:cNvSpPr txBox="1"/>
          <p:nvPr/>
        </p:nvSpPr>
        <p:spPr>
          <a:xfrm>
            <a:off x="548640" y="4114800"/>
            <a:ext cx="2103120" cy="274320"/>
          </a:xfrm>
          <a:prstGeom prst="rect">
            <a:avLst/>
          </a:prstGeom>
          <a:noFill/>
          <a:ln/>
        </p:spPr>
        <p:txBody>
          <a:bodyPr wrap="square" lIns="0" tIns="0" rIns="0" bIns="0" rtlCol="0" anchor="ctr"/>
          <a:lstStyle/>
          <a:p>
            <a:pPr indent="0" marL="0">
              <a:buNone/>
            </a:pPr>
            <a:r>
              <a:rPr lang="en-US" sz="1400" b="1" dirty="0">
                <a:solidFill>
                  <a:srgbClr val="A85500"/>
                </a:solidFill>
                <a:latin typeface="Arial" pitchFamily="34" charset="0"/>
                <a:ea typeface="Arial" pitchFamily="34" charset="-122"/>
                <a:cs typeface="Arial" pitchFamily="34" charset="-120"/>
              </a:rPr>
              <a:t>M_sub</a:t>
            </a:r>
            <a:endParaRPr lang="en-US" sz="1400" dirty="0"/>
          </a:p>
        </p:txBody>
      </p:sp>
      <p:sp>
        <p:nvSpPr>
          <p:cNvPr id="22" name="Shape 19"/>
          <p:cNvSpPr/>
          <p:nvPr/>
        </p:nvSpPr>
        <p:spPr>
          <a:xfrm>
            <a:off x="2651760" y="4251960"/>
            <a:ext cx="788645" cy="0"/>
          </a:xfrm>
          <a:prstGeom prst="line">
            <a:avLst/>
          </a:prstGeom>
          <a:noFill/>
          <a:ln w="25400">
            <a:solidFill>
              <a:srgbClr val="E8890C"/>
            </a:solidFill>
            <a:prstDash val="solid"/>
          </a:ln>
        </p:spPr>
      </p:sp>
      <p:sp>
        <p:nvSpPr>
          <p:cNvPr id="23" name="Shape 20"/>
          <p:cNvSpPr txBox="1"/>
          <p:nvPr/>
        </p:nvSpPr>
        <p:spPr>
          <a:xfrm>
            <a:off x="3348965" y="4160520"/>
            <a:ext cx="182880" cy="182880"/>
          </a:xfrm>
          <a:prstGeom prst="ellipse">
            <a:avLst/>
          </a:prstGeom>
          <a:solidFill>
            <a:srgbClr val="E8890C"/>
          </a:solidFill>
          <a:ln w="12700">
            <a:solidFill>
              <a:srgbClr val="FFFFFF"/>
            </a:solidFill>
            <a:prstDash val="solid"/>
          </a:ln>
        </p:spPr>
      </p:sp>
      <p:sp>
        <p:nvSpPr>
          <p:cNvPr id="24" name="Text 21"/>
          <p:cNvSpPr txBox="1"/>
          <p:nvPr/>
        </p:nvSpPr>
        <p:spPr>
          <a:xfrm>
            <a:off x="8229600" y="4114800"/>
            <a:ext cx="868680" cy="274320"/>
          </a:xfrm>
          <a:prstGeom prst="rect">
            <a:avLst/>
          </a:prstGeom>
          <a:noFill/>
          <a:ln/>
        </p:spPr>
        <p:txBody>
          <a:bodyPr wrap="square" lIns="0" tIns="0" rIns="0" bIns="0" rtlCol="0" anchor="ctr"/>
          <a:lstStyle/>
          <a:p>
            <a:pPr indent="0" marL="0">
              <a:buNone/>
            </a:pPr>
            <a:r>
              <a:rPr lang="en-US" sz="1400" b="1" dirty="0">
                <a:solidFill>
                  <a:srgbClr val="A85500"/>
                </a:solidFill>
                <a:latin typeface="Arial" pitchFamily="34" charset="0"/>
                <a:ea typeface="Arial" pitchFamily="34" charset="-122"/>
                <a:cs typeface="Arial" pitchFamily="34" charset="-120"/>
              </a:rPr>
              <a:t>28.04%</a:t>
            </a:r>
            <a:endParaRPr lang="en-US" sz="1400" dirty="0"/>
          </a:p>
        </p:txBody>
      </p:sp>
      <p:sp>
        <p:nvSpPr>
          <p:cNvPr id="25" name="Text 22"/>
          <p:cNvSpPr txBox="1"/>
          <p:nvPr/>
        </p:nvSpPr>
        <p:spPr>
          <a:xfrm>
            <a:off x="9326880" y="4114800"/>
            <a:ext cx="2313432" cy="274320"/>
          </a:xfrm>
          <a:prstGeom prst="rect">
            <a:avLst/>
          </a:prstGeom>
          <a:noFill/>
          <a:ln/>
        </p:spPr>
        <p:txBody>
          <a:bodyPr wrap="square" lIns="0" tIns="0" rIns="0" bIns="0" rtlCol="0" anchor="ctr"/>
          <a:lstStyle/>
          <a:p>
            <a:pPr algn="r" indent="0" marL="0">
              <a:buNone/>
            </a:pPr>
            <a:r>
              <a:rPr lang="en-US" sz="1400" b="1" dirty="0">
                <a:solidFill>
                  <a:srgbClr val="14213D"/>
                </a:solidFill>
                <a:latin typeface="Arial" pitchFamily="34" charset="0"/>
                <a:ea typeface="Arial" pitchFamily="34" charset="-122"/>
                <a:cs typeface="Arial" pitchFamily="34" charset="-120"/>
              </a:rPr>
              <a:t>0.00 pp</a:t>
            </a:r>
            <a:endParaRPr lang="en-US" sz="1400" dirty="0"/>
          </a:p>
        </p:txBody>
      </p:sp>
      <p:sp>
        <p:nvSpPr>
          <p:cNvPr id="26" name="Text 23"/>
          <p:cNvSpPr txBox="1"/>
          <p:nvPr/>
        </p:nvSpPr>
        <p:spPr>
          <a:xfrm>
            <a:off x="548640" y="4425696"/>
            <a:ext cx="2103120" cy="274320"/>
          </a:xfrm>
          <a:prstGeom prst="rect">
            <a:avLst/>
          </a:prstGeom>
          <a:noFill/>
          <a:ln/>
        </p:spPr>
        <p:txBody>
          <a:bodyPr wrap="square" lIns="0" tIns="0" rIns="0" bIns="0" rtlCol="0" anchor="ctr"/>
          <a:lstStyle/>
          <a:p>
            <a:pPr indent="0" marL="0">
              <a:buNone/>
            </a:pPr>
            <a:r>
              <a:rPr lang="en-US" sz="1400" b="1" dirty="0">
                <a:solidFill>
                  <a:srgbClr val="5E3499"/>
                </a:solidFill>
                <a:latin typeface="Arial" pitchFamily="34" charset="0"/>
                <a:ea typeface="Arial" pitchFamily="34" charset="-122"/>
                <a:cs typeface="Arial" pitchFamily="34" charset="-120"/>
              </a:rPr>
              <a:t>M_KD</a:t>
            </a:r>
            <a:endParaRPr lang="en-US" sz="1400" dirty="0"/>
          </a:p>
        </p:txBody>
      </p:sp>
      <p:sp>
        <p:nvSpPr>
          <p:cNvPr id="27" name="Shape 24"/>
          <p:cNvSpPr/>
          <p:nvPr/>
        </p:nvSpPr>
        <p:spPr>
          <a:xfrm>
            <a:off x="2651760" y="4562856"/>
            <a:ext cx="3958920" cy="0"/>
          </a:xfrm>
          <a:prstGeom prst="line">
            <a:avLst/>
          </a:prstGeom>
          <a:noFill/>
          <a:ln w="25400">
            <a:solidFill>
              <a:srgbClr val="7B4FB8"/>
            </a:solidFill>
            <a:prstDash val="solid"/>
          </a:ln>
        </p:spPr>
      </p:sp>
      <p:sp>
        <p:nvSpPr>
          <p:cNvPr id="28" name="Shape 25"/>
          <p:cNvSpPr txBox="1"/>
          <p:nvPr/>
        </p:nvSpPr>
        <p:spPr>
          <a:xfrm>
            <a:off x="6519240" y="4471416"/>
            <a:ext cx="182880" cy="182880"/>
          </a:xfrm>
          <a:prstGeom prst="ellipse">
            <a:avLst/>
          </a:prstGeom>
          <a:solidFill>
            <a:srgbClr val="7B4FB8"/>
          </a:solidFill>
          <a:ln w="12700">
            <a:solidFill>
              <a:srgbClr val="FFFFFF"/>
            </a:solidFill>
            <a:prstDash val="solid"/>
          </a:ln>
        </p:spPr>
      </p:sp>
      <p:sp>
        <p:nvSpPr>
          <p:cNvPr id="29" name="Text 26"/>
          <p:cNvSpPr txBox="1"/>
          <p:nvPr/>
        </p:nvSpPr>
        <p:spPr>
          <a:xfrm>
            <a:off x="8229600" y="4425696"/>
            <a:ext cx="868680" cy="274320"/>
          </a:xfrm>
          <a:prstGeom prst="rect">
            <a:avLst/>
          </a:prstGeom>
          <a:noFill/>
          <a:ln/>
        </p:spPr>
        <p:txBody>
          <a:bodyPr wrap="square" lIns="0" tIns="0" rIns="0" bIns="0" rtlCol="0" anchor="ctr"/>
          <a:lstStyle/>
          <a:p>
            <a:pPr indent="0" marL="0">
              <a:buNone/>
            </a:pPr>
            <a:r>
              <a:rPr lang="en-US" sz="1400" b="1" dirty="0">
                <a:solidFill>
                  <a:srgbClr val="5E3499"/>
                </a:solidFill>
                <a:latin typeface="Arial" pitchFamily="34" charset="0"/>
                <a:ea typeface="Arial" pitchFamily="34" charset="-122"/>
                <a:cs typeface="Arial" pitchFamily="34" charset="-120"/>
              </a:rPr>
              <a:t>60.36%</a:t>
            </a:r>
            <a:endParaRPr lang="en-US" sz="1400" dirty="0"/>
          </a:p>
        </p:txBody>
      </p:sp>
      <p:sp>
        <p:nvSpPr>
          <p:cNvPr id="30" name="Text 27"/>
          <p:cNvSpPr txBox="1"/>
          <p:nvPr/>
        </p:nvSpPr>
        <p:spPr>
          <a:xfrm>
            <a:off x="9326880" y="4425696"/>
            <a:ext cx="2313432" cy="274320"/>
          </a:xfrm>
          <a:prstGeom prst="rect">
            <a:avLst/>
          </a:prstGeom>
          <a:noFill/>
          <a:ln/>
        </p:spPr>
        <p:txBody>
          <a:bodyPr wrap="square" lIns="0" tIns="0" rIns="0" bIns="0" rtlCol="0" anchor="ctr"/>
          <a:lstStyle/>
          <a:p>
            <a:pPr algn="r" indent="0" marL="0">
              <a:buNone/>
            </a:pPr>
            <a:r>
              <a:rPr lang="en-US" sz="1400" b="1" dirty="0">
                <a:solidFill>
                  <a:srgbClr val="14213D"/>
                </a:solidFill>
                <a:latin typeface="Arial" pitchFamily="34" charset="0"/>
                <a:ea typeface="Arial" pitchFamily="34" charset="-122"/>
                <a:cs typeface="Arial" pitchFamily="34" charset="-120"/>
              </a:rPr>
              <a:t>+32.32 pp</a:t>
            </a:r>
            <a:endParaRPr lang="en-US" sz="1400" dirty="0"/>
          </a:p>
        </p:txBody>
      </p:sp>
      <p:sp>
        <p:nvSpPr>
          <p:cNvPr id="31" name="Text 28"/>
          <p:cNvSpPr txBox="1"/>
          <p:nvPr/>
        </p:nvSpPr>
        <p:spPr>
          <a:xfrm>
            <a:off x="548640" y="4736592"/>
            <a:ext cx="2103120" cy="274320"/>
          </a:xfrm>
          <a:prstGeom prst="rect">
            <a:avLst/>
          </a:prstGeom>
          <a:noFill/>
          <a:ln/>
        </p:spPr>
        <p:txBody>
          <a:bodyPr wrap="square" lIns="0" tIns="0" rIns="0" bIns="0" rtlCol="0" anchor="ctr"/>
          <a:lstStyle/>
          <a:p>
            <a:pPr indent="0" marL="0">
              <a:buNone/>
            </a:pPr>
            <a:r>
              <a:rPr lang="en-US" sz="1400" b="1" dirty="0">
                <a:solidFill>
                  <a:srgbClr val="0B7A75"/>
                </a:solidFill>
                <a:latin typeface="Arial" pitchFamily="34" charset="0"/>
                <a:ea typeface="Arial" pitchFamily="34" charset="-122"/>
                <a:cs typeface="Arial" pitchFamily="34" charset="-120"/>
              </a:rPr>
              <a:t>FedEraser Ecal=1</a:t>
            </a:r>
            <a:endParaRPr lang="en-US" sz="1400" dirty="0"/>
          </a:p>
        </p:txBody>
      </p:sp>
      <p:sp>
        <p:nvSpPr>
          <p:cNvPr id="32" name="Shape 29"/>
          <p:cNvSpPr/>
          <p:nvPr/>
        </p:nvSpPr>
        <p:spPr>
          <a:xfrm>
            <a:off x="2651760" y="4873752"/>
            <a:ext cx="4487626" cy="0"/>
          </a:xfrm>
          <a:prstGeom prst="line">
            <a:avLst/>
          </a:prstGeom>
          <a:noFill/>
          <a:ln w="25400">
            <a:solidFill>
              <a:srgbClr val="7CCFC4"/>
            </a:solidFill>
            <a:prstDash val="solid"/>
          </a:ln>
        </p:spPr>
      </p:sp>
      <p:sp>
        <p:nvSpPr>
          <p:cNvPr id="33" name="Shape 30"/>
          <p:cNvSpPr txBox="1"/>
          <p:nvPr/>
        </p:nvSpPr>
        <p:spPr>
          <a:xfrm>
            <a:off x="7047946" y="4782312"/>
            <a:ext cx="182880" cy="182880"/>
          </a:xfrm>
          <a:prstGeom prst="ellipse">
            <a:avLst/>
          </a:prstGeom>
          <a:solidFill>
            <a:srgbClr val="7CCFC4"/>
          </a:solidFill>
          <a:ln w="19050">
            <a:solidFill>
              <a:srgbClr val="0B7A75"/>
            </a:solidFill>
            <a:prstDash val="solid"/>
          </a:ln>
        </p:spPr>
      </p:sp>
      <p:sp>
        <p:nvSpPr>
          <p:cNvPr id="34" name="Text 31"/>
          <p:cNvSpPr txBox="1"/>
          <p:nvPr/>
        </p:nvSpPr>
        <p:spPr>
          <a:xfrm>
            <a:off x="8229600" y="4736592"/>
            <a:ext cx="868680" cy="274320"/>
          </a:xfrm>
          <a:prstGeom prst="rect">
            <a:avLst/>
          </a:prstGeom>
          <a:noFill/>
          <a:ln/>
        </p:spPr>
        <p:txBody>
          <a:bodyPr wrap="square" lIns="0" tIns="0" rIns="0" bIns="0" rtlCol="0" anchor="ctr"/>
          <a:lstStyle/>
          <a:p>
            <a:pPr indent="0" marL="0">
              <a:buNone/>
            </a:pPr>
            <a:r>
              <a:rPr lang="en-US" sz="1400" b="1" dirty="0">
                <a:solidFill>
                  <a:srgbClr val="0B7A75"/>
                </a:solidFill>
                <a:latin typeface="Arial" pitchFamily="34" charset="0"/>
                <a:ea typeface="Arial" pitchFamily="34" charset="-122"/>
                <a:cs typeface="Arial" pitchFamily="34" charset="-120"/>
              </a:rPr>
              <a:t>65.75%</a:t>
            </a:r>
            <a:endParaRPr lang="en-US" sz="1400" dirty="0"/>
          </a:p>
        </p:txBody>
      </p:sp>
      <p:sp>
        <p:nvSpPr>
          <p:cNvPr id="35" name="Text 32"/>
          <p:cNvSpPr txBox="1"/>
          <p:nvPr/>
        </p:nvSpPr>
        <p:spPr>
          <a:xfrm>
            <a:off x="9326880" y="4736592"/>
            <a:ext cx="2313432" cy="274320"/>
          </a:xfrm>
          <a:prstGeom prst="rect">
            <a:avLst/>
          </a:prstGeom>
          <a:noFill/>
          <a:ln/>
        </p:spPr>
        <p:txBody>
          <a:bodyPr wrap="square" lIns="0" tIns="0" rIns="0" bIns="0" rtlCol="0" anchor="ctr"/>
          <a:lstStyle/>
          <a:p>
            <a:pPr algn="r" indent="0" marL="0">
              <a:buNone/>
            </a:pPr>
            <a:r>
              <a:rPr lang="en-US" sz="1400" b="1" dirty="0">
                <a:solidFill>
                  <a:srgbClr val="14213D"/>
                </a:solidFill>
                <a:latin typeface="Arial" pitchFamily="34" charset="0"/>
                <a:ea typeface="Arial" pitchFamily="34" charset="-122"/>
                <a:cs typeface="Arial" pitchFamily="34" charset="-120"/>
              </a:rPr>
              <a:t>+37.71 pp</a:t>
            </a:r>
            <a:endParaRPr lang="en-US" sz="1400" dirty="0"/>
          </a:p>
        </p:txBody>
      </p:sp>
      <p:sp>
        <p:nvSpPr>
          <p:cNvPr id="36" name="Text 33"/>
          <p:cNvSpPr txBox="1"/>
          <p:nvPr/>
        </p:nvSpPr>
        <p:spPr>
          <a:xfrm>
            <a:off x="548640" y="5047488"/>
            <a:ext cx="2103120" cy="274320"/>
          </a:xfrm>
          <a:prstGeom prst="rect">
            <a:avLst/>
          </a:prstGeom>
          <a:noFill/>
          <a:ln/>
        </p:spPr>
        <p:txBody>
          <a:bodyPr wrap="square" lIns="0" tIns="0" rIns="0" bIns="0" rtlCol="0" anchor="ctr"/>
          <a:lstStyle/>
          <a:p>
            <a:pPr indent="0" marL="0">
              <a:buNone/>
            </a:pPr>
            <a:r>
              <a:rPr lang="en-US" sz="1400" b="1" dirty="0">
                <a:solidFill>
                  <a:srgbClr val="0B7A75"/>
                </a:solidFill>
                <a:latin typeface="Arial" pitchFamily="34" charset="0"/>
                <a:ea typeface="Arial" pitchFamily="34" charset="-122"/>
                <a:cs typeface="Arial" pitchFamily="34" charset="-120"/>
              </a:rPr>
              <a:t>FedEraser Ecal=2</a:t>
            </a:r>
            <a:endParaRPr lang="en-US" sz="1400" dirty="0"/>
          </a:p>
        </p:txBody>
      </p:sp>
      <p:sp>
        <p:nvSpPr>
          <p:cNvPr id="37" name="Shape 34"/>
          <p:cNvSpPr/>
          <p:nvPr/>
        </p:nvSpPr>
        <p:spPr>
          <a:xfrm>
            <a:off x="2651760" y="5184648"/>
            <a:ext cx="4795629" cy="0"/>
          </a:xfrm>
          <a:prstGeom prst="line">
            <a:avLst/>
          </a:prstGeom>
          <a:noFill/>
          <a:ln w="25400">
            <a:solidFill>
              <a:srgbClr val="0B7A75"/>
            </a:solidFill>
            <a:prstDash val="solid"/>
          </a:ln>
        </p:spPr>
      </p:sp>
      <p:sp>
        <p:nvSpPr>
          <p:cNvPr id="38" name="Shape 35"/>
          <p:cNvSpPr txBox="1"/>
          <p:nvPr/>
        </p:nvSpPr>
        <p:spPr>
          <a:xfrm>
            <a:off x="7355949" y="5093208"/>
            <a:ext cx="182880" cy="182880"/>
          </a:xfrm>
          <a:prstGeom prst="ellipse">
            <a:avLst/>
          </a:prstGeom>
          <a:solidFill>
            <a:srgbClr val="0B7A75"/>
          </a:solidFill>
          <a:ln w="12700">
            <a:solidFill>
              <a:srgbClr val="FFFFFF"/>
            </a:solidFill>
            <a:prstDash val="solid"/>
          </a:ln>
        </p:spPr>
      </p:sp>
      <p:sp>
        <p:nvSpPr>
          <p:cNvPr id="39" name="Text 36"/>
          <p:cNvSpPr txBox="1"/>
          <p:nvPr/>
        </p:nvSpPr>
        <p:spPr>
          <a:xfrm>
            <a:off x="8229600" y="5047488"/>
            <a:ext cx="868680" cy="274320"/>
          </a:xfrm>
          <a:prstGeom prst="rect">
            <a:avLst/>
          </a:prstGeom>
          <a:noFill/>
          <a:ln/>
        </p:spPr>
        <p:txBody>
          <a:bodyPr wrap="square" lIns="0" tIns="0" rIns="0" bIns="0" rtlCol="0" anchor="ctr"/>
          <a:lstStyle/>
          <a:p>
            <a:pPr indent="0" marL="0">
              <a:buNone/>
            </a:pPr>
            <a:r>
              <a:rPr lang="en-US" sz="1400" b="1" dirty="0">
                <a:solidFill>
                  <a:srgbClr val="0B7A75"/>
                </a:solidFill>
                <a:latin typeface="Arial" pitchFamily="34" charset="0"/>
                <a:ea typeface="Arial" pitchFamily="34" charset="-122"/>
                <a:cs typeface="Arial" pitchFamily="34" charset="-120"/>
              </a:rPr>
              <a:t>68.89%</a:t>
            </a:r>
            <a:endParaRPr lang="en-US" sz="1400" dirty="0"/>
          </a:p>
        </p:txBody>
      </p:sp>
      <p:sp>
        <p:nvSpPr>
          <p:cNvPr id="40" name="Text 37"/>
          <p:cNvSpPr txBox="1"/>
          <p:nvPr/>
        </p:nvSpPr>
        <p:spPr>
          <a:xfrm>
            <a:off x="9326880" y="5047488"/>
            <a:ext cx="2313432" cy="274320"/>
          </a:xfrm>
          <a:prstGeom prst="rect">
            <a:avLst/>
          </a:prstGeom>
          <a:noFill/>
          <a:ln/>
        </p:spPr>
        <p:txBody>
          <a:bodyPr wrap="square" lIns="0" tIns="0" rIns="0" bIns="0" rtlCol="0" anchor="ctr"/>
          <a:lstStyle/>
          <a:p>
            <a:pPr algn="r" indent="0" marL="0">
              <a:buNone/>
            </a:pPr>
            <a:r>
              <a:rPr lang="en-US" sz="1400" b="1" dirty="0">
                <a:solidFill>
                  <a:srgbClr val="14213D"/>
                </a:solidFill>
                <a:latin typeface="Arial" pitchFamily="34" charset="0"/>
                <a:ea typeface="Arial" pitchFamily="34" charset="-122"/>
                <a:cs typeface="Arial" pitchFamily="34" charset="-120"/>
              </a:rPr>
              <a:t>+40.85 pp</a:t>
            </a:r>
            <a:endParaRPr lang="en-US" sz="1400" dirty="0"/>
          </a:p>
        </p:txBody>
      </p:sp>
      <p:sp>
        <p:nvSpPr>
          <p:cNvPr id="41" name="Text 38"/>
          <p:cNvSpPr txBox="1"/>
          <p:nvPr/>
        </p:nvSpPr>
        <p:spPr>
          <a:xfrm>
            <a:off x="548640" y="5358384"/>
            <a:ext cx="2103120" cy="274320"/>
          </a:xfrm>
          <a:prstGeom prst="rect">
            <a:avLst/>
          </a:prstGeom>
          <a:noFill/>
          <a:ln/>
        </p:spPr>
        <p:txBody>
          <a:bodyPr wrap="square" lIns="0" tIns="0" rIns="0" bIns="0" rtlCol="0" anchor="ctr"/>
          <a:lstStyle/>
          <a:p>
            <a:pPr indent="0" marL="0">
              <a:buNone/>
            </a:pPr>
            <a:r>
              <a:rPr lang="en-US" sz="1400" b="1" dirty="0">
                <a:solidFill>
                  <a:srgbClr val="4A4F57"/>
                </a:solidFill>
                <a:latin typeface="Arial" pitchFamily="34" charset="0"/>
                <a:ea typeface="Arial" pitchFamily="34" charset="-122"/>
                <a:cs typeface="Arial" pitchFamily="34" charset="-120"/>
              </a:rPr>
              <a:t>M_CF reference</a:t>
            </a:r>
            <a:endParaRPr lang="en-US" sz="1400" dirty="0"/>
          </a:p>
        </p:txBody>
      </p:sp>
      <p:sp>
        <p:nvSpPr>
          <p:cNvPr id="42" name="Shape 39"/>
          <p:cNvSpPr/>
          <p:nvPr/>
        </p:nvSpPr>
        <p:spPr>
          <a:xfrm>
            <a:off x="2651760" y="5495544"/>
            <a:ext cx="4869197" cy="0"/>
          </a:xfrm>
          <a:prstGeom prst="line">
            <a:avLst/>
          </a:prstGeom>
          <a:noFill/>
          <a:ln w="25400">
            <a:solidFill>
              <a:srgbClr val="4A4F57"/>
            </a:solidFill>
            <a:prstDash val="solid"/>
          </a:ln>
        </p:spPr>
      </p:sp>
      <p:sp>
        <p:nvSpPr>
          <p:cNvPr id="43" name="Shape 40"/>
          <p:cNvSpPr txBox="1"/>
          <p:nvPr/>
        </p:nvSpPr>
        <p:spPr>
          <a:xfrm>
            <a:off x="7429517" y="5404104"/>
            <a:ext cx="182880" cy="182880"/>
          </a:xfrm>
          <a:prstGeom prst="ellipse">
            <a:avLst/>
          </a:prstGeom>
          <a:solidFill>
            <a:srgbClr val="FFFFFF"/>
          </a:solidFill>
          <a:ln w="25400">
            <a:solidFill>
              <a:srgbClr val="4A4F57"/>
            </a:solidFill>
            <a:prstDash val="dash"/>
          </a:ln>
        </p:spPr>
      </p:sp>
      <p:sp>
        <p:nvSpPr>
          <p:cNvPr id="44" name="Text 41"/>
          <p:cNvSpPr txBox="1"/>
          <p:nvPr/>
        </p:nvSpPr>
        <p:spPr>
          <a:xfrm>
            <a:off x="8229600" y="5358384"/>
            <a:ext cx="868680" cy="274320"/>
          </a:xfrm>
          <a:prstGeom prst="rect">
            <a:avLst/>
          </a:prstGeom>
          <a:noFill/>
          <a:ln/>
        </p:spPr>
        <p:txBody>
          <a:bodyPr wrap="square" lIns="0" tIns="0" rIns="0" bIns="0" rtlCol="0" anchor="ctr"/>
          <a:lstStyle/>
          <a:p>
            <a:pPr indent="0" marL="0">
              <a:buNone/>
            </a:pPr>
            <a:r>
              <a:rPr lang="en-US" sz="1400" b="1" dirty="0">
                <a:solidFill>
                  <a:srgbClr val="4A4F57"/>
                </a:solidFill>
                <a:latin typeface="Arial" pitchFamily="34" charset="0"/>
                <a:ea typeface="Arial" pitchFamily="34" charset="-122"/>
                <a:cs typeface="Arial" pitchFamily="34" charset="-120"/>
              </a:rPr>
              <a:t>69.64%</a:t>
            </a:r>
            <a:endParaRPr lang="en-US" sz="1400" dirty="0"/>
          </a:p>
        </p:txBody>
      </p:sp>
      <p:sp>
        <p:nvSpPr>
          <p:cNvPr id="45" name="Text 42"/>
          <p:cNvSpPr txBox="1"/>
          <p:nvPr/>
        </p:nvSpPr>
        <p:spPr>
          <a:xfrm>
            <a:off x="9326880" y="5358384"/>
            <a:ext cx="2313432" cy="274320"/>
          </a:xfrm>
          <a:prstGeom prst="rect">
            <a:avLst/>
          </a:prstGeom>
          <a:noFill/>
          <a:ln/>
        </p:spPr>
        <p:txBody>
          <a:bodyPr wrap="square" lIns="0" tIns="0" rIns="0" bIns="0" rtlCol="0" anchor="ctr"/>
          <a:lstStyle/>
          <a:p>
            <a:pPr algn="r" indent="0" marL="0">
              <a:buNone/>
            </a:pPr>
            <a:r>
              <a:rPr lang="en-US" sz="1400" b="1" dirty="0">
                <a:solidFill>
                  <a:srgbClr val="14213D"/>
                </a:solidFill>
                <a:latin typeface="Arial" pitchFamily="34" charset="0"/>
                <a:ea typeface="Arial" pitchFamily="34" charset="-122"/>
                <a:cs typeface="Arial" pitchFamily="34" charset="-120"/>
              </a:rPr>
              <a:t>+41.60 pp</a:t>
            </a:r>
            <a:endParaRPr lang="en-US" sz="1400" dirty="0"/>
          </a:p>
        </p:txBody>
      </p:sp>
      <p:sp>
        <p:nvSpPr>
          <p:cNvPr id="46" name="Text 43"/>
          <p:cNvSpPr txBox="1"/>
          <p:nvPr/>
        </p:nvSpPr>
        <p:spPr>
          <a:xfrm>
            <a:off x="548640" y="5742432"/>
            <a:ext cx="2103120" cy="274320"/>
          </a:xfrm>
          <a:prstGeom prst="rect">
            <a:avLst/>
          </a:prstGeom>
          <a:noFill/>
          <a:ln/>
        </p:spPr>
        <p:txBody>
          <a:bodyPr wrap="square" lIns="0" tIns="0" rIns="0" bIns="0" rtlCol="0" anchor="ctr"/>
          <a:lstStyle/>
          <a:p>
            <a:pPr indent="0" marL="0">
              <a:buNone/>
            </a:pPr>
            <a:r>
              <a:rPr lang="en-US" sz="1400" b="1" dirty="0">
                <a:solidFill>
                  <a:srgbClr val="B3001B"/>
                </a:solidFill>
                <a:latin typeface="Arial" pitchFamily="34" charset="0"/>
                <a:ea typeface="Arial" pitchFamily="34" charset="-122"/>
                <a:cs typeface="Arial" pitchFamily="34" charset="-120"/>
              </a:rPr>
              <a:t>M_attack (context)</a:t>
            </a:r>
            <a:endParaRPr lang="en-US" sz="1400" dirty="0"/>
          </a:p>
        </p:txBody>
      </p:sp>
      <p:sp>
        <p:nvSpPr>
          <p:cNvPr id="47" name="Shape 44"/>
          <p:cNvSpPr/>
          <p:nvPr/>
        </p:nvSpPr>
        <p:spPr>
          <a:xfrm>
            <a:off x="2651760" y="5879592"/>
            <a:ext cx="4884891" cy="0"/>
          </a:xfrm>
          <a:prstGeom prst="line">
            <a:avLst/>
          </a:prstGeom>
          <a:noFill/>
          <a:ln w="25400">
            <a:solidFill>
              <a:srgbClr val="D62839"/>
            </a:solidFill>
            <a:prstDash val="solid"/>
          </a:ln>
        </p:spPr>
      </p:sp>
      <p:sp>
        <p:nvSpPr>
          <p:cNvPr id="48" name="Shape 45"/>
          <p:cNvSpPr txBox="1"/>
          <p:nvPr/>
        </p:nvSpPr>
        <p:spPr>
          <a:xfrm>
            <a:off x="7445211" y="5788152"/>
            <a:ext cx="182880" cy="182880"/>
          </a:xfrm>
          <a:prstGeom prst="ellipse">
            <a:avLst/>
          </a:prstGeom>
          <a:solidFill>
            <a:srgbClr val="D62839"/>
          </a:solidFill>
          <a:ln w="12700">
            <a:solidFill>
              <a:srgbClr val="FFFFFF"/>
            </a:solidFill>
            <a:prstDash val="solid"/>
          </a:ln>
        </p:spPr>
      </p:sp>
      <p:sp>
        <p:nvSpPr>
          <p:cNvPr id="49" name="Text 46"/>
          <p:cNvSpPr txBox="1"/>
          <p:nvPr/>
        </p:nvSpPr>
        <p:spPr>
          <a:xfrm>
            <a:off x="8229600" y="5742432"/>
            <a:ext cx="868680" cy="274320"/>
          </a:xfrm>
          <a:prstGeom prst="rect">
            <a:avLst/>
          </a:prstGeom>
          <a:noFill/>
          <a:ln/>
        </p:spPr>
        <p:txBody>
          <a:bodyPr wrap="square" lIns="0" tIns="0" rIns="0" bIns="0" rtlCol="0" anchor="ctr"/>
          <a:lstStyle/>
          <a:p>
            <a:pPr indent="0" marL="0">
              <a:buNone/>
            </a:pPr>
            <a:r>
              <a:rPr lang="en-US" sz="1400" b="1" dirty="0">
                <a:solidFill>
                  <a:srgbClr val="B3001B"/>
                </a:solidFill>
                <a:latin typeface="Arial" pitchFamily="34" charset="0"/>
                <a:ea typeface="Arial" pitchFamily="34" charset="-122"/>
                <a:cs typeface="Arial" pitchFamily="34" charset="-120"/>
              </a:rPr>
              <a:t>69.80%</a:t>
            </a:r>
            <a:endParaRPr lang="en-US" sz="1400" dirty="0"/>
          </a:p>
        </p:txBody>
      </p:sp>
      <p:sp>
        <p:nvSpPr>
          <p:cNvPr id="50" name="Text 47"/>
          <p:cNvSpPr txBox="1"/>
          <p:nvPr/>
        </p:nvSpPr>
        <p:spPr>
          <a:xfrm>
            <a:off x="9326880" y="5742432"/>
            <a:ext cx="2313432" cy="274320"/>
          </a:xfrm>
          <a:prstGeom prst="rect">
            <a:avLst/>
          </a:prstGeom>
          <a:noFill/>
          <a:ln/>
        </p:spPr>
        <p:txBody>
          <a:bodyPr wrap="square" lIns="0" tIns="0" rIns="0" bIns="0" rtlCol="0" anchor="ctr"/>
          <a:lstStyle/>
          <a:p>
            <a:pPr algn="r" indent="0" marL="0">
              <a:buNone/>
            </a:pPr>
            <a:r>
              <a:rPr lang="en-US" sz="1400" b="1" dirty="0">
                <a:solidFill>
                  <a:srgbClr val="B3001B"/>
                </a:solidFill>
                <a:latin typeface="Arial" pitchFamily="34" charset="0"/>
                <a:ea typeface="Arial" pitchFamily="34" charset="-122"/>
                <a:cs typeface="Arial" pitchFamily="34" charset="-120"/>
              </a:rPr>
              <a:t>attacked</a:t>
            </a:r>
            <a:endParaRPr lang="en-US" sz="140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A8394"/>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1672" cy="731520"/>
          </a:xfrm>
          <a:prstGeom prst="rect">
            <a:avLst/>
          </a:prstGeom>
          <a:noFill/>
          <a:ln/>
        </p:spPr>
        <p:txBody>
          <a:bodyPr wrap="square" lIns="0" tIns="0" rIns="0" bIns="0" rtlCol="0" anchor="ctr"/>
          <a:lstStyle/>
          <a:p>
            <a:pPr algn="l" indent="0" marL="0">
              <a:buNone/>
            </a:pPr>
            <a:r>
              <a:rPr lang="en-US" sz="3000" b="1" dirty="0">
                <a:solidFill>
                  <a:srgbClr val="14213D"/>
                </a:solidFill>
                <a:latin typeface="Arial" pitchFamily="34" charset="0"/>
                <a:ea typeface="Arial" pitchFamily="34" charset="-122"/>
                <a:cs typeface="Arial" pitchFamily="34" charset="-120"/>
              </a:rPr>
              <a:t>How similar are recovered models to M_CF?</a:t>
            </a:r>
            <a:endParaRPr lang="en-US" sz="3000" dirty="0"/>
          </a:p>
        </p:txBody>
      </p:sp>
      <p:sp>
        <p:nvSpPr>
          <p:cNvPr id="3" name="Text 1"/>
          <p:cNvSpPr txBox="1"/>
          <p:nvPr/>
        </p:nvSpPr>
        <p:spPr>
          <a:xfrm>
            <a:off x="548640" y="1188720"/>
            <a:ext cx="5303520" cy="320040"/>
          </a:xfrm>
          <a:prstGeom prst="rect">
            <a:avLst/>
          </a:prstGeom>
          <a:noFill/>
          <a:ln/>
        </p:spPr>
        <p:txBody>
          <a:bodyPr wrap="square" lIns="0" tIns="0" rIns="0" bIns="0" rtlCol="0" anchor="t"/>
          <a:lstStyle/>
          <a:p>
            <a:pPr indent="0" marL="0">
              <a:buNone/>
            </a:pPr>
            <a:r>
              <a:rPr lang="en-US" sz="1800" b="1" dirty="0">
                <a:solidFill>
                  <a:srgbClr val="14213D"/>
                </a:solidFill>
                <a:latin typeface="Arial" pitchFamily="34" charset="0"/>
                <a:ea typeface="Arial" pitchFamily="34" charset="-122"/>
                <a:cs typeface="Arial" pitchFamily="34" charset="-120"/>
              </a:rPr>
              <a:t>IID</a:t>
            </a:r>
            <a:endParaRPr lang="en-US" sz="1800" dirty="0"/>
          </a:p>
        </p:txBody>
      </p:sp>
      <p:sp>
        <p:nvSpPr>
          <p:cNvPr id="4" name="Text 2"/>
          <p:cNvSpPr txBox="1"/>
          <p:nvPr/>
        </p:nvSpPr>
        <p:spPr>
          <a:xfrm>
            <a:off x="6263640" y="1188720"/>
            <a:ext cx="5394960" cy="320040"/>
          </a:xfrm>
          <a:prstGeom prst="rect">
            <a:avLst/>
          </a:prstGeom>
          <a:noFill/>
          <a:ln/>
        </p:spPr>
        <p:txBody>
          <a:bodyPr wrap="square" lIns="0" tIns="0" rIns="0" bIns="0" rtlCol="0" anchor="t"/>
          <a:lstStyle/>
          <a:p>
            <a:pPr indent="0" marL="0">
              <a:buNone/>
            </a:pPr>
            <a:r>
              <a:rPr lang="en-US" sz="1800" b="1" dirty="0">
                <a:solidFill>
                  <a:srgbClr val="14213D"/>
                </a:solidFill>
                <a:latin typeface="Arial" pitchFamily="34" charset="0"/>
                <a:ea typeface="Arial" pitchFamily="34" charset="-122"/>
                <a:cs typeface="Arial" pitchFamily="34" charset="-120"/>
              </a:rPr>
              <a:t>Non-IID · one saved partition / seed</a:t>
            </a:r>
            <a:endParaRPr lang="en-US" sz="1800" dirty="0"/>
          </a:p>
        </p:txBody>
      </p:sp>
      <p:sp>
        <p:nvSpPr>
          <p:cNvPr id="5" name="Text 3"/>
          <p:cNvSpPr txBox="1"/>
          <p:nvPr/>
        </p:nvSpPr>
        <p:spPr>
          <a:xfrm>
            <a:off x="548640" y="5257800"/>
            <a:ext cx="11094415" cy="868680"/>
          </a:xfrm>
          <a:prstGeom prst="roundRect">
            <a:avLst>
              <a:gd name="adj" fmla="val 8421"/>
            </a:avLst>
          </a:prstGeom>
          <a:solidFill>
            <a:srgbClr val="F4F6F9"/>
          </a:solidFill>
          <a:ln/>
        </p:spPr>
        <p:txBody>
          <a:bodyPr wrap="square" lIns="177800" tIns="177800" rIns="177800" bIns="177800" rtlCol="0" anchor="ctr"/>
          <a:lstStyle/>
          <a:p>
            <a:pPr algn="l" indent="0" marL="0">
              <a:buNone/>
            </a:pPr>
            <a:r>
              <a:rPr lang="en-US" sz="1400" b="1" dirty="0">
                <a:solidFill>
                  <a:srgbClr val="14213D"/>
                </a:solidFill>
                <a:latin typeface="Arial" pitchFamily="34" charset="0"/>
                <a:ea typeface="Arial" pitchFamily="34" charset="-122"/>
                <a:cs typeface="Arial" pitchFamily="34" charset="-120"/>
              </a:rPr>
              <a:t>Counterfactual agreement = share of examples where the model's argmax prediction matches M_CF. </a:t>
            </a:r>
            <a:pPr algn="l" indent="0" marL="0">
              <a:buNone/>
            </a:pPr>
            <a:r>
              <a:rPr lang="en-US" sz="1400" dirty="0">
                <a:solidFill>
                  <a:srgbClr val="3A4560"/>
                </a:solidFill>
                <a:latin typeface="Arial" pitchFamily="34" charset="0"/>
                <a:ea typeface="Arial" pitchFamily="34" charset="-122"/>
                <a:cs typeface="Arial" pitchFamily="34" charset="-120"/>
              </a:rPr>
              <a:t>It is prediction similarity, not accuracy, and not proof that all training influence was erased. Ecal=2 improves agreement over Ecal=1 for both populations in both partitions. M_CF is the reference, so it has no self-agreement bar.</a:t>
            </a:r>
            <a:endParaRPr lang="en-US" sz="140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A8394"/>
                </a:solidFill>
                <a:latin typeface="Arial"/>
                <a:ea typeface="Arial"/>
                <a:cs typeface="Arial"/>
              </a:defRPr>
            </a:lvl1pPr>
          </a:lstStyle>
          <a:p>
            <a:pPr algn="r"/>
            <a:fld id="{F7021451-1387-4CA6-816F-3879F97B5CBC}" type="slidenum">
              <a:rPr b="0" lang="en-US"/>
              <a:t>17</a:t>
            </a:fld>
            <a:endParaRPr lang="en-US"/>
          </a:p>
        </p:txBody>
      </p:sp>
      <p:graphicFrame>
        <p:nvGraphicFramePr>
          <p:cNvPr id="26" name="Chart: Clean test examples vs Triggered examples"/>
          <p:cNvGraphicFramePr>
            <a:graphicFrameLocks noGrp="1"/>
          </p:cNvGraphicFramePr>
          <p:nvPr/>
        </p:nvGraphicFramePr>
        <p:xfrm>
          <a:off x="457200" y="1554480"/>
          <a:ext cx="5486400" cy="3566160"/>
        </p:xfrm>
        <a:graphic>
          <a:graphicData uri="http://schemas.openxmlformats.org/drawingml/2006/chart">
            <c:chart xmlns:c="http://schemas.openxmlformats.org/drawingml/2006/chart" r:id="rId3"/>
          </a:graphicData>
        </a:graphic>
      </p:graphicFrame>
      <p:graphicFrame>
        <p:nvGraphicFramePr>
          <p:cNvPr id="27" name="Chart: Clean test examples vs Triggered examples"/>
          <p:cNvGraphicFramePr>
            <a:graphicFrameLocks noGrp="1"/>
          </p:cNvGraphicFramePr>
          <p:nvPr/>
        </p:nvGraphicFramePr>
        <p:xfrm>
          <a:off x="6172200" y="1554480"/>
          <a:ext cx="5486400" cy="3566160"/>
        </p:xfrm>
        <a:graphic>
          <a:graphicData uri="http://schemas.openxmlformats.org/drawingml/2006/chart">
            <c:chart xmlns:c="http://schemas.openxmlformats.org/drawingml/2006/chart" r:id="rId4"/>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1672" cy="731520"/>
          </a:xfrm>
          <a:prstGeom prst="rect">
            <a:avLst/>
          </a:prstGeom>
          <a:noFill/>
          <a:ln/>
        </p:spPr>
        <p:txBody>
          <a:bodyPr wrap="square" lIns="0" tIns="0" rIns="0" bIns="0" rtlCol="0" anchor="ctr"/>
          <a:lstStyle/>
          <a:p>
            <a:pPr algn="l" indent="0" marL="0">
              <a:buNone/>
            </a:pPr>
            <a:r>
              <a:rPr lang="en-US" sz="3000" b="1" dirty="0">
                <a:solidFill>
                  <a:srgbClr val="14213D"/>
                </a:solidFill>
                <a:latin typeface="Arial" pitchFamily="34" charset="0"/>
                <a:ea typeface="Arial" pitchFamily="34" charset="-122"/>
                <a:cs typeface="Arial" pitchFamily="34" charset="-120"/>
              </a:rPr>
              <a:t>Runtime: compare like with like</a:t>
            </a:r>
            <a:endParaRPr lang="en-US" sz="3000" dirty="0"/>
          </a:p>
        </p:txBody>
      </p:sp>
      <p:sp>
        <p:nvSpPr>
          <p:cNvPr id="3" name="Text 1"/>
          <p:cNvSpPr txBox="1"/>
          <p:nvPr/>
        </p:nvSpPr>
        <p:spPr>
          <a:xfrm>
            <a:off x="548640" y="1234440"/>
            <a:ext cx="3108960" cy="804672"/>
          </a:xfrm>
          <a:prstGeom prst="roundRect">
            <a:avLst>
              <a:gd name="adj" fmla="val 9091"/>
            </a:avLst>
          </a:prstGeom>
          <a:solidFill>
            <a:srgbClr val="ECEDEF"/>
          </a:solidFill>
          <a:ln w="22225">
            <a:solidFill>
              <a:srgbClr val="4A4F57"/>
            </a:solidFill>
            <a:prstDash val="dash"/>
          </a:ln>
        </p:spPr>
        <p:txBody>
          <a:bodyPr wrap="square" lIns="127000" tIns="127000" rIns="127000" bIns="127000" rtlCol="0" anchor="ctr"/>
          <a:lstStyle/>
          <a:p>
            <a:pPr algn="l" indent="0" marL="0">
              <a:buNone/>
            </a:pPr>
            <a:r>
              <a:rPr lang="en-US" sz="1500" b="1" dirty="0">
                <a:solidFill>
                  <a:srgbClr val="4A4F57"/>
                </a:solidFill>
                <a:latin typeface="Arial" pitchFamily="34" charset="0"/>
                <a:ea typeface="Arial" pitchFamily="34" charset="-122"/>
                <a:cs typeface="Arial" pitchFamily="34" charset="-120"/>
              </a:rPr>
              <a:t>Historical M_CF wall timer</a:t>
            </a:r>
            <a:endParaRPr lang="en-US" sz="1500" dirty="0"/>
          </a:p>
        </p:txBody>
      </p:sp>
      <p:sp>
        <p:nvSpPr>
          <p:cNvPr id="4" name="Text 2"/>
          <p:cNvSpPr txBox="1"/>
          <p:nvPr/>
        </p:nvSpPr>
        <p:spPr>
          <a:xfrm>
            <a:off x="3749040" y="1234440"/>
            <a:ext cx="7891272" cy="804672"/>
          </a:xfrm>
          <a:prstGeom prst="roundRect">
            <a:avLst>
              <a:gd name="adj" fmla="val 9091"/>
            </a:avLst>
          </a:prstGeom>
          <a:solidFill>
            <a:srgbClr val="FFFFFF"/>
          </a:solidFill>
          <a:ln w="15875">
            <a:solidFill>
              <a:srgbClr val="D5DAE3"/>
            </a:solidFill>
            <a:prstDash val="solid"/>
          </a:ln>
        </p:spPr>
        <p:txBody>
          <a:bodyPr wrap="square" lIns="127000" tIns="127000" rIns="127000" bIns="127000" rtlCol="0" anchor="ctr"/>
          <a:lstStyle/>
          <a:p>
            <a:pPr algn="l" indent="0" marL="0">
              <a:buNone/>
            </a:pPr>
            <a:r>
              <a:rPr lang="en-US" sz="1400" dirty="0">
                <a:solidFill>
                  <a:srgbClr val="3A4560"/>
                </a:solidFill>
                <a:latin typeface="Arial" pitchFamily="34" charset="0"/>
                <a:ea typeface="Arial" pitchFamily="34" charset="-122"/>
                <a:cs typeface="Arial" pitchFamily="34" charset="-120"/>
              </a:rPr>
              <a:t>Includes repeated in-loop evaluation (about 28,000 evaluation examples across three passes per round), final evaluation, and potentially saving, depending on the timer boundary.</a:t>
            </a:r>
            <a:endParaRPr lang="en-US" sz="1400" dirty="0"/>
          </a:p>
        </p:txBody>
      </p:sp>
      <p:sp>
        <p:nvSpPr>
          <p:cNvPr id="5" name="Text 3"/>
          <p:cNvSpPr txBox="1"/>
          <p:nvPr/>
        </p:nvSpPr>
        <p:spPr>
          <a:xfrm>
            <a:off x="548640" y="2148840"/>
            <a:ext cx="3108960" cy="804672"/>
          </a:xfrm>
          <a:prstGeom prst="roundRect">
            <a:avLst>
              <a:gd name="adj" fmla="val 9091"/>
            </a:avLst>
          </a:prstGeom>
          <a:solidFill>
            <a:srgbClr val="E4F4F2"/>
          </a:solidFill>
          <a:ln w="22225">
            <a:solidFill>
              <a:srgbClr val="0B7A75"/>
            </a:solidFill>
            <a:prstDash val="solid"/>
          </a:ln>
        </p:spPr>
        <p:txBody>
          <a:bodyPr wrap="square" lIns="127000" tIns="127000" rIns="127000" bIns="127000" rtlCol="0" anchor="ctr"/>
          <a:lstStyle/>
          <a:p>
            <a:pPr algn="l" indent="0" marL="0">
              <a:buNone/>
            </a:pPr>
            <a:r>
              <a:rPr lang="en-US" sz="1500" b="1" dirty="0">
                <a:solidFill>
                  <a:srgbClr val="0B7A75"/>
                </a:solidFill>
                <a:latin typeface="Arial" pitchFamily="34" charset="0"/>
                <a:ea typeface="Arial" pitchFamily="34" charset="-122"/>
                <a:cs typeface="Arial" pitchFamily="34" charset="-120"/>
              </a:rPr>
              <a:t>FedEraser reconstruction loop</a:t>
            </a:r>
            <a:endParaRPr lang="en-US" sz="1500" dirty="0"/>
          </a:p>
        </p:txBody>
      </p:sp>
      <p:sp>
        <p:nvSpPr>
          <p:cNvPr id="6" name="Text 4"/>
          <p:cNvSpPr txBox="1"/>
          <p:nvPr/>
        </p:nvSpPr>
        <p:spPr>
          <a:xfrm>
            <a:off x="3749040" y="2148840"/>
            <a:ext cx="7891272" cy="804672"/>
          </a:xfrm>
          <a:prstGeom prst="roundRect">
            <a:avLst>
              <a:gd name="adj" fmla="val 9091"/>
            </a:avLst>
          </a:prstGeom>
          <a:solidFill>
            <a:srgbClr val="FFFFFF"/>
          </a:solidFill>
          <a:ln w="15875">
            <a:solidFill>
              <a:srgbClr val="D5DAE3"/>
            </a:solidFill>
            <a:prstDash val="solid"/>
          </a:ln>
        </p:spPr>
        <p:txBody>
          <a:bodyPr wrap="square" lIns="127000" tIns="127000" rIns="127000" bIns="127000" rtlCol="0" anchor="ctr"/>
          <a:lstStyle/>
          <a:p>
            <a:pPr algn="l" indent="0" marL="0">
              <a:buNone/>
            </a:pPr>
            <a:r>
              <a:rPr lang="en-US" sz="1400" dirty="0">
                <a:solidFill>
                  <a:srgbClr val="3A4560"/>
                </a:solidFill>
                <a:latin typeface="Arial" pitchFamily="34" charset="0"/>
                <a:ea typeface="Arial" pitchFamily="34" charset="-122"/>
                <a:cs typeface="Arial" pitchFamily="34" charset="-120"/>
              </a:rPr>
              <a:t>Reconstruction-loop time including saved-delta file reads. Not an end-to-end training time.</a:t>
            </a:r>
            <a:endParaRPr lang="en-US" sz="1400" dirty="0"/>
          </a:p>
        </p:txBody>
      </p:sp>
      <p:sp>
        <p:nvSpPr>
          <p:cNvPr id="7" name="Text 5"/>
          <p:cNvSpPr txBox="1"/>
          <p:nvPr/>
        </p:nvSpPr>
        <p:spPr>
          <a:xfrm>
            <a:off x="548640" y="3063240"/>
            <a:ext cx="3108960" cy="804672"/>
          </a:xfrm>
          <a:prstGeom prst="roundRect">
            <a:avLst>
              <a:gd name="adj" fmla="val 9091"/>
            </a:avLst>
          </a:prstGeom>
          <a:solidFill>
            <a:srgbClr val="F4F6F9"/>
          </a:solidFill>
          <a:ln w="22225">
            <a:solidFill>
              <a:srgbClr val="14213D"/>
            </a:solidFill>
            <a:prstDash val="solid"/>
          </a:ln>
        </p:spPr>
        <p:txBody>
          <a:bodyPr wrap="square" lIns="127000" tIns="127000" rIns="127000" bIns="127000" rtlCol="0" anchor="ctr"/>
          <a:lstStyle/>
          <a:p>
            <a:pPr algn="l" indent="0" marL="0">
              <a:buNone/>
            </a:pPr>
            <a:r>
              <a:rPr lang="en-US" sz="1500" b="1" dirty="0">
                <a:solidFill>
                  <a:srgbClr val="14213D"/>
                </a:solidFill>
                <a:latin typeface="Arial" pitchFamily="34" charset="0"/>
                <a:ea typeface="Arial" pitchFamily="34" charset="-122"/>
                <a:cs typeface="Arial" pitchFamily="34" charset="-120"/>
              </a:rPr>
              <a:t>Controlled local-compute microbenchmark</a:t>
            </a:r>
            <a:endParaRPr lang="en-US" sz="1500" dirty="0"/>
          </a:p>
        </p:txBody>
      </p:sp>
      <p:sp>
        <p:nvSpPr>
          <p:cNvPr id="8" name="Text 6"/>
          <p:cNvSpPr txBox="1"/>
          <p:nvPr/>
        </p:nvSpPr>
        <p:spPr>
          <a:xfrm>
            <a:off x="3749040" y="3063240"/>
            <a:ext cx="7891272" cy="804672"/>
          </a:xfrm>
          <a:prstGeom prst="roundRect">
            <a:avLst>
              <a:gd name="adj" fmla="val 9091"/>
            </a:avLst>
          </a:prstGeom>
          <a:solidFill>
            <a:srgbClr val="FFFFFF"/>
          </a:solidFill>
          <a:ln w="15875">
            <a:solidFill>
              <a:srgbClr val="D5DAE3"/>
            </a:solidFill>
            <a:prstDash val="solid"/>
          </a:ln>
        </p:spPr>
        <p:txBody>
          <a:bodyPr wrap="square" lIns="127000" tIns="127000" rIns="127000" bIns="127000" rtlCol="0" anchor="ctr"/>
          <a:lstStyle/>
          <a:p>
            <a:pPr algn="l" indent="0" marL="0">
              <a:buNone/>
            </a:pPr>
            <a:r>
              <a:rPr lang="en-US" sz="1400" dirty="0">
                <a:solidFill>
                  <a:srgbClr val="3A4560"/>
                </a:solidFill>
                <a:latin typeface="Arial" pitchFamily="34" charset="0"/>
                <a:ea typeface="Arial" pitchFamily="34" charset="-122"/>
                <a:cs typeface="Arial" pitchFamily="34" charset="-120"/>
              </a:rPr>
              <a:t>3 rounds, 9 retained clients, 2 local epochs. Excludes global aggregation/update and evaluation.</a:t>
            </a:r>
            <a:endParaRPr lang="en-US" sz="1400" dirty="0"/>
          </a:p>
        </p:txBody>
      </p:sp>
      <p:sp>
        <p:nvSpPr>
          <p:cNvPr id="9" name="Text 7"/>
          <p:cNvSpPr txBox="1"/>
          <p:nvPr/>
        </p:nvSpPr>
        <p:spPr>
          <a:xfrm>
            <a:off x="548640" y="4114800"/>
            <a:ext cx="7315200" cy="320040"/>
          </a:xfrm>
          <a:prstGeom prst="rect">
            <a:avLst/>
          </a:prstGeom>
          <a:noFill/>
          <a:ln/>
        </p:spPr>
        <p:txBody>
          <a:bodyPr wrap="square" lIns="0" tIns="0" rIns="0" bIns="0" rtlCol="0" anchor="t"/>
          <a:lstStyle/>
          <a:p>
            <a:pPr indent="0" marL="0">
              <a:buNone/>
            </a:pPr>
            <a:r>
              <a:rPr lang="en-US" sz="1800" b="1" dirty="0">
                <a:solidFill>
                  <a:srgbClr val="14213D"/>
                </a:solidFill>
                <a:latin typeface="Arial" pitchFamily="34" charset="0"/>
                <a:ea typeface="Arial" pitchFamily="34" charset="-122"/>
                <a:cs typeface="Arial" pitchFamily="34" charset="-120"/>
              </a:rPr>
              <a:t>Controlled microbenchmark: per-client local compute only</a:t>
            </a:r>
            <a:endParaRPr lang="en-US" sz="1800" dirty="0"/>
          </a:p>
        </p:txBody>
      </p:sp>
      <p:sp>
        <p:nvSpPr>
          <p:cNvPr id="10" name="Text 8"/>
          <p:cNvSpPr txBox="1"/>
          <p:nvPr/>
        </p:nvSpPr>
        <p:spPr>
          <a:xfrm>
            <a:off x="548640" y="4526280"/>
            <a:ext cx="4114800" cy="1234440"/>
          </a:xfrm>
          <a:prstGeom prst="roundRect">
            <a:avLst>
              <a:gd name="adj" fmla="val 5926"/>
            </a:avLst>
          </a:prstGeom>
          <a:solidFill>
            <a:srgbClr val="ECEDEF"/>
          </a:solidFill>
          <a:ln w="15875">
            <a:solidFill>
              <a:srgbClr val="4A4F57"/>
            </a:solidFill>
            <a:prstDash val="dash"/>
          </a:ln>
        </p:spPr>
        <p:txBody>
          <a:bodyPr wrap="square" lIns="152400" tIns="152400" rIns="152400" bIns="152400" rtlCol="0" anchor="ctr"/>
          <a:lstStyle/>
          <a:p>
            <a:pPr algn="l" indent="0" marL="0">
              <a:buNone/>
            </a:pPr>
            <a:r>
              <a:rPr lang="en-US" sz="2800" b="1" dirty="0">
                <a:solidFill>
                  <a:srgbClr val="14213D"/>
                </a:solidFill>
                <a:latin typeface="Arial" pitchFamily="34" charset="0"/>
                <a:ea typeface="Arial" pitchFamily="34" charset="-122"/>
                <a:cs typeface="Arial" pitchFamily="34" charset="-120"/>
              </a:rPr>
              <a:t>75.079 s</a:t>
            </a:r>
            <a:endParaRPr lang="en-US" sz="1600" dirty="0"/>
          </a:p>
          <a:p>
            <a:pPr algn="l" indent="0" marL="0">
              <a:buNone/>
            </a:pPr>
            <a:r>
              <a:rPr lang="en-US" sz="1400" dirty="0">
                <a:solidFill>
                  <a:srgbClr val="3A4560"/>
                </a:solidFill>
                <a:latin typeface="Arial" pitchFamily="34" charset="0"/>
                <a:ea typeface="Arial" pitchFamily="34" charset="-122"/>
                <a:cs typeface="Arial" pitchFamily="34" charset="-120"/>
              </a:rPr>
              <a:t>M_CF-style local training</a:t>
            </a:r>
            <a:endParaRPr lang="en-US" sz="1600" dirty="0"/>
          </a:p>
        </p:txBody>
      </p:sp>
      <p:sp>
        <p:nvSpPr>
          <p:cNvPr id="11" name="Text 9"/>
          <p:cNvSpPr txBox="1"/>
          <p:nvPr/>
        </p:nvSpPr>
        <p:spPr>
          <a:xfrm>
            <a:off x="4846320" y="4526280"/>
            <a:ext cx="4114800" cy="1234440"/>
          </a:xfrm>
          <a:prstGeom prst="roundRect">
            <a:avLst>
              <a:gd name="adj" fmla="val 5926"/>
            </a:avLst>
          </a:prstGeom>
          <a:solidFill>
            <a:srgbClr val="E4F4F2"/>
          </a:solidFill>
          <a:ln w="15875">
            <a:solidFill>
              <a:srgbClr val="0B7A75"/>
            </a:solidFill>
            <a:prstDash val="solid"/>
          </a:ln>
        </p:spPr>
        <p:txBody>
          <a:bodyPr wrap="square" lIns="152400" tIns="152400" rIns="152400" bIns="152400" rtlCol="0" anchor="ctr"/>
          <a:lstStyle/>
          <a:p>
            <a:pPr algn="l" indent="0" marL="0">
              <a:buNone/>
            </a:pPr>
            <a:r>
              <a:rPr lang="en-US" sz="2800" b="1" dirty="0">
                <a:solidFill>
                  <a:srgbClr val="0B7A75"/>
                </a:solidFill>
                <a:latin typeface="Arial" pitchFamily="34" charset="0"/>
                <a:ea typeface="Arial" pitchFamily="34" charset="-122"/>
                <a:cs typeface="Arial" pitchFamily="34" charset="-120"/>
              </a:rPr>
              <a:t>75.821 s</a:t>
            </a:r>
            <a:endParaRPr lang="en-US" sz="1600" dirty="0"/>
          </a:p>
          <a:p>
            <a:pPr algn="l" indent="0" marL="0">
              <a:buNone/>
            </a:pPr>
            <a:r>
              <a:rPr lang="en-US" sz="1300" dirty="0">
                <a:solidFill>
                  <a:srgbClr val="3A4560"/>
                </a:solidFill>
                <a:latin typeface="Arial" pitchFamily="34" charset="0"/>
                <a:ea typeface="Arial" pitchFamily="34" charset="-122"/>
                <a:cs typeface="Arial" pitchFamily="34" charset="-120"/>
              </a:rPr>
              <a:t>FedEraser local training + calibration + saved-delta reads (0.207 s file I/O; ~75.61 s computation)</a:t>
            </a:r>
            <a:endParaRPr lang="en-US" sz="1600" dirty="0"/>
          </a:p>
        </p:txBody>
      </p:sp>
      <p:sp>
        <p:nvSpPr>
          <p:cNvPr id="12" name="Text 10"/>
          <p:cNvSpPr txBox="1"/>
          <p:nvPr/>
        </p:nvSpPr>
        <p:spPr>
          <a:xfrm>
            <a:off x="9144000" y="4526280"/>
            <a:ext cx="2496312" cy="1234440"/>
          </a:xfrm>
          <a:prstGeom prst="roundRect">
            <a:avLst>
              <a:gd name="adj" fmla="val 5926"/>
            </a:avLst>
          </a:prstGeom>
          <a:solidFill>
            <a:srgbClr val="F4F6F9"/>
          </a:solidFill>
          <a:ln/>
        </p:spPr>
        <p:txBody>
          <a:bodyPr wrap="square" lIns="152400" tIns="152400" rIns="152400" bIns="152400" rtlCol="0" anchor="ctr"/>
          <a:lstStyle/>
          <a:p>
            <a:pPr algn="l" indent="0" marL="0">
              <a:buNone/>
            </a:pPr>
            <a:r>
              <a:rPr lang="en-US" sz="1300" b="1" dirty="0">
                <a:solidFill>
                  <a:srgbClr val="6B7280"/>
                </a:solidFill>
                <a:latin typeface="Arial" pitchFamily="34" charset="0"/>
                <a:ea typeface="Arial" pitchFamily="34" charset="-122"/>
                <a:cs typeface="Arial" pitchFamily="34" charset="-120"/>
              </a:rPr>
              <a:t>Per client-epoch</a:t>
            </a:r>
            <a:endParaRPr lang="en-US" sz="1600" dirty="0"/>
          </a:p>
          <a:p>
            <a:pPr algn="l" indent="0" marL="0">
              <a:buNone/>
            </a:pPr>
            <a:r>
              <a:rPr lang="en-US" sz="1500" b="1" dirty="0">
                <a:solidFill>
                  <a:srgbClr val="14213D"/>
                </a:solidFill>
                <a:latin typeface="Arial" pitchFamily="34" charset="0"/>
                <a:ea typeface="Arial" pitchFamily="34" charset="-122"/>
                <a:cs typeface="Arial" pitchFamily="34" charset="-120"/>
              </a:rPr>
              <a:t>1.39036 s vs 1.40409 s</a:t>
            </a:r>
            <a:endParaRPr lang="en-US" sz="1600" dirty="0"/>
          </a:p>
          <a:p>
            <a:pPr algn="l" indent="0" marL="0">
              <a:buNone/>
            </a:pPr>
            <a:r>
              <a:rPr lang="en-US" sz="1200" dirty="0">
                <a:solidFill>
                  <a:srgbClr val="6B7280"/>
                </a:solidFill>
                <a:latin typeface="Arial" pitchFamily="34" charset="0"/>
                <a:ea typeface="Arial" pitchFamily="34" charset="-122"/>
                <a:cs typeface="Arial" pitchFamily="34" charset="-120"/>
              </a:rPr>
              <a:t>M_CF-style vs FedEraser</a:t>
            </a:r>
            <a:endParaRPr lang="en-US" sz="1600" dirty="0"/>
          </a:p>
        </p:txBody>
      </p:sp>
      <p:sp>
        <p:nvSpPr>
          <p:cNvPr id="13" name="Text 11"/>
          <p:cNvSpPr txBox="1"/>
          <p:nvPr/>
        </p:nvSpPr>
        <p:spPr>
          <a:xfrm>
            <a:off x="548640" y="5897880"/>
            <a:ext cx="11094415" cy="457200"/>
          </a:xfrm>
          <a:prstGeom prst="roundRect">
            <a:avLst>
              <a:gd name="adj" fmla="val 16000"/>
            </a:avLst>
          </a:prstGeom>
          <a:solidFill>
            <a:srgbClr val="FDF1DF"/>
          </a:solidFill>
          <a:ln w="15875">
            <a:solidFill>
              <a:srgbClr val="E8890C"/>
            </a:solidFill>
            <a:prstDash val="solid"/>
          </a:ln>
        </p:spPr>
        <p:txBody>
          <a:bodyPr wrap="square" lIns="101600" tIns="101600" rIns="101600" bIns="101600" rtlCol="0" anchor="ctr"/>
          <a:lstStyle/>
          <a:p>
            <a:pPr algn="ctr" indent="0" marL="0">
              <a:buNone/>
            </a:pPr>
            <a:r>
              <a:rPr lang="en-US" sz="1500" b="1" dirty="0">
                <a:solidFill>
                  <a:srgbClr val="14213D"/>
                </a:solidFill>
                <a:latin typeface="Arial" pitchFamily="34" charset="0"/>
                <a:ea typeface="Arial" pitchFamily="34" charset="-122"/>
                <a:cs typeface="Arial" pitchFamily="34" charset="-120"/>
              </a:rPr>
              <a:t>Not a speed ranking: these timers have different boundaries, so no end-to-end speedup is claimed.</a:t>
            </a:r>
            <a:endParaRPr lang="en-US" sz="150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A8394"/>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1672" cy="731520"/>
          </a:xfrm>
          <a:prstGeom prst="rect">
            <a:avLst/>
          </a:prstGeom>
          <a:noFill/>
          <a:ln/>
        </p:spPr>
        <p:txBody>
          <a:bodyPr wrap="square" lIns="0" tIns="0" rIns="0" bIns="0" rtlCol="0" anchor="ctr"/>
          <a:lstStyle/>
          <a:p>
            <a:pPr algn="l" indent="0" marL="0">
              <a:buNone/>
            </a:pPr>
            <a:r>
              <a:rPr lang="en-US" sz="3000" b="1" dirty="0">
                <a:solidFill>
                  <a:srgbClr val="14213D"/>
                </a:solidFill>
                <a:latin typeface="Arial" pitchFamily="34" charset="0"/>
                <a:ea typeface="Arial" pitchFamily="34" charset="-122"/>
                <a:cs typeface="Arial" pitchFamily="34" charset="-120"/>
              </a:rPr>
              <a:t>What the results currently support</a:t>
            </a:r>
            <a:endParaRPr lang="en-US" sz="3000" dirty="0"/>
          </a:p>
        </p:txBody>
      </p:sp>
      <p:sp>
        <p:nvSpPr>
          <p:cNvPr id="3" name="Shape 1"/>
          <p:cNvSpPr txBox="1"/>
          <p:nvPr/>
        </p:nvSpPr>
        <p:spPr>
          <a:xfrm>
            <a:off x="548640" y="1325880"/>
            <a:ext cx="3593592" cy="3246120"/>
          </a:xfrm>
          <a:prstGeom prst="roundRect">
            <a:avLst>
              <a:gd name="adj" fmla="val 2254"/>
            </a:avLst>
          </a:prstGeom>
          <a:solidFill>
            <a:srgbClr val="F4F6F9"/>
          </a:solidFill>
          <a:ln/>
        </p:spPr>
      </p:sp>
      <p:sp>
        <p:nvSpPr>
          <p:cNvPr id="4" name="Text 2"/>
          <p:cNvSpPr txBox="1"/>
          <p:nvPr/>
        </p:nvSpPr>
        <p:spPr>
          <a:xfrm>
            <a:off x="731520" y="1554480"/>
            <a:ext cx="457200" cy="457200"/>
          </a:xfrm>
          <a:prstGeom prst="ellipse">
            <a:avLst/>
          </a:prstGeom>
          <a:solidFill>
            <a:srgbClr val="D62839"/>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5" name="Text 3"/>
          <p:cNvSpPr txBox="1"/>
          <p:nvPr/>
        </p:nvSpPr>
        <p:spPr>
          <a:xfrm>
            <a:off x="777240" y="2194560"/>
            <a:ext cx="3154680" cy="868680"/>
          </a:xfrm>
          <a:prstGeom prst="rect">
            <a:avLst/>
          </a:prstGeom>
          <a:noFill/>
          <a:ln/>
        </p:spPr>
        <p:txBody>
          <a:bodyPr wrap="square" lIns="0" tIns="0" rIns="0" bIns="0" rtlCol="0" anchor="t"/>
          <a:lstStyle/>
          <a:p>
            <a:pPr indent="0" marL="0">
              <a:buNone/>
            </a:pPr>
            <a:r>
              <a:rPr lang="en-US" sz="1800" b="1" dirty="0">
                <a:solidFill>
                  <a:srgbClr val="14213D"/>
                </a:solidFill>
                <a:latin typeface="Arial" pitchFamily="34" charset="0"/>
                <a:ea typeface="Arial" pitchFamily="34" charset="-122"/>
                <a:cs typeface="Arial" pitchFamily="34" charset="-120"/>
              </a:rPr>
              <a:t>Clean accuracy alone can hide a backdoor</a:t>
            </a:r>
            <a:endParaRPr lang="en-US" sz="1800" dirty="0"/>
          </a:p>
        </p:txBody>
      </p:sp>
      <p:sp>
        <p:nvSpPr>
          <p:cNvPr id="6" name="Text 4"/>
          <p:cNvSpPr txBox="1"/>
          <p:nvPr/>
        </p:nvSpPr>
        <p:spPr>
          <a:xfrm>
            <a:off x="777240" y="3063240"/>
            <a:ext cx="3154680" cy="1463040"/>
          </a:xfrm>
          <a:prstGeom prst="rect">
            <a:avLst/>
          </a:prstGeom>
          <a:noFill/>
          <a:ln/>
        </p:spPr>
        <p:txBody>
          <a:bodyPr wrap="square" lIns="0" tIns="0" rIns="0" bIns="0" rtlCol="0" anchor="t"/>
          <a:lstStyle/>
          <a:p>
            <a:pPr indent="0" marL="0">
              <a:buNone/>
            </a:pPr>
            <a:r>
              <a:rPr lang="en-US" sz="1600" dirty="0">
                <a:solidFill>
                  <a:srgbClr val="3A4560"/>
                </a:solidFill>
                <a:latin typeface="Arial" pitchFamily="34" charset="0"/>
                <a:ea typeface="Arial" pitchFamily="34" charset="-122"/>
                <a:cs typeface="Arial" pitchFamily="34" charset="-120"/>
              </a:rPr>
              <a:t>In these runs, accuracy changed by 0.10 pp (IID) and 0.30 pp (Non-IID) while ASR/TTR rose by 53.34 pp and 28.91 pp.</a:t>
            </a:r>
            <a:endParaRPr lang="en-US" sz="1600" dirty="0"/>
          </a:p>
        </p:txBody>
      </p:sp>
      <p:sp>
        <p:nvSpPr>
          <p:cNvPr id="7" name="Shape 5"/>
          <p:cNvSpPr txBox="1"/>
          <p:nvPr/>
        </p:nvSpPr>
        <p:spPr>
          <a:xfrm>
            <a:off x="4297680" y="1325880"/>
            <a:ext cx="3593592" cy="3246120"/>
          </a:xfrm>
          <a:prstGeom prst="roundRect">
            <a:avLst>
              <a:gd name="adj" fmla="val 2254"/>
            </a:avLst>
          </a:prstGeom>
          <a:solidFill>
            <a:srgbClr val="F4F6F9"/>
          </a:solidFill>
          <a:ln/>
        </p:spPr>
      </p:sp>
      <p:sp>
        <p:nvSpPr>
          <p:cNvPr id="8" name="Text 6"/>
          <p:cNvSpPr txBox="1"/>
          <p:nvPr/>
        </p:nvSpPr>
        <p:spPr>
          <a:xfrm>
            <a:off x="4480560" y="1554480"/>
            <a:ext cx="457200" cy="457200"/>
          </a:xfrm>
          <a:prstGeom prst="ellipse">
            <a:avLst/>
          </a:prstGeom>
          <a:solidFill>
            <a:srgbClr val="E8890C"/>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9" name="Text 7"/>
          <p:cNvSpPr txBox="1"/>
          <p:nvPr/>
        </p:nvSpPr>
        <p:spPr>
          <a:xfrm>
            <a:off x="4526280" y="2194560"/>
            <a:ext cx="3154680" cy="868680"/>
          </a:xfrm>
          <a:prstGeom prst="rect">
            <a:avLst/>
          </a:prstGeom>
          <a:noFill/>
          <a:ln/>
        </p:spPr>
        <p:txBody>
          <a:bodyPr wrap="square" lIns="0" tIns="0" rIns="0" bIns="0" rtlCol="0" anchor="t"/>
          <a:lstStyle/>
          <a:p>
            <a:pPr indent="0" marL="0">
              <a:buNone/>
            </a:pPr>
            <a:r>
              <a:rPr lang="en-US" sz="1800" b="1" dirty="0">
                <a:solidFill>
                  <a:srgbClr val="14213D"/>
                </a:solidFill>
                <a:latin typeface="Arial" pitchFamily="34" charset="0"/>
                <a:ea typeface="Arial" pitchFamily="34" charset="-122"/>
                <a:cs typeface="Arial" pitchFamily="34" charset="-120"/>
              </a:rPr>
              <a:t>Minimizing TTR alone is insufficient</a:t>
            </a:r>
            <a:endParaRPr lang="en-US" sz="1800" dirty="0"/>
          </a:p>
        </p:txBody>
      </p:sp>
      <p:sp>
        <p:nvSpPr>
          <p:cNvPr id="10" name="Text 8"/>
          <p:cNvSpPr txBox="1"/>
          <p:nvPr/>
        </p:nvSpPr>
        <p:spPr>
          <a:xfrm>
            <a:off x="4526280" y="3063240"/>
            <a:ext cx="3154680" cy="1463040"/>
          </a:xfrm>
          <a:prstGeom prst="rect">
            <a:avLst/>
          </a:prstGeom>
          <a:noFill/>
          <a:ln/>
        </p:spPr>
        <p:txBody>
          <a:bodyPr wrap="square" lIns="0" tIns="0" rIns="0" bIns="0" rtlCol="0" anchor="t"/>
          <a:lstStyle/>
          <a:p>
            <a:pPr indent="0" marL="0">
              <a:buNone/>
            </a:pPr>
            <a:r>
              <a:rPr lang="en-US" sz="1600" dirty="0">
                <a:solidFill>
                  <a:srgbClr val="3A4560"/>
                </a:solidFill>
                <a:latin typeface="Arial" pitchFamily="34" charset="0"/>
                <a:ea typeface="Arial" pitchFamily="34" charset="-122"/>
                <a:cs typeface="Arial" pitchFamily="34" charset="-120"/>
              </a:rPr>
              <a:t>M_sub reached 0.24% and 0.87% TTR, but accuracy fell to 66.88% (IID) and 28.04% (Non-IID).</a:t>
            </a:r>
            <a:endParaRPr lang="en-US" sz="1600" dirty="0"/>
          </a:p>
        </p:txBody>
      </p:sp>
      <p:sp>
        <p:nvSpPr>
          <p:cNvPr id="11" name="Shape 9"/>
          <p:cNvSpPr txBox="1"/>
          <p:nvPr/>
        </p:nvSpPr>
        <p:spPr>
          <a:xfrm>
            <a:off x="8046720" y="1325880"/>
            <a:ext cx="3593592" cy="3246120"/>
          </a:xfrm>
          <a:prstGeom prst="roundRect">
            <a:avLst>
              <a:gd name="adj" fmla="val 2254"/>
            </a:avLst>
          </a:prstGeom>
          <a:solidFill>
            <a:srgbClr val="F4F6F9"/>
          </a:solidFill>
          <a:ln/>
        </p:spPr>
      </p:sp>
      <p:sp>
        <p:nvSpPr>
          <p:cNvPr id="12" name="Text 10"/>
          <p:cNvSpPr txBox="1"/>
          <p:nvPr/>
        </p:nvSpPr>
        <p:spPr>
          <a:xfrm>
            <a:off x="8229600" y="1554480"/>
            <a:ext cx="457200" cy="457200"/>
          </a:xfrm>
          <a:prstGeom prst="ellipse">
            <a:avLst/>
          </a:prstGeom>
          <a:solidFill>
            <a:srgbClr val="0B7A75"/>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3" name="Text 11"/>
          <p:cNvSpPr txBox="1"/>
          <p:nvPr/>
        </p:nvSpPr>
        <p:spPr>
          <a:xfrm>
            <a:off x="8275320" y="2194560"/>
            <a:ext cx="3154680" cy="868680"/>
          </a:xfrm>
          <a:prstGeom prst="rect">
            <a:avLst/>
          </a:prstGeom>
          <a:noFill/>
          <a:ln/>
        </p:spPr>
        <p:txBody>
          <a:bodyPr wrap="square" lIns="0" tIns="0" rIns="0" bIns="0" rtlCol="0" anchor="t"/>
          <a:lstStyle/>
          <a:p>
            <a:pPr indent="0" marL="0">
              <a:buNone/>
            </a:pPr>
            <a:r>
              <a:rPr lang="en-US" sz="1800" b="1" dirty="0">
                <a:solidFill>
                  <a:srgbClr val="14213D"/>
                </a:solidFill>
                <a:latin typeface="Arial" pitchFamily="34" charset="0"/>
                <a:ea typeface="Arial" pitchFamily="34" charset="-122"/>
                <a:cs typeface="Arial" pitchFamily="34" charset="-120"/>
              </a:rPr>
              <a:t>FedEraser Ecal=2: strong observed balance</a:t>
            </a:r>
            <a:endParaRPr lang="en-US" sz="1800" dirty="0"/>
          </a:p>
        </p:txBody>
      </p:sp>
      <p:sp>
        <p:nvSpPr>
          <p:cNvPr id="14" name="Text 12"/>
          <p:cNvSpPr txBox="1"/>
          <p:nvPr/>
        </p:nvSpPr>
        <p:spPr>
          <a:xfrm>
            <a:off x="8275320" y="3063240"/>
            <a:ext cx="3154680" cy="1463040"/>
          </a:xfrm>
          <a:prstGeom prst="rect">
            <a:avLst/>
          </a:prstGeom>
          <a:noFill/>
          <a:ln/>
        </p:spPr>
        <p:txBody>
          <a:bodyPr wrap="square" lIns="0" tIns="0" rIns="0" bIns="0" rtlCol="0" anchor="t"/>
          <a:lstStyle/>
          <a:p>
            <a:pPr indent="0" marL="0">
              <a:buNone/>
            </a:pPr>
            <a:r>
              <a:rPr lang="en-US" sz="1600" dirty="0">
                <a:solidFill>
                  <a:srgbClr val="3A4560"/>
                </a:solidFill>
                <a:latin typeface="Arial" pitchFamily="34" charset="0"/>
                <a:ea typeface="Arial" pitchFamily="34" charset="-122"/>
                <a:cs typeface="Arial" pitchFamily="34" charset="-120"/>
              </a:rPr>
              <a:t>In these runs it approaches M_CF (IID 74.99% / 2.34% vs 74.87% / 3.01%) but is not identical on all metrics.</a:t>
            </a:r>
            <a:endParaRPr lang="en-US" sz="1600" dirty="0"/>
          </a:p>
        </p:txBody>
      </p:sp>
      <p:sp>
        <p:nvSpPr>
          <p:cNvPr id="15" name="Text 13"/>
          <p:cNvSpPr txBox="1"/>
          <p:nvPr/>
        </p:nvSpPr>
        <p:spPr>
          <a:xfrm>
            <a:off x="548640" y="4800600"/>
            <a:ext cx="11094415" cy="1188720"/>
          </a:xfrm>
          <a:prstGeom prst="roundRect">
            <a:avLst>
              <a:gd name="adj" fmla="val 6154"/>
            </a:avLst>
          </a:prstGeom>
          <a:solidFill>
            <a:srgbClr val="FDF1DF"/>
          </a:solidFill>
          <a:ln w="15875">
            <a:solidFill>
              <a:srgbClr val="E8890C"/>
            </a:solidFill>
            <a:prstDash val="dash"/>
          </a:ln>
        </p:spPr>
        <p:txBody>
          <a:bodyPr wrap="square" lIns="203200" tIns="203200" rIns="203200" bIns="203200" rtlCol="0" anchor="ctr"/>
          <a:lstStyle/>
          <a:p>
            <a:pPr algn="l" indent="0" marL="0">
              <a:buNone/>
            </a:pPr>
            <a:r>
              <a:rPr lang="en-US" sz="1500" b="1" dirty="0">
                <a:solidFill>
                  <a:srgbClr val="A85500"/>
                </a:solidFill>
                <a:latin typeface="Arial" pitchFamily="34" charset="0"/>
                <a:ea typeface="Arial" pitchFamily="34" charset="-122"/>
                <a:cs typeface="Arial" pitchFamily="34" charset="-120"/>
              </a:rPr>
              <a:t>Compare within each partition. </a:t>
            </a:r>
            <a:pPr algn="l" indent="0" marL="0">
              <a:buNone/>
            </a:pPr>
            <a:r>
              <a:rPr lang="en-US" sz="1500" dirty="0">
                <a:solidFill>
                  <a:srgbClr val="3A4560"/>
                </a:solidFill>
                <a:latin typeface="Arial" pitchFamily="34" charset="0"/>
                <a:ea typeface="Arial" pitchFamily="34" charset="-122"/>
                <a:cs typeface="Arial" pitchFamily="34" charset="-120"/>
              </a:rPr>
              <a:t>In Phase 1, Non-IID has both lower clean accuracy (70.10% vs 75.11%) and lower attacked ASR/TTR (32.21% vs 56.07%) than IID. Non-IID results come from one saved partition and one seed.</a:t>
            </a:r>
            <a:endParaRPr lang="en-US" sz="150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A8394"/>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1672" cy="731520"/>
          </a:xfrm>
          <a:prstGeom prst="rect">
            <a:avLst/>
          </a:prstGeom>
          <a:noFill/>
          <a:ln/>
        </p:spPr>
        <p:txBody>
          <a:bodyPr wrap="square" lIns="0" tIns="0" rIns="0" bIns="0" rtlCol="0" anchor="ctr"/>
          <a:lstStyle/>
          <a:p>
            <a:pPr algn="l" indent="0" marL="0">
              <a:buNone/>
            </a:pPr>
            <a:r>
              <a:rPr lang="en-US" sz="3000" b="1" dirty="0">
                <a:solidFill>
                  <a:srgbClr val="14213D"/>
                </a:solidFill>
                <a:latin typeface="Arial" pitchFamily="34" charset="0"/>
                <a:ea typeface="Arial" pitchFamily="34" charset="-122"/>
                <a:cs typeface="Arial" pitchFamily="34" charset="-120"/>
              </a:rPr>
              <a:t>Limitations and next step</a:t>
            </a:r>
            <a:endParaRPr lang="en-US" sz="3000" dirty="0"/>
          </a:p>
        </p:txBody>
      </p:sp>
      <p:sp>
        <p:nvSpPr>
          <p:cNvPr id="3" name="Shape 1"/>
          <p:cNvSpPr txBox="1"/>
          <p:nvPr/>
        </p:nvSpPr>
        <p:spPr>
          <a:xfrm>
            <a:off x="548640" y="1280160"/>
            <a:ext cx="5120640" cy="3977640"/>
          </a:xfrm>
          <a:prstGeom prst="roundRect">
            <a:avLst>
              <a:gd name="adj" fmla="val 1839"/>
            </a:avLst>
          </a:prstGeom>
          <a:solidFill>
            <a:srgbClr val="F4F6F9"/>
          </a:solidFill>
          <a:ln/>
        </p:spPr>
      </p:sp>
      <p:sp>
        <p:nvSpPr>
          <p:cNvPr id="4" name="Text 2"/>
          <p:cNvSpPr txBox="1"/>
          <p:nvPr/>
        </p:nvSpPr>
        <p:spPr>
          <a:xfrm>
            <a:off x="822960" y="1389888"/>
            <a:ext cx="4572000" cy="365760"/>
          </a:xfrm>
          <a:prstGeom prst="rect">
            <a:avLst/>
          </a:prstGeom>
          <a:noFill/>
          <a:ln/>
        </p:spPr>
        <p:txBody>
          <a:bodyPr wrap="square" lIns="0" tIns="0" rIns="0" bIns="0" rtlCol="0" anchor="t"/>
          <a:lstStyle/>
          <a:p>
            <a:pPr indent="0" marL="0">
              <a:buNone/>
            </a:pPr>
            <a:r>
              <a:rPr lang="en-US" sz="2000" b="1" dirty="0">
                <a:solidFill>
                  <a:srgbClr val="14213D"/>
                </a:solidFill>
                <a:latin typeface="Arial" pitchFamily="34" charset="0"/>
                <a:ea typeface="Arial" pitchFamily="34" charset="-122"/>
                <a:cs typeface="Arial" pitchFamily="34" charset="-120"/>
              </a:rPr>
              <a:t>Limitations</a:t>
            </a:r>
            <a:endParaRPr lang="en-US" sz="2000" dirty="0"/>
          </a:p>
        </p:txBody>
      </p:sp>
      <p:sp>
        <p:nvSpPr>
          <p:cNvPr id="5" name="Text 3"/>
          <p:cNvSpPr txBox="1"/>
          <p:nvPr/>
        </p:nvSpPr>
        <p:spPr>
          <a:xfrm>
            <a:off x="822960" y="1874520"/>
            <a:ext cx="4572000" cy="32918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3A4560"/>
                </a:solidFill>
                <a:latin typeface="Arial" pitchFamily="34" charset="0"/>
                <a:ea typeface="Arial" pitchFamily="34" charset="-122"/>
                <a:cs typeface="Arial" pitchFamily="34" charset="-120"/>
              </a:rPr>
              <a:t>One Non-IID seed and partition draw</a:t>
            </a:r>
            <a:endParaRPr lang="en-US" sz="1700" dirty="0"/>
          </a:p>
          <a:p>
            <a:pPr marL="342900" indent="-342900">
              <a:spcAft>
                <a:spcPts val="1000"/>
              </a:spcAft>
              <a:buSzPct val="100000"/>
              <a:buChar char="•"/>
            </a:pPr>
            <a:r>
              <a:rPr lang="en-US" sz="1700" dirty="0">
                <a:solidFill>
                  <a:srgbClr val="3A4560"/>
                </a:solidFill>
                <a:latin typeface="Arial" pitchFamily="34" charset="0"/>
                <a:ea typeface="Arial" pitchFamily="34" charset="-122"/>
                <a:cs typeface="Arial" pitchFamily="34" charset="-120"/>
              </a:rPr>
              <a:t>CIFAR-10 and SmallCNN only</a:t>
            </a:r>
            <a:endParaRPr lang="en-US" sz="1700" dirty="0"/>
          </a:p>
          <a:p>
            <a:pPr marL="342900" indent="-342900">
              <a:spcAft>
                <a:spcPts val="1000"/>
              </a:spcAft>
              <a:buSzPct val="100000"/>
              <a:buChar char="•"/>
            </a:pPr>
            <a:r>
              <a:rPr lang="en-US" sz="1700" dirty="0">
                <a:solidFill>
                  <a:srgbClr val="3A4560"/>
                </a:solidFill>
                <a:latin typeface="Arial" pitchFamily="34" charset="0"/>
                <a:ea typeface="Arial" pitchFamily="34" charset="-122"/>
                <a:cs typeface="Arial" pitchFamily="34" charset="-120"/>
              </a:rPr>
              <a:t>Method-specific failure modes (e.g. M_sub under Non-IID) and different timing boundaries</a:t>
            </a:r>
            <a:endParaRPr lang="en-US" sz="1700" dirty="0"/>
          </a:p>
          <a:p>
            <a:pPr marL="342900" indent="-342900">
              <a:spcAft>
                <a:spcPts val="1000"/>
              </a:spcAft>
              <a:buSzPct val="100000"/>
              <a:buChar char="•"/>
            </a:pPr>
            <a:r>
              <a:rPr lang="en-US" sz="1700" dirty="0">
                <a:solidFill>
                  <a:srgbClr val="3A4560"/>
                </a:solidFill>
                <a:latin typeface="Arial" pitchFamily="34" charset="0"/>
                <a:ea typeface="Arial" pitchFamily="34" charset="-122"/>
                <a:cs typeface="Arial" pitchFamily="34" charset="-120"/>
              </a:rPr>
              <a:t>FedEraser seeding uses Python hash(); cross-process determinism depends on PYTHONHASHSEED, to be resolved in validation</a:t>
            </a:r>
            <a:endParaRPr lang="en-US" sz="1700" dirty="0"/>
          </a:p>
        </p:txBody>
      </p:sp>
      <p:sp>
        <p:nvSpPr>
          <p:cNvPr id="6" name="Text 4"/>
          <p:cNvSpPr txBox="1"/>
          <p:nvPr/>
        </p:nvSpPr>
        <p:spPr>
          <a:xfrm>
            <a:off x="6126480" y="1280160"/>
            <a:ext cx="4572000" cy="365760"/>
          </a:xfrm>
          <a:prstGeom prst="rect">
            <a:avLst/>
          </a:prstGeom>
          <a:noFill/>
          <a:ln/>
        </p:spPr>
        <p:txBody>
          <a:bodyPr wrap="square" lIns="0" tIns="0" rIns="0" bIns="0" rtlCol="0" anchor="t"/>
          <a:lstStyle/>
          <a:p>
            <a:pPr indent="0" marL="0">
              <a:buNone/>
            </a:pPr>
            <a:r>
              <a:rPr lang="en-US" sz="2000" b="1" dirty="0">
                <a:solidFill>
                  <a:srgbClr val="14213D"/>
                </a:solidFill>
                <a:latin typeface="Arial" pitchFamily="34" charset="0"/>
                <a:ea typeface="Arial" pitchFamily="34" charset="-122"/>
                <a:cs typeface="Arial" pitchFamily="34" charset="-120"/>
              </a:rPr>
              <a:t>Next sequence</a:t>
            </a:r>
            <a:endParaRPr lang="en-US" sz="2000" dirty="0"/>
          </a:p>
        </p:txBody>
      </p:sp>
      <p:sp>
        <p:nvSpPr>
          <p:cNvPr id="7" name="Shape 5"/>
          <p:cNvSpPr txBox="1"/>
          <p:nvPr/>
        </p:nvSpPr>
        <p:spPr>
          <a:xfrm>
            <a:off x="6126480" y="1737360"/>
            <a:ext cx="5513832" cy="594360"/>
          </a:xfrm>
          <a:prstGeom prst="roundRect">
            <a:avLst>
              <a:gd name="adj" fmla="val 12308"/>
            </a:avLst>
          </a:prstGeom>
          <a:solidFill>
            <a:srgbClr val="FFFFFF"/>
          </a:solidFill>
          <a:ln w="19050">
            <a:solidFill>
              <a:srgbClr val="D5DAE3"/>
            </a:solidFill>
            <a:prstDash val="solid"/>
          </a:ln>
        </p:spPr>
      </p:sp>
      <p:sp>
        <p:nvSpPr>
          <p:cNvPr id="8" name="Text 6"/>
          <p:cNvSpPr txBox="1"/>
          <p:nvPr/>
        </p:nvSpPr>
        <p:spPr>
          <a:xfrm>
            <a:off x="6309360" y="1851660"/>
            <a:ext cx="365760" cy="365760"/>
          </a:xfrm>
          <a:prstGeom prst="ellipse">
            <a:avLst/>
          </a:prstGeom>
          <a:solidFill>
            <a:srgbClr val="14213D"/>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9" name="Text 7"/>
          <p:cNvSpPr txBox="1"/>
          <p:nvPr/>
        </p:nvSpPr>
        <p:spPr>
          <a:xfrm>
            <a:off x="6858000" y="1737360"/>
            <a:ext cx="4663440" cy="594360"/>
          </a:xfrm>
          <a:prstGeom prst="rect">
            <a:avLst/>
          </a:prstGeom>
          <a:noFill/>
          <a:ln/>
        </p:spPr>
        <p:txBody>
          <a:bodyPr wrap="square" lIns="0" tIns="0" rIns="0" bIns="0" rtlCol="0" anchor="ctr"/>
          <a:lstStyle/>
          <a:p>
            <a:pPr indent="0" marL="0">
              <a:buNone/>
            </a:pPr>
            <a:r>
              <a:rPr lang="en-US" sz="1500" dirty="0">
                <a:solidFill>
                  <a:srgbClr val="14213D"/>
                </a:solidFill>
                <a:latin typeface="Arial" pitchFamily="34" charset="0"/>
                <a:ea typeface="Arial" pitchFamily="34" charset="-122"/>
                <a:cs typeface="Arial" pitchFamily="34" charset="-120"/>
              </a:rPr>
              <a:t>Reproducibility and artifact audit</a:t>
            </a:r>
            <a:endParaRPr lang="en-US" sz="1500" dirty="0"/>
          </a:p>
        </p:txBody>
      </p:sp>
      <p:sp>
        <p:nvSpPr>
          <p:cNvPr id="10" name="Shape 8"/>
          <p:cNvSpPr txBox="1"/>
          <p:nvPr/>
        </p:nvSpPr>
        <p:spPr>
          <a:xfrm>
            <a:off x="6126480" y="2441448"/>
            <a:ext cx="5513832" cy="594360"/>
          </a:xfrm>
          <a:prstGeom prst="roundRect">
            <a:avLst>
              <a:gd name="adj" fmla="val 12308"/>
            </a:avLst>
          </a:prstGeom>
          <a:solidFill>
            <a:srgbClr val="E4F4F2"/>
          </a:solidFill>
          <a:ln w="19050">
            <a:solidFill>
              <a:srgbClr val="0B7A75"/>
            </a:solidFill>
            <a:prstDash val="solid"/>
          </a:ln>
        </p:spPr>
      </p:sp>
      <p:sp>
        <p:nvSpPr>
          <p:cNvPr id="11" name="Text 9"/>
          <p:cNvSpPr txBox="1"/>
          <p:nvPr/>
        </p:nvSpPr>
        <p:spPr>
          <a:xfrm>
            <a:off x="6309360" y="2555748"/>
            <a:ext cx="365760" cy="365760"/>
          </a:xfrm>
          <a:prstGeom prst="ellipse">
            <a:avLst/>
          </a:prstGeom>
          <a:solidFill>
            <a:srgbClr val="14213D"/>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10"/>
          <p:cNvSpPr txBox="1"/>
          <p:nvPr/>
        </p:nvSpPr>
        <p:spPr>
          <a:xfrm>
            <a:off x="6858000" y="2441448"/>
            <a:ext cx="4663440" cy="594360"/>
          </a:xfrm>
          <a:prstGeom prst="rect">
            <a:avLst/>
          </a:prstGeom>
          <a:noFill/>
          <a:ln/>
        </p:spPr>
        <p:txBody>
          <a:bodyPr wrap="square" lIns="0" tIns="0" rIns="0" bIns="0" rtlCol="0" anchor="ctr"/>
          <a:lstStyle/>
          <a:p>
            <a:pPr indent="0" marL="0">
              <a:buNone/>
            </a:pPr>
            <a:r>
              <a:rPr lang="en-US" sz="1500" dirty="0">
                <a:solidFill>
                  <a:srgbClr val="14213D"/>
                </a:solidFill>
                <a:latin typeface="Arial" pitchFamily="34" charset="0"/>
                <a:ea typeface="Arial" pitchFamily="34" charset="-122"/>
                <a:cs typeface="Arial" pitchFamily="34" charset="-120"/>
              </a:rPr>
              <a:t>Focused literature review and evidence-backed gap</a:t>
            </a:r>
            <a:endParaRPr lang="en-US" sz="1500" dirty="0"/>
          </a:p>
        </p:txBody>
      </p:sp>
      <p:sp>
        <p:nvSpPr>
          <p:cNvPr id="13" name="Shape 11"/>
          <p:cNvSpPr txBox="1"/>
          <p:nvPr/>
        </p:nvSpPr>
        <p:spPr>
          <a:xfrm>
            <a:off x="6126480" y="3145536"/>
            <a:ext cx="5513832" cy="594360"/>
          </a:xfrm>
          <a:prstGeom prst="roundRect">
            <a:avLst>
              <a:gd name="adj" fmla="val 12308"/>
            </a:avLst>
          </a:prstGeom>
          <a:solidFill>
            <a:srgbClr val="FFFFFF"/>
          </a:solidFill>
          <a:ln w="19050">
            <a:solidFill>
              <a:srgbClr val="D5DAE3"/>
            </a:solidFill>
            <a:prstDash val="solid"/>
          </a:ln>
        </p:spPr>
      </p:sp>
      <p:sp>
        <p:nvSpPr>
          <p:cNvPr id="14" name="Text 12"/>
          <p:cNvSpPr txBox="1"/>
          <p:nvPr/>
        </p:nvSpPr>
        <p:spPr>
          <a:xfrm>
            <a:off x="6309360" y="3259836"/>
            <a:ext cx="365760" cy="365760"/>
          </a:xfrm>
          <a:prstGeom prst="ellipse">
            <a:avLst/>
          </a:prstGeom>
          <a:solidFill>
            <a:srgbClr val="14213D"/>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txBox="1"/>
          <p:nvPr/>
        </p:nvSpPr>
        <p:spPr>
          <a:xfrm>
            <a:off x="6858000" y="3145536"/>
            <a:ext cx="4663440" cy="594360"/>
          </a:xfrm>
          <a:prstGeom prst="rect">
            <a:avLst/>
          </a:prstGeom>
          <a:noFill/>
          <a:ln/>
        </p:spPr>
        <p:txBody>
          <a:bodyPr wrap="square" lIns="0" tIns="0" rIns="0" bIns="0" rtlCol="0" anchor="ctr"/>
          <a:lstStyle/>
          <a:p>
            <a:pPr indent="0" marL="0">
              <a:buNone/>
            </a:pPr>
            <a:r>
              <a:rPr lang="en-US" sz="1500" dirty="0">
                <a:solidFill>
                  <a:srgbClr val="14213D"/>
                </a:solidFill>
                <a:latin typeface="Arial" pitchFamily="34" charset="0"/>
                <a:ea typeface="Arial" pitchFamily="34" charset="-122"/>
                <a:cs typeface="Arial" pitchFamily="34" charset="-120"/>
              </a:rPr>
              <a:t>Select a contribution</a:t>
            </a:r>
            <a:endParaRPr lang="en-US" sz="1500" dirty="0"/>
          </a:p>
        </p:txBody>
      </p:sp>
      <p:sp>
        <p:nvSpPr>
          <p:cNvPr id="16" name="Shape 14"/>
          <p:cNvSpPr txBox="1"/>
          <p:nvPr/>
        </p:nvSpPr>
        <p:spPr>
          <a:xfrm>
            <a:off x="6126480" y="3849624"/>
            <a:ext cx="5513832" cy="594360"/>
          </a:xfrm>
          <a:prstGeom prst="roundRect">
            <a:avLst>
              <a:gd name="adj" fmla="val 12308"/>
            </a:avLst>
          </a:prstGeom>
          <a:solidFill>
            <a:srgbClr val="FFFFFF"/>
          </a:solidFill>
          <a:ln w="19050">
            <a:solidFill>
              <a:srgbClr val="D5DAE3"/>
            </a:solidFill>
            <a:prstDash val="solid"/>
          </a:ln>
        </p:spPr>
      </p:sp>
      <p:sp>
        <p:nvSpPr>
          <p:cNvPr id="17" name="Text 15"/>
          <p:cNvSpPr txBox="1"/>
          <p:nvPr/>
        </p:nvSpPr>
        <p:spPr>
          <a:xfrm>
            <a:off x="6309360" y="3963924"/>
            <a:ext cx="365760" cy="365760"/>
          </a:xfrm>
          <a:prstGeom prst="ellipse">
            <a:avLst/>
          </a:prstGeom>
          <a:solidFill>
            <a:srgbClr val="14213D"/>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8" name="Text 16"/>
          <p:cNvSpPr txBox="1"/>
          <p:nvPr/>
        </p:nvSpPr>
        <p:spPr>
          <a:xfrm>
            <a:off x="6858000" y="3849624"/>
            <a:ext cx="4663440" cy="594360"/>
          </a:xfrm>
          <a:prstGeom prst="rect">
            <a:avLst/>
          </a:prstGeom>
          <a:noFill/>
          <a:ln/>
        </p:spPr>
        <p:txBody>
          <a:bodyPr wrap="square" lIns="0" tIns="0" rIns="0" bIns="0" rtlCol="0" anchor="ctr"/>
          <a:lstStyle/>
          <a:p>
            <a:pPr indent="0" marL="0">
              <a:buNone/>
            </a:pPr>
            <a:r>
              <a:rPr lang="en-US" sz="1500" dirty="0">
                <a:solidFill>
                  <a:srgbClr val="14213D"/>
                </a:solidFill>
                <a:latin typeface="Arial" pitchFamily="34" charset="0"/>
                <a:ea typeface="Arial" pitchFamily="34" charset="-122"/>
                <a:cs typeface="Arial" pitchFamily="34" charset="-120"/>
              </a:rPr>
              <a:t>Multiple seeds and partition draws</a:t>
            </a:r>
            <a:endParaRPr lang="en-US" sz="1500" dirty="0"/>
          </a:p>
        </p:txBody>
      </p:sp>
      <p:sp>
        <p:nvSpPr>
          <p:cNvPr id="19" name="Shape 17"/>
          <p:cNvSpPr txBox="1"/>
          <p:nvPr/>
        </p:nvSpPr>
        <p:spPr>
          <a:xfrm>
            <a:off x="6126480" y="4553712"/>
            <a:ext cx="5513832" cy="594360"/>
          </a:xfrm>
          <a:prstGeom prst="roundRect">
            <a:avLst>
              <a:gd name="adj" fmla="val 12308"/>
            </a:avLst>
          </a:prstGeom>
          <a:solidFill>
            <a:srgbClr val="FFFFFF"/>
          </a:solidFill>
          <a:ln w="19050">
            <a:solidFill>
              <a:srgbClr val="D5DAE3"/>
            </a:solidFill>
            <a:prstDash val="solid"/>
          </a:ln>
        </p:spPr>
      </p:sp>
      <p:sp>
        <p:nvSpPr>
          <p:cNvPr id="20" name="Text 18"/>
          <p:cNvSpPr txBox="1"/>
          <p:nvPr/>
        </p:nvSpPr>
        <p:spPr>
          <a:xfrm>
            <a:off x="6309360" y="4668012"/>
            <a:ext cx="365760" cy="365760"/>
          </a:xfrm>
          <a:prstGeom prst="ellipse">
            <a:avLst/>
          </a:prstGeom>
          <a:solidFill>
            <a:srgbClr val="14213D"/>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1" name="Text 19"/>
          <p:cNvSpPr txBox="1"/>
          <p:nvPr/>
        </p:nvSpPr>
        <p:spPr>
          <a:xfrm>
            <a:off x="6858000" y="4553712"/>
            <a:ext cx="4663440" cy="594360"/>
          </a:xfrm>
          <a:prstGeom prst="rect">
            <a:avLst/>
          </a:prstGeom>
          <a:noFill/>
          <a:ln/>
        </p:spPr>
        <p:txBody>
          <a:bodyPr wrap="square" lIns="0" tIns="0" rIns="0" bIns="0" rtlCol="0" anchor="ctr"/>
          <a:lstStyle/>
          <a:p>
            <a:pPr indent="0" marL="0">
              <a:buNone/>
            </a:pPr>
            <a:r>
              <a:rPr lang="en-US" sz="1500" dirty="0">
                <a:solidFill>
                  <a:srgbClr val="14213D"/>
                </a:solidFill>
                <a:latin typeface="Arial" pitchFamily="34" charset="0"/>
                <a:ea typeface="Arial" pitchFamily="34" charset="-122"/>
                <a:cs typeface="Arial" pitchFamily="34" charset="-120"/>
              </a:rPr>
              <a:t>Expand datasets, models or protocol if scope allows</a:t>
            </a:r>
            <a:endParaRPr lang="en-US" sz="1500" dirty="0"/>
          </a:p>
        </p:txBody>
      </p:sp>
      <p:sp>
        <p:nvSpPr>
          <p:cNvPr id="22" name="Text 20"/>
          <p:cNvSpPr txBox="1"/>
          <p:nvPr/>
        </p:nvSpPr>
        <p:spPr>
          <a:xfrm>
            <a:off x="548640" y="5486400"/>
            <a:ext cx="11094415" cy="594360"/>
          </a:xfrm>
          <a:prstGeom prst="roundRect">
            <a:avLst>
              <a:gd name="adj" fmla="val 12308"/>
            </a:avLst>
          </a:prstGeom>
          <a:solidFill>
            <a:srgbClr val="14213D"/>
          </a:solidFill>
          <a:ln/>
        </p:spPr>
        <p:txBody>
          <a:bodyPr wrap="square" lIns="101600" tIns="101600" rIns="101600" bIns="10160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Baselines are frozen. The research contribution is still open; the gap is not yet established.</a:t>
            </a:r>
            <a:endParaRPr lang="en-US" sz="170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A8394"/>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731520" y="2194560"/>
            <a:ext cx="10515600" cy="1097280"/>
          </a:xfrm>
          <a:prstGeom prst="rect">
            <a:avLst/>
          </a:prstGeom>
          <a:noFill/>
          <a:ln/>
        </p:spPr>
        <p:txBody>
          <a:bodyPr wrap="square" lIns="0" tIns="0" rIns="0" bIns="0" rtlCol="0" anchor="t"/>
          <a:lstStyle/>
          <a:p>
            <a:pPr algn="l" indent="0" marL="0">
              <a:buNone/>
            </a:pPr>
            <a:r>
              <a:rPr lang="en-US" sz="4400" b="1" dirty="0">
                <a:solidFill>
                  <a:srgbClr val="FFFFFF"/>
                </a:solidFill>
                <a:latin typeface="Arial" pitchFamily="34" charset="0"/>
                <a:ea typeface="Arial" pitchFamily="34" charset="-122"/>
                <a:cs typeface="Arial" pitchFamily="34" charset="-120"/>
              </a:rPr>
              <a:t>Appendix</a:t>
            </a:r>
            <a:endParaRPr lang="en-US" sz="4400" dirty="0"/>
          </a:p>
        </p:txBody>
      </p:sp>
      <p:sp>
        <p:nvSpPr>
          <p:cNvPr id="3" name="Text 0"/>
          <p:cNvSpPr/>
          <p:nvPr>
            <p:ph idx="101" type="body" hasCustomPrompt="1"/>
          </p:nvPr>
        </p:nvSpPr>
        <p:spPr>
          <a:xfrm>
            <a:off x="731520" y="3383280"/>
            <a:ext cx="10515600" cy="1097280"/>
          </a:xfrm>
          <a:prstGeom prst="rect">
            <a:avLst/>
          </a:prstGeom>
          <a:noFill/>
          <a:ln/>
        </p:spPr>
        <p:txBody>
          <a:bodyPr wrap="square" lIns="0" tIns="0" rIns="0" bIns="0" rtlCol="0" anchor="t"/>
          <a:lstStyle/>
          <a:p>
            <a:pPr algn="l" indent="0" marL="0">
              <a:buNone/>
            </a:pPr>
            <a:r>
              <a:rPr lang="en-US" sz="2000" dirty="0">
                <a:solidFill>
                  <a:srgbClr val="C9D1DE"/>
                </a:solidFill>
                <a:latin typeface="Arial" pitchFamily="34" charset="0"/>
                <a:ea typeface="Arial" pitchFamily="34" charset="-122"/>
                <a:cs typeface="Arial" pitchFamily="34" charset="-120"/>
              </a:rPr>
              <a:t>A · Full numeric record</a:t>
            </a:r>
            <a:endParaRPr lang="en-US" sz="2000" dirty="0"/>
          </a:p>
          <a:p>
            <a:pPr algn="l" indent="0" marL="0">
              <a:buNone/>
            </a:pPr>
            <a:r>
              <a:rPr lang="en-US" sz="2000" dirty="0">
                <a:solidFill>
                  <a:srgbClr val="C9D1DE"/>
                </a:solidFill>
                <a:latin typeface="Arial" pitchFamily="34" charset="0"/>
                <a:ea typeface="Arial" pitchFamily="34" charset="-122"/>
                <a:cs typeface="Arial" pitchFamily="34" charset="-120"/>
              </a:rPr>
              <a:t>B · FedEraser implementation audit</a:t>
            </a:r>
            <a:endParaRPr lang="en-US" sz="2000" dirty="0"/>
          </a:p>
          <a:p>
            <a:pPr algn="l" indent="0" marL="0">
              <a:buNone/>
            </a:pPr>
            <a:r>
              <a:rPr lang="en-US" sz="2000" dirty="0">
                <a:solidFill>
                  <a:srgbClr val="C9D1DE"/>
                </a:solidFill>
                <a:latin typeface="Arial" pitchFamily="34" charset="0"/>
                <a:ea typeface="Arial" pitchFamily="34" charset="-122"/>
                <a:cs typeface="Arial" pitchFamily="34" charset="-120"/>
              </a:rPr>
              <a:t>C · Metrics glossary and evaluation populations</a:t>
            </a:r>
            <a:endParaRPr lang="en-US" sz="2000" dirty="0"/>
          </a:p>
          <a:p>
            <a:pPr algn="l" indent="0" marL="0">
              <a:buNone/>
            </a:pPr>
            <a:r>
              <a:rPr lang="en-US" sz="2000" dirty="0">
                <a:solidFill>
                  <a:srgbClr val="C9D1DE"/>
                </a:solidFill>
                <a:latin typeface="Arial" pitchFamily="34" charset="0"/>
                <a:ea typeface="Arial" pitchFamily="34" charset="-122"/>
                <a:cs typeface="Arial" pitchFamily="34" charset="-120"/>
              </a:rPr>
              <a:t>D · Timing ledger</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1672" cy="731520"/>
          </a:xfrm>
          <a:prstGeom prst="rect">
            <a:avLst/>
          </a:prstGeom>
          <a:noFill/>
          <a:ln/>
        </p:spPr>
        <p:txBody>
          <a:bodyPr wrap="square" lIns="0" tIns="0" rIns="0" bIns="0" rtlCol="0" anchor="ctr"/>
          <a:lstStyle/>
          <a:p>
            <a:pPr algn="l" indent="0" marL="0">
              <a:buNone/>
            </a:pPr>
            <a:r>
              <a:rPr lang="en-US" sz="3000" b="1" dirty="0">
                <a:solidFill>
                  <a:srgbClr val="14213D"/>
                </a:solidFill>
                <a:latin typeface="Arial" pitchFamily="34" charset="0"/>
                <a:ea typeface="Arial" pitchFamily="34" charset="-122"/>
                <a:cs typeface="Arial" pitchFamily="34" charset="-120"/>
              </a:rPr>
              <a:t>Appendix A.1: Phase 1 numeric record</a:t>
            </a:r>
            <a:endParaRPr lang="en-US" sz="3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194560"/>
                <a:gridCol w="2560320"/>
                <a:gridCol w="2240280"/>
                <a:gridCol w="2051914"/>
                <a:gridCol w="2047342"/>
              </a:tblGrid>
              <a:tr h="502920">
                <a:tc>
                  <a:txBody>
                    <a:bodyPr/>
                    <a:lstStyle/>
                    <a:p>
                      <a:pPr algn="l" indent="0" marL="0">
                        <a:buNone/>
                      </a:pPr>
                      <a:r>
                        <a:rPr lang="en-US" sz="1500" b="1" dirty="0">
                          <a:solidFill>
                            <a:srgbClr val="FFFFFF"/>
                          </a:solidFill>
                          <a:latin typeface="Arial" pitchFamily="34" charset="0"/>
                          <a:ea typeface="Arial" pitchFamily="34" charset="-122"/>
                          <a:cs typeface="Arial" pitchFamily="34" charset="-120"/>
                        </a:rPr>
                        <a:t>Partition</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Model</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Clean accuracy</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ASR/TTR</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UTR</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r>
              <a:tr h="502920">
                <a:tc>
                  <a:txBody>
                    <a:bodyPr/>
                    <a:lstStyle/>
                    <a:p>
                      <a:pPr algn="l" indent="0" marL="0">
                        <a:buNone/>
                      </a:pPr>
                      <a:r>
                        <a:rPr lang="en-US" sz="1700" dirty="0">
                          <a:solidFill>
                            <a:srgbClr val="14213D"/>
                          </a:solidFill>
                          <a:latin typeface="Arial" pitchFamily="34" charset="0"/>
                          <a:ea typeface="Arial" pitchFamily="34" charset="-122"/>
                          <a:cs typeface="Arial" pitchFamily="34" charset="-120"/>
                        </a:rPr>
                        <a:t>IID</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4213D"/>
                          </a:solidFill>
                          <a:latin typeface="Arial" pitchFamily="34" charset="0"/>
                          <a:ea typeface="Arial" pitchFamily="34" charset="-122"/>
                          <a:cs typeface="Arial" pitchFamily="34" charset="-120"/>
                        </a:rPr>
                        <a:t>M_clean</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4213D"/>
                          </a:solidFill>
                          <a:latin typeface="Arial" pitchFamily="34" charset="0"/>
                          <a:ea typeface="Arial" pitchFamily="34" charset="-122"/>
                          <a:cs typeface="Arial" pitchFamily="34" charset="-120"/>
                        </a:rPr>
                        <a:t>75.11%</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4213D"/>
                          </a:solidFill>
                          <a:latin typeface="Arial" pitchFamily="34" charset="0"/>
                          <a:ea typeface="Arial" pitchFamily="34" charset="-122"/>
                          <a:cs typeface="Arial" pitchFamily="34" charset="-120"/>
                        </a:rPr>
                        <a:t>2.73%</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4213D"/>
                          </a:solidFill>
                          <a:latin typeface="Arial" pitchFamily="34" charset="0"/>
                          <a:ea typeface="Arial" pitchFamily="34" charset="-122"/>
                          <a:cs typeface="Arial" pitchFamily="34" charset="-120"/>
                        </a:rPr>
                        <a:t>3.18%</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502920">
                <a:tc>
                  <a:txBody>
                    <a:bodyPr/>
                    <a:lstStyle/>
                    <a:p>
                      <a:pPr algn="l" indent="0" marL="0">
                        <a:buNone/>
                      </a:pPr>
                      <a:r>
                        <a:rPr lang="en-US" sz="1700" dirty="0">
                          <a:solidFill>
                            <a:srgbClr val="14213D"/>
                          </a:solidFill>
                          <a:latin typeface="Arial" pitchFamily="34" charset="0"/>
                          <a:ea typeface="Arial" pitchFamily="34" charset="-122"/>
                          <a:cs typeface="Arial" pitchFamily="34" charset="-120"/>
                        </a:rPr>
                        <a:t>IID</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700" dirty="0">
                          <a:solidFill>
                            <a:srgbClr val="14213D"/>
                          </a:solidFill>
                          <a:latin typeface="Arial" pitchFamily="34" charset="0"/>
                          <a:ea typeface="Arial" pitchFamily="34" charset="-122"/>
                          <a:cs typeface="Arial" pitchFamily="34" charset="-120"/>
                        </a:rPr>
                        <a:t>M_attack</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700" dirty="0">
                          <a:solidFill>
                            <a:srgbClr val="14213D"/>
                          </a:solidFill>
                          <a:latin typeface="Arial" pitchFamily="34" charset="0"/>
                          <a:ea typeface="Arial" pitchFamily="34" charset="-122"/>
                          <a:cs typeface="Arial" pitchFamily="34" charset="-120"/>
                        </a:rPr>
                        <a:t>75.01%</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700" dirty="0">
                          <a:solidFill>
                            <a:srgbClr val="14213D"/>
                          </a:solidFill>
                          <a:latin typeface="Arial" pitchFamily="34" charset="0"/>
                          <a:ea typeface="Arial" pitchFamily="34" charset="-122"/>
                          <a:cs typeface="Arial" pitchFamily="34" charset="-120"/>
                        </a:rPr>
                        <a:t>56.07%</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700" dirty="0">
                          <a:solidFill>
                            <a:srgbClr val="14213D"/>
                          </a:solidFill>
                          <a:latin typeface="Arial" pitchFamily="34" charset="0"/>
                          <a:ea typeface="Arial" pitchFamily="34" charset="-122"/>
                          <a:cs typeface="Arial" pitchFamily="34" charset="-120"/>
                        </a:rPr>
                        <a:t>3.41%</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r>
              <a:tr h="502920">
                <a:tc>
                  <a:txBody>
                    <a:bodyPr/>
                    <a:lstStyle/>
                    <a:p>
                      <a:pPr algn="l" indent="0" marL="0">
                        <a:buNone/>
                      </a:pPr>
                      <a:r>
                        <a:rPr lang="en-US" sz="1700" dirty="0">
                          <a:solidFill>
                            <a:srgbClr val="14213D"/>
                          </a:solidFill>
                          <a:latin typeface="Arial" pitchFamily="34" charset="0"/>
                          <a:ea typeface="Arial" pitchFamily="34" charset="-122"/>
                          <a:cs typeface="Arial" pitchFamily="34" charset="-120"/>
                        </a:rPr>
                        <a:t>Non-IID</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4213D"/>
                          </a:solidFill>
                          <a:latin typeface="Arial" pitchFamily="34" charset="0"/>
                          <a:ea typeface="Arial" pitchFamily="34" charset="-122"/>
                          <a:cs typeface="Arial" pitchFamily="34" charset="-120"/>
                        </a:rPr>
                        <a:t>M_clean</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4213D"/>
                          </a:solidFill>
                          <a:latin typeface="Arial" pitchFamily="34" charset="0"/>
                          <a:ea typeface="Arial" pitchFamily="34" charset="-122"/>
                          <a:cs typeface="Arial" pitchFamily="34" charset="-120"/>
                        </a:rPr>
                        <a:t>70.10%</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4213D"/>
                          </a:solidFill>
                          <a:latin typeface="Arial" pitchFamily="34" charset="0"/>
                          <a:ea typeface="Arial" pitchFamily="34" charset="-122"/>
                          <a:cs typeface="Arial" pitchFamily="34" charset="-120"/>
                        </a:rPr>
                        <a:t>3.30%</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4213D"/>
                          </a:solidFill>
                          <a:latin typeface="Arial" pitchFamily="34" charset="0"/>
                          <a:ea typeface="Arial" pitchFamily="34" charset="-122"/>
                          <a:cs typeface="Arial" pitchFamily="34" charset="-120"/>
                        </a:rPr>
                        <a:t>3.84%</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502920">
                <a:tc>
                  <a:txBody>
                    <a:bodyPr/>
                    <a:lstStyle/>
                    <a:p>
                      <a:pPr algn="l" indent="0" marL="0">
                        <a:buNone/>
                      </a:pPr>
                      <a:r>
                        <a:rPr lang="en-US" sz="1700" dirty="0">
                          <a:solidFill>
                            <a:srgbClr val="14213D"/>
                          </a:solidFill>
                          <a:latin typeface="Arial" pitchFamily="34" charset="0"/>
                          <a:ea typeface="Arial" pitchFamily="34" charset="-122"/>
                          <a:cs typeface="Arial" pitchFamily="34" charset="-120"/>
                        </a:rPr>
                        <a:t>Non-IID</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700" dirty="0">
                          <a:solidFill>
                            <a:srgbClr val="14213D"/>
                          </a:solidFill>
                          <a:latin typeface="Arial" pitchFamily="34" charset="0"/>
                          <a:ea typeface="Arial" pitchFamily="34" charset="-122"/>
                          <a:cs typeface="Arial" pitchFamily="34" charset="-120"/>
                        </a:rPr>
                        <a:t>M_attack</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700" dirty="0">
                          <a:solidFill>
                            <a:srgbClr val="14213D"/>
                          </a:solidFill>
                          <a:latin typeface="Arial" pitchFamily="34" charset="0"/>
                          <a:ea typeface="Arial" pitchFamily="34" charset="-122"/>
                          <a:cs typeface="Arial" pitchFamily="34" charset="-120"/>
                        </a:rPr>
                        <a:t>69.80%</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700" dirty="0">
                          <a:solidFill>
                            <a:srgbClr val="14213D"/>
                          </a:solidFill>
                          <a:latin typeface="Arial" pitchFamily="34" charset="0"/>
                          <a:ea typeface="Arial" pitchFamily="34" charset="-122"/>
                          <a:cs typeface="Arial" pitchFamily="34" charset="-120"/>
                        </a:rPr>
                        <a:t>32.21%</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700" dirty="0">
                          <a:solidFill>
                            <a:srgbClr val="14213D"/>
                          </a:solidFill>
                          <a:latin typeface="Arial" pitchFamily="34" charset="0"/>
                          <a:ea typeface="Arial" pitchFamily="34" charset="-122"/>
                          <a:cs typeface="Arial" pitchFamily="34" charset="-120"/>
                        </a:rPr>
                        <a:t>4.00%</a:t>
                      </a:r>
                      <a:endParaRPr lang="en-US" sz="17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r>
            </a:tbl>
          </a:graphicData>
        </a:graphic>
      </p:graphicFrame>
      <p:sp>
        <p:nvSpPr>
          <p:cNvPr id="4" name="Text 1"/>
          <p:cNvSpPr txBox="1"/>
          <p:nvPr/>
        </p:nvSpPr>
        <p:spPr>
          <a:xfrm>
            <a:off x="548640" y="4343400"/>
            <a:ext cx="7315200" cy="365760"/>
          </a:xfrm>
          <a:prstGeom prst="rect">
            <a:avLst/>
          </a:prstGeom>
          <a:noFill/>
          <a:ln/>
        </p:spPr>
        <p:txBody>
          <a:bodyPr wrap="square" lIns="0" tIns="0" rIns="0" bIns="0" rtlCol="0" anchor="t"/>
          <a:lstStyle/>
          <a:p>
            <a:pPr indent="0" marL="0">
              <a:buNone/>
            </a:pPr>
            <a:r>
              <a:rPr lang="en-US" sz="1800" b="1" dirty="0">
                <a:solidFill>
                  <a:srgbClr val="14213D"/>
                </a:solidFill>
                <a:latin typeface="Arial" pitchFamily="34" charset="0"/>
                <a:ea typeface="Arial" pitchFamily="34" charset="-122"/>
                <a:cs typeface="Arial" pitchFamily="34" charset="-120"/>
              </a:rPr>
              <a:t>Differences, M_clean → M_attack</a:t>
            </a:r>
            <a:endParaRPr lang="en-US" sz="1800" dirty="0"/>
          </a:p>
        </p:txBody>
      </p:sp>
      <p:graphicFrame>
        <p:nvGraphicFramePr>
          <p:cNvPr id="45" name="Table 1"/>
          <p:cNvGraphicFramePr>
            <a:graphicFrameLocks noGrp="1"/>
          </p:cNvGraphicFramePr>
          <p:nvPr>
            <p:extLst>
              <p:ext uri="{D42A27DB-BD31-4B8C-83A1-F6EECF244321}">
                <p14:modId xmlns:p14="http://schemas.microsoft.com/office/powerpoint/2010/main" val="1579011935"/>
              </p:ext>
            </p:extLst>
          </p:nvPr>
        </p:nvGraphicFramePr>
        <p:xfrm>
          <a:off x="548640" y="4754880"/>
          <a:ext cx="6583680" cy="914400"/>
        </p:xfrm>
        <a:graphic>
          <a:graphicData uri="http://schemas.openxmlformats.org/drawingml/2006/table">
            <a:tbl>
              <a:tblPr/>
              <a:tblGrid>
                <a:gridCol w="2194560"/>
                <a:gridCol w="2194560"/>
                <a:gridCol w="2194560"/>
              </a:tblGrid>
              <a:tr h="411480">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Partition</a:t>
                      </a:r>
                      <a:endParaRPr lang="en-US" sz="14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Clean accuracy</a:t>
                      </a:r>
                      <a:endParaRPr lang="en-US" sz="14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ASR/TTR</a:t>
                      </a:r>
                      <a:endParaRPr lang="en-US" sz="14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r>
              <a:tr h="411480">
                <a:tc>
                  <a:txBody>
                    <a:bodyPr/>
                    <a:lstStyle/>
                    <a:p>
                      <a:pPr algn="l" indent="0" marL="0">
                        <a:buNone/>
                      </a:pPr>
                      <a:r>
                        <a:rPr lang="en-US" sz="1600" dirty="0">
                          <a:solidFill>
                            <a:srgbClr val="14213D"/>
                          </a:solidFill>
                          <a:latin typeface="Arial" pitchFamily="34" charset="0"/>
                          <a:ea typeface="Arial" pitchFamily="34" charset="-122"/>
                          <a:cs typeface="Arial" pitchFamily="34" charset="-120"/>
                        </a:rPr>
                        <a:t>IID</a:t>
                      </a:r>
                      <a:endParaRPr lang="en-US" sz="16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4213D"/>
                          </a:solidFill>
                          <a:latin typeface="Arial" pitchFamily="34" charset="0"/>
                          <a:ea typeface="Arial" pitchFamily="34" charset="-122"/>
                          <a:cs typeface="Arial" pitchFamily="34" charset="-120"/>
                        </a:rPr>
                        <a:t>−0.10 pp</a:t>
                      </a:r>
                      <a:endParaRPr lang="en-US" sz="16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4213D"/>
                          </a:solidFill>
                          <a:latin typeface="Arial" pitchFamily="34" charset="0"/>
                          <a:ea typeface="Arial" pitchFamily="34" charset="-122"/>
                          <a:cs typeface="Arial" pitchFamily="34" charset="-120"/>
                        </a:rPr>
                        <a:t>+53.34 pp</a:t>
                      </a:r>
                      <a:endParaRPr lang="en-US" sz="16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411480">
                <a:tc>
                  <a:txBody>
                    <a:bodyPr/>
                    <a:lstStyle/>
                    <a:p>
                      <a:pPr algn="l" indent="0" marL="0">
                        <a:buNone/>
                      </a:pPr>
                      <a:r>
                        <a:rPr lang="en-US" sz="1600" dirty="0">
                          <a:solidFill>
                            <a:srgbClr val="14213D"/>
                          </a:solidFill>
                          <a:latin typeface="Arial" pitchFamily="34" charset="0"/>
                          <a:ea typeface="Arial" pitchFamily="34" charset="-122"/>
                          <a:cs typeface="Arial" pitchFamily="34" charset="-120"/>
                        </a:rPr>
                        <a:t>Non-IID</a:t>
                      </a:r>
                      <a:endParaRPr lang="en-US" sz="16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600" dirty="0">
                          <a:solidFill>
                            <a:srgbClr val="14213D"/>
                          </a:solidFill>
                          <a:latin typeface="Arial" pitchFamily="34" charset="0"/>
                          <a:ea typeface="Arial" pitchFamily="34" charset="-122"/>
                          <a:cs typeface="Arial" pitchFamily="34" charset="-120"/>
                        </a:rPr>
                        <a:t>−0.30 pp</a:t>
                      </a:r>
                      <a:endParaRPr lang="en-US" sz="16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600" dirty="0">
                          <a:solidFill>
                            <a:srgbClr val="14213D"/>
                          </a:solidFill>
                          <a:latin typeface="Arial" pitchFamily="34" charset="0"/>
                          <a:ea typeface="Arial" pitchFamily="34" charset="-122"/>
                          <a:cs typeface="Arial" pitchFamily="34" charset="-120"/>
                        </a:rPr>
                        <a:t>+28.91 pp</a:t>
                      </a:r>
                      <a:endParaRPr lang="en-US" sz="16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r>
            </a:tbl>
          </a:graphicData>
        </a:graphic>
      </p:graphicFrame>
      <p:sp>
        <p:nvSpPr>
          <p:cNvPr id="6" name="Text 2"/>
          <p:cNvSpPr txBox="1"/>
          <p:nvPr/>
        </p:nvSpPr>
        <p:spPr>
          <a:xfrm>
            <a:off x="548640" y="6080760"/>
            <a:ext cx="11094415" cy="347472"/>
          </a:xfrm>
          <a:prstGeom prst="rect">
            <a:avLst/>
          </a:prstGeom>
          <a:noFill/>
          <a:ln/>
        </p:spPr>
        <p:txBody>
          <a:bodyPr wrap="square" lIns="0" tIns="0" rIns="0" bIns="0" rtlCol="0" anchor="t"/>
          <a:lstStyle/>
          <a:p>
            <a:pPr indent="0" marL="0">
              <a:buNone/>
            </a:pPr>
            <a:r>
              <a:rPr lang="en-US" sz="1150" dirty="0">
                <a:solidFill>
                  <a:srgbClr val="6B7280"/>
                </a:solidFill>
                <a:latin typeface="Arial" pitchFamily="34" charset="0"/>
                <a:ea typeface="Arial" pitchFamily="34" charset="-122"/>
                <a:cs typeface="Arial" pitchFamily="34" charset="-120"/>
              </a:rPr>
              <a:t>Non-IID rows: one saved Dirichlet partition (α = 0.5), one seed.</a:t>
            </a:r>
            <a:endParaRPr lang="en-US" sz="115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A8394"/>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1672" cy="731520"/>
          </a:xfrm>
          <a:prstGeom prst="rect">
            <a:avLst/>
          </a:prstGeom>
          <a:noFill/>
          <a:ln/>
        </p:spPr>
        <p:txBody>
          <a:bodyPr wrap="square" lIns="0" tIns="0" rIns="0" bIns="0" rtlCol="0" anchor="ctr"/>
          <a:lstStyle/>
          <a:p>
            <a:pPr algn="l" indent="0" marL="0">
              <a:buNone/>
            </a:pPr>
            <a:r>
              <a:rPr lang="en-US" sz="3000" b="1" dirty="0">
                <a:solidFill>
                  <a:srgbClr val="14213D"/>
                </a:solidFill>
                <a:latin typeface="Arial" pitchFamily="34" charset="0"/>
                <a:ea typeface="Arial" pitchFamily="34" charset="-122"/>
                <a:cs typeface="Arial" pitchFamily="34" charset="-120"/>
              </a:rPr>
              <a:t>Appendix A.2: Phase 2 numeric record, IID</a:t>
            </a:r>
            <a:endParaRPr lang="en-US" sz="3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221992"/>
                <a:gridCol w="1280160"/>
                <a:gridCol w="1280160"/>
                <a:gridCol w="1097280"/>
                <a:gridCol w="1371600"/>
                <a:gridCol w="1280160"/>
                <a:gridCol w="1280160"/>
                <a:gridCol w="1282903"/>
              </a:tblGrid>
              <a:tr h="685800">
                <a:tc>
                  <a:txBody>
                    <a:bodyPr/>
                    <a:lstStyle/>
                    <a:p>
                      <a:pPr algn="l" indent="0" marL="0">
                        <a:buNone/>
                      </a:pPr>
                      <a:r>
                        <a:rPr lang="en-US" sz="1300" b="1" dirty="0">
                          <a:solidFill>
                            <a:srgbClr val="FFFFFF"/>
                          </a:solidFill>
                          <a:latin typeface="Arial" pitchFamily="34" charset="0"/>
                          <a:ea typeface="Arial" pitchFamily="34" charset="-122"/>
                          <a:cs typeface="Arial" pitchFamily="34" charset="-120"/>
                        </a:rPr>
                        <a:t>Model</a:t>
                      </a:r>
                      <a:endParaRPr lang="en-US" sz="13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Clean acc.</a:t>
                      </a:r>
                      <a:endParaRPr lang="en-US" sz="13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ASR/TTR</a:t>
                      </a:r>
                      <a:endParaRPr lang="en-US" sz="13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UTR</a:t>
                      </a:r>
                      <a:endParaRPr lang="en-US" sz="13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Airplane recall</a:t>
                      </a:r>
                      <a:endParaRPr lang="en-US" sz="13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Macro-F1</a:t>
                      </a:r>
                      <a:endParaRPr lang="en-US" sz="13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Clean CF agreement</a:t>
                      </a:r>
                      <a:endParaRPr lang="en-US" sz="13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Triggered CF agreement</a:t>
                      </a:r>
                      <a:endParaRPr lang="en-US" sz="13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r>
              <a:tr h="502920">
                <a:tc>
                  <a:txBody>
                    <a:bodyPr/>
                    <a:lstStyle/>
                    <a:p>
                      <a:pPr algn="l" indent="0" marL="0">
                        <a:buNone/>
                      </a:pPr>
                      <a:r>
                        <a:rPr lang="en-US" sz="1500" b="1" dirty="0">
                          <a:solidFill>
                            <a:srgbClr val="B3001B"/>
                          </a:solidFill>
                          <a:latin typeface="Arial" pitchFamily="34" charset="0"/>
                          <a:ea typeface="Arial" pitchFamily="34" charset="-122"/>
                          <a:cs typeface="Arial" pitchFamily="34" charset="-120"/>
                        </a:rPr>
                        <a:t>M_attack</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CE9EB"/>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75.01%</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56.07%</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3.41%</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82.0%</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~74.8%</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92.77%</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41.88%</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502920">
                <a:tc>
                  <a:txBody>
                    <a:bodyPr/>
                    <a:lstStyle/>
                    <a:p>
                      <a:pPr algn="l" indent="0" marL="0">
                        <a:buNone/>
                      </a:pPr>
                      <a:r>
                        <a:rPr lang="en-US" sz="1500" b="1" dirty="0">
                          <a:solidFill>
                            <a:srgbClr val="A85500"/>
                          </a:solidFill>
                          <a:latin typeface="Arial" pitchFamily="34" charset="0"/>
                          <a:ea typeface="Arial" pitchFamily="34" charset="-122"/>
                          <a:cs typeface="Arial" pitchFamily="34" charset="-120"/>
                        </a:rPr>
                        <a:t>M_sub</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DF1DF"/>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66.88%</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0.24%</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0.56%</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40.6%</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66.76%</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76.25%</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77.90%</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r>
              <a:tr h="502920">
                <a:tc>
                  <a:txBody>
                    <a:bodyPr/>
                    <a:lstStyle/>
                    <a:p>
                      <a:pPr algn="l" indent="0" marL="0">
                        <a:buNone/>
                      </a:pPr>
                      <a:r>
                        <a:rPr lang="en-US" sz="1500" b="1" dirty="0">
                          <a:solidFill>
                            <a:srgbClr val="5E3499"/>
                          </a:solidFill>
                          <a:latin typeface="Arial" pitchFamily="34" charset="0"/>
                          <a:ea typeface="Arial" pitchFamily="34" charset="-122"/>
                          <a:cs typeface="Arial" pitchFamily="34" charset="-120"/>
                        </a:rPr>
                        <a:t>M_KD</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FE8F8"/>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72.82%</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2.40%</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3.94%</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81.4%</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72.73%</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88.54%</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86.79%</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502920">
                <a:tc>
                  <a:txBody>
                    <a:bodyPr/>
                    <a:lstStyle/>
                    <a:p>
                      <a:pPr algn="l" indent="0" marL="0">
                        <a:buNone/>
                      </a:pPr>
                      <a:r>
                        <a:rPr lang="en-US" sz="1500" b="1" dirty="0">
                          <a:solidFill>
                            <a:srgbClr val="0B7A75"/>
                          </a:solidFill>
                          <a:latin typeface="Arial" pitchFamily="34" charset="0"/>
                          <a:ea typeface="Arial" pitchFamily="34" charset="-122"/>
                          <a:cs typeface="Arial" pitchFamily="34" charset="-120"/>
                        </a:rPr>
                        <a:t>FedEraser Ecal=1</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4F4F2"/>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72.11%</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2.67%</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2.98%</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77.4%</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71.84%</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84.95%</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84.61%</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r>
              <a:tr h="502920">
                <a:tc>
                  <a:txBody>
                    <a:bodyPr/>
                    <a:lstStyle/>
                    <a:p>
                      <a:pPr algn="l" indent="0" marL="0">
                        <a:buNone/>
                      </a:pPr>
                      <a:r>
                        <a:rPr lang="en-US" sz="1500" b="1" dirty="0">
                          <a:solidFill>
                            <a:srgbClr val="0B7A75"/>
                          </a:solidFill>
                          <a:latin typeface="Arial" pitchFamily="34" charset="0"/>
                          <a:ea typeface="Arial" pitchFamily="34" charset="-122"/>
                          <a:cs typeface="Arial" pitchFamily="34" charset="-120"/>
                        </a:rPr>
                        <a:t>FedEraser Ecal=2</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4F4F2"/>
                    </a:solidFill>
                  </a:tcPr>
                </a:tc>
                <a:tc>
                  <a:txBody>
                    <a:bodyPr/>
                    <a:lstStyle/>
                    <a:p>
                      <a:pPr algn="ctr" indent="0" marL="0">
                        <a:buNone/>
                      </a:pPr>
                      <a:r>
                        <a:rPr lang="en-US" sz="1500" b="1" dirty="0">
                          <a:solidFill>
                            <a:srgbClr val="14213D"/>
                          </a:solidFill>
                          <a:latin typeface="Arial" pitchFamily="34" charset="0"/>
                          <a:ea typeface="Arial" pitchFamily="34" charset="-122"/>
                          <a:cs typeface="Arial" pitchFamily="34" charset="-120"/>
                        </a:rPr>
                        <a:t>74.99%</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4213D"/>
                          </a:solidFill>
                          <a:latin typeface="Arial" pitchFamily="34" charset="0"/>
                          <a:ea typeface="Arial" pitchFamily="34" charset="-122"/>
                          <a:cs typeface="Arial" pitchFamily="34" charset="-120"/>
                        </a:rPr>
                        <a:t>2.34%</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4213D"/>
                          </a:solidFill>
                          <a:latin typeface="Arial" pitchFamily="34" charset="0"/>
                          <a:ea typeface="Arial" pitchFamily="34" charset="-122"/>
                          <a:cs typeface="Arial" pitchFamily="34" charset="-120"/>
                        </a:rPr>
                        <a:t>2.49%</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4213D"/>
                          </a:solidFill>
                          <a:latin typeface="Arial" pitchFamily="34" charset="0"/>
                          <a:ea typeface="Arial" pitchFamily="34" charset="-122"/>
                          <a:cs typeface="Arial" pitchFamily="34" charset="-120"/>
                        </a:rPr>
                        <a:t>78.6%</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4213D"/>
                          </a:solidFill>
                          <a:latin typeface="Arial" pitchFamily="34" charset="0"/>
                          <a:ea typeface="Arial" pitchFamily="34" charset="-122"/>
                          <a:cs typeface="Arial" pitchFamily="34" charset="-120"/>
                        </a:rPr>
                        <a:t>74.86%</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4213D"/>
                          </a:solidFill>
                          <a:latin typeface="Arial" pitchFamily="34" charset="0"/>
                          <a:ea typeface="Arial" pitchFamily="34" charset="-122"/>
                          <a:cs typeface="Arial" pitchFamily="34" charset="-120"/>
                        </a:rPr>
                        <a:t>89.29%</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4213D"/>
                          </a:solidFill>
                          <a:latin typeface="Arial" pitchFamily="34" charset="0"/>
                          <a:ea typeface="Arial" pitchFamily="34" charset="-122"/>
                          <a:cs typeface="Arial" pitchFamily="34" charset="-120"/>
                        </a:rPr>
                        <a:t>88.79%</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502920">
                <a:tc>
                  <a:txBody>
                    <a:bodyPr/>
                    <a:lstStyle/>
                    <a:p>
                      <a:pPr algn="l" indent="0" marL="0">
                        <a:buNone/>
                      </a:pPr>
                      <a:r>
                        <a:rPr lang="en-US" sz="1500" b="1" i="1" dirty="0">
                          <a:solidFill>
                            <a:srgbClr val="4A4F57"/>
                          </a:solidFill>
                          <a:latin typeface="Arial" pitchFamily="34" charset="0"/>
                          <a:ea typeface="Arial" pitchFamily="34" charset="-122"/>
                          <a:cs typeface="Arial" pitchFamily="34" charset="-120"/>
                        </a:rPr>
                        <a:t>M_CF reference</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CEDEF"/>
                    </a:solidFill>
                  </a:tcPr>
                </a:tc>
                <a:tc>
                  <a:txBody>
                    <a:bodyPr/>
                    <a:lstStyle/>
                    <a:p>
                      <a:pPr algn="ctr" indent="0" marL="0">
                        <a:buNone/>
                      </a:pPr>
                      <a:r>
                        <a:rPr lang="en-US" sz="1500" i="1" dirty="0">
                          <a:solidFill>
                            <a:srgbClr val="14213D"/>
                          </a:solidFill>
                          <a:latin typeface="Arial" pitchFamily="34" charset="0"/>
                          <a:ea typeface="Arial" pitchFamily="34" charset="-122"/>
                          <a:cs typeface="Arial" pitchFamily="34" charset="-120"/>
                        </a:rPr>
                        <a:t>74.87%</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500" i="1" dirty="0">
                          <a:solidFill>
                            <a:srgbClr val="14213D"/>
                          </a:solidFill>
                          <a:latin typeface="Arial" pitchFamily="34" charset="0"/>
                          <a:ea typeface="Arial" pitchFamily="34" charset="-122"/>
                          <a:cs typeface="Arial" pitchFamily="34" charset="-120"/>
                        </a:rPr>
                        <a:t>3.01%</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500" i="1" dirty="0">
                          <a:solidFill>
                            <a:srgbClr val="14213D"/>
                          </a:solidFill>
                          <a:latin typeface="Arial" pitchFamily="34" charset="0"/>
                          <a:ea typeface="Arial" pitchFamily="34" charset="-122"/>
                          <a:cs typeface="Arial" pitchFamily="34" charset="-120"/>
                        </a:rPr>
                        <a:t>3.62%</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500" i="1" dirty="0">
                          <a:solidFill>
                            <a:srgbClr val="14213D"/>
                          </a:solidFill>
                          <a:latin typeface="Arial" pitchFamily="34" charset="0"/>
                          <a:ea typeface="Arial" pitchFamily="34" charset="-122"/>
                          <a:cs typeface="Arial" pitchFamily="34" charset="-120"/>
                        </a:rPr>
                        <a:t>82.4%</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500" i="1" dirty="0">
                          <a:solidFill>
                            <a:srgbClr val="14213D"/>
                          </a:solidFill>
                          <a:latin typeface="Arial" pitchFamily="34" charset="0"/>
                          <a:ea typeface="Arial" pitchFamily="34" charset="-122"/>
                          <a:cs typeface="Arial" pitchFamily="34" charset="-120"/>
                        </a:rPr>
                        <a:t>74.70%</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500" i="1" dirty="0">
                          <a:solidFill>
                            <a:srgbClr val="14213D"/>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500" i="1" dirty="0">
                          <a:solidFill>
                            <a:srgbClr val="14213D"/>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r>
            </a:tbl>
          </a:graphicData>
        </a:graphic>
      </p:graphicFrame>
      <p:sp>
        <p:nvSpPr>
          <p:cNvPr id="4" name="Text 1"/>
          <p:cNvSpPr txBox="1"/>
          <p:nvPr/>
        </p:nvSpPr>
        <p:spPr>
          <a:xfrm>
            <a:off x="548640" y="5623560"/>
            <a:ext cx="11094415" cy="347472"/>
          </a:xfrm>
          <a:prstGeom prst="rect">
            <a:avLst/>
          </a:prstGeom>
          <a:noFill/>
          <a:ln/>
        </p:spPr>
        <p:txBody>
          <a:bodyPr wrap="square" lIns="0" tIns="0" rIns="0" bIns="0" rtlCol="0" anchor="t"/>
          <a:lstStyle/>
          <a:p>
            <a:pPr indent="0" marL="0">
              <a:buNone/>
            </a:pPr>
            <a:r>
              <a:rPr lang="en-US" sz="1150" dirty="0">
                <a:solidFill>
                  <a:srgbClr val="6B7280"/>
                </a:solidFill>
                <a:latin typeface="Arial" pitchFamily="34" charset="0"/>
                <a:ea typeface="Arial" pitchFamily="34" charset="-122"/>
                <a:cs typeface="Arial" pitchFamily="34" charset="-120"/>
              </a:rPr>
              <a:t>CF agreement = share of examples where argmax prediction matches M_CF; M_CF has no self-agreement entry. Macro-F1 for M_attack is recorded approximately (~74.8%).</a:t>
            </a:r>
            <a:endParaRPr lang="en-US" sz="115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A8394"/>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1672" cy="731520"/>
          </a:xfrm>
          <a:prstGeom prst="rect">
            <a:avLst/>
          </a:prstGeom>
          <a:noFill/>
          <a:ln/>
        </p:spPr>
        <p:txBody>
          <a:bodyPr wrap="square" lIns="0" tIns="0" rIns="0" bIns="0" rtlCol="0" anchor="ctr"/>
          <a:lstStyle/>
          <a:p>
            <a:pPr algn="l" indent="0" marL="0">
              <a:buNone/>
            </a:pPr>
            <a:r>
              <a:rPr lang="en-US" sz="3000" b="1" dirty="0">
                <a:solidFill>
                  <a:srgbClr val="14213D"/>
                </a:solidFill>
                <a:latin typeface="Arial" pitchFamily="34" charset="0"/>
                <a:ea typeface="Arial" pitchFamily="34" charset="-122"/>
                <a:cs typeface="Arial" pitchFamily="34" charset="-120"/>
              </a:rPr>
              <a:t>Appendix A.3: Phase 2 numeric record, Non-IID</a:t>
            </a:r>
            <a:endParaRPr lang="en-US" sz="3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221992"/>
                <a:gridCol w="1280160"/>
                <a:gridCol w="1280160"/>
                <a:gridCol w="1097280"/>
                <a:gridCol w="1371600"/>
                <a:gridCol w="1280160"/>
                <a:gridCol w="1280160"/>
                <a:gridCol w="1282903"/>
              </a:tblGrid>
              <a:tr h="685800">
                <a:tc>
                  <a:txBody>
                    <a:bodyPr/>
                    <a:lstStyle/>
                    <a:p>
                      <a:pPr algn="l" indent="0" marL="0">
                        <a:buNone/>
                      </a:pPr>
                      <a:r>
                        <a:rPr lang="en-US" sz="1300" b="1" dirty="0">
                          <a:solidFill>
                            <a:srgbClr val="FFFFFF"/>
                          </a:solidFill>
                          <a:latin typeface="Arial" pitchFamily="34" charset="0"/>
                          <a:ea typeface="Arial" pitchFamily="34" charset="-122"/>
                          <a:cs typeface="Arial" pitchFamily="34" charset="-120"/>
                        </a:rPr>
                        <a:t>Model</a:t>
                      </a:r>
                      <a:endParaRPr lang="en-US" sz="13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Clean acc.</a:t>
                      </a:r>
                      <a:endParaRPr lang="en-US" sz="13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ASR/TTR</a:t>
                      </a:r>
                      <a:endParaRPr lang="en-US" sz="13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UTR</a:t>
                      </a:r>
                      <a:endParaRPr lang="en-US" sz="13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Airplane recall</a:t>
                      </a:r>
                      <a:endParaRPr lang="en-US" sz="13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Macro-F1</a:t>
                      </a:r>
                      <a:endParaRPr lang="en-US" sz="13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Clean CF agreement</a:t>
                      </a:r>
                      <a:endParaRPr lang="en-US" sz="13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Triggered CF agreement</a:t>
                      </a:r>
                      <a:endParaRPr lang="en-US" sz="13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r>
              <a:tr h="502920">
                <a:tc>
                  <a:txBody>
                    <a:bodyPr/>
                    <a:lstStyle/>
                    <a:p>
                      <a:pPr algn="l" indent="0" marL="0">
                        <a:buNone/>
                      </a:pPr>
                      <a:r>
                        <a:rPr lang="en-US" sz="1500" b="1" dirty="0">
                          <a:solidFill>
                            <a:srgbClr val="B3001B"/>
                          </a:solidFill>
                          <a:latin typeface="Arial" pitchFamily="34" charset="0"/>
                          <a:ea typeface="Arial" pitchFamily="34" charset="-122"/>
                          <a:cs typeface="Arial" pitchFamily="34" charset="-120"/>
                        </a:rPr>
                        <a:t>M_attack</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CE9EB"/>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69.80%</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32.21%</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4.00%</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81.3%</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68.69%</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90.28%</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63.36%</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502920">
                <a:tc>
                  <a:txBody>
                    <a:bodyPr/>
                    <a:lstStyle/>
                    <a:p>
                      <a:pPr algn="l" indent="0" marL="0">
                        <a:buNone/>
                      </a:pPr>
                      <a:r>
                        <a:rPr lang="en-US" sz="1500" b="1" dirty="0">
                          <a:solidFill>
                            <a:srgbClr val="A85500"/>
                          </a:solidFill>
                          <a:latin typeface="Arial" pitchFamily="34" charset="0"/>
                          <a:ea typeface="Arial" pitchFamily="34" charset="-122"/>
                          <a:cs typeface="Arial" pitchFamily="34" charset="-120"/>
                        </a:rPr>
                        <a:t>M_sub</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DF1DF"/>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28.04%</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0.87%</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1.02%</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14.2%</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17.10%</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35.31%</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36.88%</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r>
              <a:tr h="502920">
                <a:tc>
                  <a:txBody>
                    <a:bodyPr/>
                    <a:lstStyle/>
                    <a:p>
                      <a:pPr algn="l" indent="0" marL="0">
                        <a:buNone/>
                      </a:pPr>
                      <a:r>
                        <a:rPr lang="en-US" sz="1500" b="1" dirty="0">
                          <a:solidFill>
                            <a:srgbClr val="5E3499"/>
                          </a:solidFill>
                          <a:latin typeface="Arial" pitchFamily="34" charset="0"/>
                          <a:ea typeface="Arial" pitchFamily="34" charset="-122"/>
                          <a:cs typeface="Arial" pitchFamily="34" charset="-120"/>
                        </a:rPr>
                        <a:t>M_KD</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FE8F8"/>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60.36%</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3.69%</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4.66%</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75.6%</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57.67%</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78.65%</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76.80%</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502920">
                <a:tc>
                  <a:txBody>
                    <a:bodyPr/>
                    <a:lstStyle/>
                    <a:p>
                      <a:pPr algn="l" indent="0" marL="0">
                        <a:buNone/>
                      </a:pPr>
                      <a:r>
                        <a:rPr lang="en-US" sz="1500" b="1" dirty="0">
                          <a:solidFill>
                            <a:srgbClr val="0B7A75"/>
                          </a:solidFill>
                          <a:latin typeface="Arial" pitchFamily="34" charset="0"/>
                          <a:ea typeface="Arial" pitchFamily="34" charset="-122"/>
                          <a:cs typeface="Arial" pitchFamily="34" charset="-120"/>
                        </a:rPr>
                        <a:t>FedEraser Ecal=1</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4F4F2"/>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65.75%</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3.53%</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4.13%</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77.7%</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64.21%</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85.34%</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500" dirty="0">
                          <a:solidFill>
                            <a:srgbClr val="14213D"/>
                          </a:solidFill>
                          <a:latin typeface="Arial" pitchFamily="34" charset="0"/>
                          <a:ea typeface="Arial" pitchFamily="34" charset="-122"/>
                          <a:cs typeface="Arial" pitchFamily="34" charset="-120"/>
                        </a:rPr>
                        <a:t>84.61%</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r>
              <a:tr h="502920">
                <a:tc>
                  <a:txBody>
                    <a:bodyPr/>
                    <a:lstStyle/>
                    <a:p>
                      <a:pPr algn="l" indent="0" marL="0">
                        <a:buNone/>
                      </a:pPr>
                      <a:r>
                        <a:rPr lang="en-US" sz="1500" b="1" dirty="0">
                          <a:solidFill>
                            <a:srgbClr val="0B7A75"/>
                          </a:solidFill>
                          <a:latin typeface="Arial" pitchFamily="34" charset="0"/>
                          <a:ea typeface="Arial" pitchFamily="34" charset="-122"/>
                          <a:cs typeface="Arial" pitchFamily="34" charset="-120"/>
                        </a:rPr>
                        <a:t>FedEraser Ecal=2</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4F4F2"/>
                    </a:solidFill>
                  </a:tcPr>
                </a:tc>
                <a:tc>
                  <a:txBody>
                    <a:bodyPr/>
                    <a:lstStyle/>
                    <a:p>
                      <a:pPr algn="ctr" indent="0" marL="0">
                        <a:buNone/>
                      </a:pPr>
                      <a:r>
                        <a:rPr lang="en-US" sz="1500" b="1" dirty="0">
                          <a:solidFill>
                            <a:srgbClr val="14213D"/>
                          </a:solidFill>
                          <a:latin typeface="Arial" pitchFamily="34" charset="0"/>
                          <a:ea typeface="Arial" pitchFamily="34" charset="-122"/>
                          <a:cs typeface="Arial" pitchFamily="34" charset="-120"/>
                        </a:rPr>
                        <a:t>68.89%</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4213D"/>
                          </a:solidFill>
                          <a:latin typeface="Arial" pitchFamily="34" charset="0"/>
                          <a:ea typeface="Arial" pitchFamily="34" charset="-122"/>
                          <a:cs typeface="Arial" pitchFamily="34" charset="-120"/>
                        </a:rPr>
                        <a:t>3.09%</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4213D"/>
                          </a:solidFill>
                          <a:latin typeface="Arial" pitchFamily="34" charset="0"/>
                          <a:ea typeface="Arial" pitchFamily="34" charset="-122"/>
                          <a:cs typeface="Arial" pitchFamily="34" charset="-120"/>
                        </a:rPr>
                        <a:t>4.11%</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4213D"/>
                          </a:solidFill>
                          <a:latin typeface="Arial" pitchFamily="34" charset="0"/>
                          <a:ea typeface="Arial" pitchFamily="34" charset="-122"/>
                          <a:cs typeface="Arial" pitchFamily="34" charset="-120"/>
                        </a:rPr>
                        <a:t>81.1%</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4213D"/>
                          </a:solidFill>
                          <a:latin typeface="Arial" pitchFamily="34" charset="0"/>
                          <a:ea typeface="Arial" pitchFamily="34" charset="-122"/>
                          <a:cs typeface="Arial" pitchFamily="34" charset="-120"/>
                        </a:rPr>
                        <a:t>67.60%</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4213D"/>
                          </a:solidFill>
                          <a:latin typeface="Arial" pitchFamily="34" charset="0"/>
                          <a:ea typeface="Arial" pitchFamily="34" charset="-122"/>
                          <a:cs typeface="Arial" pitchFamily="34" charset="-120"/>
                        </a:rPr>
                        <a:t>88.18%</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4213D"/>
                          </a:solidFill>
                          <a:latin typeface="Arial" pitchFamily="34" charset="0"/>
                          <a:ea typeface="Arial" pitchFamily="34" charset="-122"/>
                          <a:cs typeface="Arial" pitchFamily="34" charset="-120"/>
                        </a:rPr>
                        <a:t>86.82%</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502920">
                <a:tc>
                  <a:txBody>
                    <a:bodyPr/>
                    <a:lstStyle/>
                    <a:p>
                      <a:pPr algn="l" indent="0" marL="0">
                        <a:buNone/>
                      </a:pPr>
                      <a:r>
                        <a:rPr lang="en-US" sz="1500" b="1" i="1" dirty="0">
                          <a:solidFill>
                            <a:srgbClr val="4A4F57"/>
                          </a:solidFill>
                          <a:latin typeface="Arial" pitchFamily="34" charset="0"/>
                          <a:ea typeface="Arial" pitchFamily="34" charset="-122"/>
                          <a:cs typeface="Arial" pitchFamily="34" charset="-120"/>
                        </a:rPr>
                        <a:t>M_CF reference</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CEDEF"/>
                    </a:solidFill>
                  </a:tcPr>
                </a:tc>
                <a:tc>
                  <a:txBody>
                    <a:bodyPr/>
                    <a:lstStyle/>
                    <a:p>
                      <a:pPr algn="ctr" indent="0" marL="0">
                        <a:buNone/>
                      </a:pPr>
                      <a:r>
                        <a:rPr lang="en-US" sz="1500" i="1" dirty="0">
                          <a:solidFill>
                            <a:srgbClr val="14213D"/>
                          </a:solidFill>
                          <a:latin typeface="Arial" pitchFamily="34" charset="0"/>
                          <a:ea typeface="Arial" pitchFamily="34" charset="-122"/>
                          <a:cs typeface="Arial" pitchFamily="34" charset="-120"/>
                        </a:rPr>
                        <a:t>69.64%</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500" i="1" dirty="0">
                          <a:solidFill>
                            <a:srgbClr val="14213D"/>
                          </a:solidFill>
                          <a:latin typeface="Arial" pitchFamily="34" charset="0"/>
                          <a:ea typeface="Arial" pitchFamily="34" charset="-122"/>
                          <a:cs typeface="Arial" pitchFamily="34" charset="-120"/>
                        </a:rPr>
                        <a:t>3.40%</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500" i="1" dirty="0">
                          <a:solidFill>
                            <a:srgbClr val="14213D"/>
                          </a:solidFill>
                          <a:latin typeface="Arial" pitchFamily="34" charset="0"/>
                          <a:ea typeface="Arial" pitchFamily="34" charset="-122"/>
                          <a:cs typeface="Arial" pitchFamily="34" charset="-120"/>
                        </a:rPr>
                        <a:t>3.74%</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500" i="1" dirty="0">
                          <a:solidFill>
                            <a:srgbClr val="14213D"/>
                          </a:solidFill>
                          <a:latin typeface="Arial" pitchFamily="34" charset="0"/>
                          <a:ea typeface="Arial" pitchFamily="34" charset="-122"/>
                          <a:cs typeface="Arial" pitchFamily="34" charset="-120"/>
                        </a:rPr>
                        <a:t>79.0%</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500" i="1" dirty="0">
                          <a:solidFill>
                            <a:srgbClr val="14213D"/>
                          </a:solidFill>
                          <a:latin typeface="Arial" pitchFamily="34" charset="0"/>
                          <a:ea typeface="Arial" pitchFamily="34" charset="-122"/>
                          <a:cs typeface="Arial" pitchFamily="34" charset="-120"/>
                        </a:rPr>
                        <a:t>68.42%</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500" i="1" dirty="0">
                          <a:solidFill>
                            <a:srgbClr val="14213D"/>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500" i="1" dirty="0">
                          <a:solidFill>
                            <a:srgbClr val="14213D"/>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r>
            </a:tbl>
          </a:graphicData>
        </a:graphic>
      </p:graphicFrame>
      <p:sp>
        <p:nvSpPr>
          <p:cNvPr id="4" name="Text 1"/>
          <p:cNvSpPr txBox="1"/>
          <p:nvPr/>
        </p:nvSpPr>
        <p:spPr>
          <a:xfrm>
            <a:off x="548640" y="5623560"/>
            <a:ext cx="11094415" cy="347472"/>
          </a:xfrm>
          <a:prstGeom prst="rect">
            <a:avLst/>
          </a:prstGeom>
          <a:noFill/>
          <a:ln/>
        </p:spPr>
        <p:txBody>
          <a:bodyPr wrap="square" lIns="0" tIns="0" rIns="0" bIns="0" rtlCol="0" anchor="t"/>
          <a:lstStyle/>
          <a:p>
            <a:pPr indent="0" marL="0">
              <a:buNone/>
            </a:pPr>
            <a:r>
              <a:rPr lang="en-US" sz="1150" dirty="0">
                <a:solidFill>
                  <a:srgbClr val="6B7280"/>
                </a:solidFill>
                <a:latin typeface="Arial" pitchFamily="34" charset="0"/>
                <a:ea typeface="Arial" pitchFamily="34" charset="-122"/>
                <a:cs typeface="Arial" pitchFamily="34" charset="-120"/>
              </a:rPr>
              <a:t>One saved Dirichlet partition (α = 0.5), one seed. In the saved M_sub run, Cat, Deer, Horse and Truck each had 0% clean test accuracy and zero predicted labels.</a:t>
            </a:r>
            <a:endParaRPr lang="en-US" sz="115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A8394"/>
                </a:solidFill>
                <a:latin typeface="Arial"/>
                <a:ea typeface="Arial"/>
                <a:cs typeface="Aria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1672" cy="731520"/>
          </a:xfrm>
          <a:prstGeom prst="rect">
            <a:avLst/>
          </a:prstGeom>
          <a:noFill/>
          <a:ln/>
        </p:spPr>
        <p:txBody>
          <a:bodyPr wrap="square" lIns="0" tIns="0" rIns="0" bIns="0" rtlCol="0" anchor="ctr"/>
          <a:lstStyle/>
          <a:p>
            <a:pPr algn="l" indent="0" marL="0">
              <a:buNone/>
            </a:pPr>
            <a:r>
              <a:rPr lang="en-US" sz="3000" b="1" dirty="0">
                <a:solidFill>
                  <a:srgbClr val="14213D"/>
                </a:solidFill>
                <a:latin typeface="Arial" pitchFamily="34" charset="0"/>
                <a:ea typeface="Arial" pitchFamily="34" charset="-122"/>
                <a:cs typeface="Arial" pitchFamily="34" charset="-120"/>
              </a:rPr>
              <a:t>Appendix B: FedEraser implementation audit</a:t>
            </a:r>
            <a:endParaRPr lang="en-US" sz="3000" dirty="0"/>
          </a:p>
        </p:txBody>
      </p:sp>
      <p:sp>
        <p:nvSpPr>
          <p:cNvPr id="3" name="Shape 1"/>
          <p:cNvSpPr txBox="1"/>
          <p:nvPr/>
        </p:nvSpPr>
        <p:spPr>
          <a:xfrm>
            <a:off x="548640" y="1234440"/>
            <a:ext cx="5486400" cy="4846320"/>
          </a:xfrm>
          <a:prstGeom prst="roundRect">
            <a:avLst>
              <a:gd name="adj" fmla="val 1509"/>
            </a:avLst>
          </a:prstGeom>
          <a:solidFill>
            <a:srgbClr val="F4F6F9"/>
          </a:solidFill>
          <a:ln/>
        </p:spPr>
      </p:sp>
      <p:sp>
        <p:nvSpPr>
          <p:cNvPr id="4" name="Text 2"/>
          <p:cNvSpPr txBox="1"/>
          <p:nvPr/>
        </p:nvSpPr>
        <p:spPr>
          <a:xfrm>
            <a:off x="777240" y="1325880"/>
            <a:ext cx="4572000" cy="320040"/>
          </a:xfrm>
          <a:prstGeom prst="rect">
            <a:avLst/>
          </a:prstGeom>
          <a:noFill/>
          <a:ln/>
        </p:spPr>
        <p:txBody>
          <a:bodyPr wrap="square" lIns="0" tIns="0" rIns="0" bIns="0" rtlCol="0" anchor="t"/>
          <a:lstStyle/>
          <a:p>
            <a:pPr indent="0" marL="0">
              <a:buNone/>
            </a:pPr>
            <a:r>
              <a:rPr lang="en-US" sz="1700" b="1" dirty="0">
                <a:solidFill>
                  <a:srgbClr val="14213D"/>
                </a:solidFill>
                <a:latin typeface="Arial" pitchFamily="34" charset="0"/>
                <a:ea typeface="Arial" pitchFamily="34" charset="-122"/>
                <a:cs typeface="Arial" pitchFamily="34" charset="-120"/>
              </a:rPr>
              <a:t>Run configuration</a:t>
            </a:r>
            <a:endParaRPr lang="en-US" sz="1700" dirty="0"/>
          </a:p>
        </p:txBody>
      </p:sp>
      <p:sp>
        <p:nvSpPr>
          <p:cNvPr id="5" name="Text 3"/>
          <p:cNvSpPr txBox="1"/>
          <p:nvPr/>
        </p:nvSpPr>
        <p:spPr>
          <a:xfrm>
            <a:off x="777240" y="1737360"/>
            <a:ext cx="5029200" cy="256032"/>
          </a:xfrm>
          <a:prstGeom prst="rect">
            <a:avLst/>
          </a:prstGeom>
          <a:noFill/>
          <a:ln/>
        </p:spPr>
        <p:txBody>
          <a:bodyPr wrap="square" lIns="0" tIns="0" rIns="0" bIns="0" rtlCol="0" anchor="t"/>
          <a:lstStyle/>
          <a:p>
            <a:pPr indent="0" marL="0">
              <a:buNone/>
            </a:pPr>
            <a:r>
              <a:rPr lang="en-US" sz="1300" b="1" dirty="0">
                <a:solidFill>
                  <a:srgbClr val="6B7280"/>
                </a:solidFill>
                <a:latin typeface="Arial" pitchFamily="34" charset="0"/>
                <a:ea typeface="Arial" pitchFamily="34" charset="-122"/>
                <a:cs typeface="Arial" pitchFamily="34" charset="-120"/>
              </a:rPr>
              <a:t>Final corrected run folders</a:t>
            </a:r>
            <a:endParaRPr lang="en-US" sz="1300" dirty="0"/>
          </a:p>
        </p:txBody>
      </p:sp>
      <p:sp>
        <p:nvSpPr>
          <p:cNvPr id="6" name="Text 4"/>
          <p:cNvSpPr txBox="1"/>
          <p:nvPr/>
        </p:nvSpPr>
        <p:spPr>
          <a:xfrm>
            <a:off x="777240" y="2011680"/>
            <a:ext cx="5120640" cy="1051560"/>
          </a:xfrm>
          <a:prstGeom prst="rect">
            <a:avLst/>
          </a:prstGeom>
          <a:noFill/>
          <a:ln/>
        </p:spPr>
        <p:txBody>
          <a:bodyPr wrap="square" lIns="0" tIns="0" rIns="0" bIns="0" rtlCol="0" anchor="t"/>
          <a:lstStyle/>
          <a:p>
            <a:pPr indent="0" marL="0">
              <a:buNone/>
            </a:pPr>
            <a:r>
              <a:rPr lang="en-US" sz="1300" dirty="0">
                <a:solidFill>
                  <a:srgbClr val="3A4560"/>
                </a:solidFill>
                <a:latin typeface="Courier New" pitchFamily="34" charset="0"/>
                <a:ea typeface="Courier New" pitchFamily="34" charset="-122"/>
                <a:cs typeface="Courier New" pitchFamily="34" charset="-120"/>
              </a:rPr>
              <a:t>results_phase2/federaser/iid_Ecal1_v2/</a:t>
            </a:r>
            <a:endParaRPr lang="en-US" sz="1300" dirty="0"/>
          </a:p>
          <a:p>
            <a:pPr indent="0" marL="0">
              <a:buNone/>
            </a:pPr>
            <a:r>
              <a:rPr lang="en-US" sz="1300" dirty="0">
                <a:solidFill>
                  <a:srgbClr val="3A4560"/>
                </a:solidFill>
                <a:latin typeface="Courier New" pitchFamily="34" charset="0"/>
                <a:ea typeface="Courier New" pitchFamily="34" charset="-122"/>
                <a:cs typeface="Courier New" pitchFamily="34" charset="-120"/>
              </a:rPr>
              <a:t>results_phase2/federaser/iid_Ecal2_v2/</a:t>
            </a:r>
            <a:endParaRPr lang="en-US" sz="1300" dirty="0"/>
          </a:p>
          <a:p>
            <a:pPr indent="0" marL="0">
              <a:buNone/>
            </a:pPr>
            <a:r>
              <a:rPr lang="en-US" sz="1300" dirty="0">
                <a:solidFill>
                  <a:srgbClr val="3A4560"/>
                </a:solidFill>
                <a:latin typeface="Courier New" pitchFamily="34" charset="0"/>
                <a:ea typeface="Courier New" pitchFamily="34" charset="-122"/>
                <a:cs typeface="Courier New" pitchFamily="34" charset="-120"/>
              </a:rPr>
              <a:t>results_phase2/federaser/noniid_Ecal1_v2/</a:t>
            </a:r>
            <a:endParaRPr lang="en-US" sz="1300" dirty="0"/>
          </a:p>
          <a:p>
            <a:pPr indent="0" marL="0">
              <a:buNone/>
            </a:pPr>
            <a:r>
              <a:rPr lang="en-US" sz="1300" dirty="0">
                <a:solidFill>
                  <a:srgbClr val="3A4560"/>
                </a:solidFill>
                <a:latin typeface="Courier New" pitchFamily="34" charset="0"/>
                <a:ea typeface="Courier New" pitchFamily="34" charset="-122"/>
                <a:cs typeface="Courier New" pitchFamily="34" charset="-120"/>
              </a:rPr>
              <a:t>results_phase2/federaser/noniid_Ecal2_v2/</a:t>
            </a:r>
            <a:endParaRPr lang="en-US" sz="1300" dirty="0"/>
          </a:p>
        </p:txBody>
      </p:sp>
      <p:sp>
        <p:nvSpPr>
          <p:cNvPr id="7" name="Text 5"/>
          <p:cNvSpPr txBox="1"/>
          <p:nvPr/>
        </p:nvSpPr>
        <p:spPr>
          <a:xfrm>
            <a:off x="777240" y="3200400"/>
            <a:ext cx="5029200" cy="28346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4213D"/>
                </a:solidFill>
                <a:latin typeface="Arial" pitchFamily="34" charset="0"/>
                <a:ea typeface="Arial" pitchFamily="34" charset="-122"/>
                <a:cs typeface="Arial" pitchFamily="34" charset="-120"/>
              </a:rPr>
              <a:t>dt = 1 · rounds 1–50 · Ecal ∈ {1, 2}</a:t>
            </a:r>
            <a:endParaRPr lang="en-US" sz="1400" dirty="0"/>
          </a:p>
          <a:p>
            <a:pPr marL="342900" indent="-342900">
              <a:spcAft>
                <a:spcPts val="500"/>
              </a:spcAft>
              <a:buSzPct val="100000"/>
              <a:buChar char="•"/>
            </a:pPr>
            <a:r>
              <a:rPr lang="en-US" sz="1400" dirty="0">
                <a:solidFill>
                  <a:srgbClr val="14213D"/>
                </a:solidFill>
                <a:latin typeface="Arial" pitchFamily="34" charset="0"/>
                <a:ea typeface="Arial" pitchFamily="34" charset="-122"/>
                <a:cs typeface="Arial" pitchFamily="34" charset="-120"/>
              </a:rPr>
              <a:t>Round 1 bypasses calibration</a:t>
            </a:r>
            <a:endParaRPr lang="en-US" sz="1400" dirty="0"/>
          </a:p>
          <a:p>
            <a:pPr marL="342900" indent="-342900">
              <a:spcAft>
                <a:spcPts val="500"/>
              </a:spcAft>
              <a:buSzPct val="100000"/>
              <a:buChar char="•"/>
            </a:pPr>
            <a:r>
              <a:rPr lang="en-US" sz="1400" dirty="0">
                <a:solidFill>
                  <a:srgbClr val="14213D"/>
                </a:solidFill>
                <a:latin typeface="Arial" pitchFamily="34" charset="0"/>
                <a:ea typeface="Arial" pitchFamily="34" charset="-122"/>
                <a:cs typeface="Arial" pitchFamily="34" charset="-120"/>
              </a:rPr>
              <a:t>Learning rate 0.01 · momentum 0.9 · batch size 64</a:t>
            </a:r>
            <a:endParaRPr lang="en-US" sz="1400" dirty="0"/>
          </a:p>
          <a:p>
            <a:pPr marL="342900" indent="-342900">
              <a:spcAft>
                <a:spcPts val="500"/>
              </a:spcAft>
              <a:buSzPct val="100000"/>
              <a:buChar char="•"/>
            </a:pPr>
            <a:r>
              <a:rPr lang="en-US" sz="1400" dirty="0">
                <a:solidFill>
                  <a:srgbClr val="14213D"/>
                </a:solidFill>
                <a:latin typeface="Arial" pitchFamily="34" charset="0"/>
                <a:ea typeface="Arial" pitchFamily="34" charset="-122"/>
                <a:cs typeface="Arial" pitchFamily="34" charset="-120"/>
              </a:rPr>
              <a:t>Weight decay explicitly 0</a:t>
            </a:r>
            <a:endParaRPr lang="en-US" sz="1400" dirty="0"/>
          </a:p>
          <a:p>
            <a:pPr marL="342900" indent="-342900">
              <a:spcAft>
                <a:spcPts val="500"/>
              </a:spcAft>
              <a:buSzPct val="100000"/>
              <a:buChar char="•"/>
            </a:pPr>
            <a:r>
              <a:rPr lang="en-US" sz="1400" dirty="0">
                <a:solidFill>
                  <a:srgbClr val="14213D"/>
                </a:solidFill>
                <a:latin typeface="Arial" pitchFamily="34" charset="0"/>
                <a:ea typeface="Arial" pitchFamily="34" charset="-122"/>
                <a:cs typeface="Arial" pitchFamily="34" charset="-120"/>
              </a:rPr>
              <a:t>Seed: hash((42, round_num, c)) % (2**32), used for Python random, NumPy, Torch, CUDA when available, and the DataLoader generator</a:t>
            </a:r>
            <a:endParaRPr lang="en-US" sz="1400" dirty="0"/>
          </a:p>
        </p:txBody>
      </p:sp>
      <p:sp>
        <p:nvSpPr>
          <p:cNvPr id="8" name="Shape 6"/>
          <p:cNvSpPr txBox="1"/>
          <p:nvPr/>
        </p:nvSpPr>
        <p:spPr>
          <a:xfrm>
            <a:off x="6263640" y="1234440"/>
            <a:ext cx="5376672" cy="1600200"/>
          </a:xfrm>
          <a:prstGeom prst="roundRect">
            <a:avLst>
              <a:gd name="adj" fmla="val 4571"/>
            </a:avLst>
          </a:prstGeom>
          <a:solidFill>
            <a:srgbClr val="E4F4F2"/>
          </a:solidFill>
          <a:ln w="15875">
            <a:solidFill>
              <a:srgbClr val="0B7A75"/>
            </a:solidFill>
            <a:prstDash val="solid"/>
          </a:ln>
        </p:spPr>
      </p:sp>
      <p:sp>
        <p:nvSpPr>
          <p:cNvPr id="9" name="Text 7"/>
          <p:cNvSpPr txBox="1"/>
          <p:nvPr/>
        </p:nvSpPr>
        <p:spPr>
          <a:xfrm>
            <a:off x="6446520" y="1307592"/>
            <a:ext cx="5029200" cy="274320"/>
          </a:xfrm>
          <a:prstGeom prst="rect">
            <a:avLst/>
          </a:prstGeom>
          <a:noFill/>
          <a:ln/>
        </p:spPr>
        <p:txBody>
          <a:bodyPr wrap="square" lIns="0" tIns="0" rIns="0" bIns="0" rtlCol="0" anchor="t"/>
          <a:lstStyle/>
          <a:p>
            <a:pPr indent="0" marL="0">
              <a:buNone/>
            </a:pPr>
            <a:r>
              <a:rPr lang="en-US" sz="1500" b="1" dirty="0">
                <a:solidFill>
                  <a:srgbClr val="0B7A75"/>
                </a:solidFill>
                <a:latin typeface="Arial" pitchFamily="34" charset="0"/>
                <a:ea typeface="Arial" pitchFamily="34" charset="-122"/>
                <a:cs typeface="Arial" pitchFamily="34" charset="-120"/>
              </a:rPr>
              <a:t>Update scaling</a:t>
            </a:r>
            <a:endParaRPr lang="en-US" sz="1500" dirty="0"/>
          </a:p>
        </p:txBody>
      </p:sp>
      <p:sp>
        <p:nvSpPr>
          <p:cNvPr id="10" name="Text 8"/>
          <p:cNvSpPr txBox="1"/>
          <p:nvPr/>
        </p:nvSpPr>
        <p:spPr>
          <a:xfrm>
            <a:off x="6446520" y="1618488"/>
            <a:ext cx="5029200" cy="1188720"/>
          </a:xfrm>
          <a:prstGeom prst="rect">
            <a:avLst/>
          </a:prstGeom>
          <a:noFill/>
          <a:ln/>
        </p:spPr>
        <p:txBody>
          <a:bodyPr wrap="square" lIns="0" tIns="0" rIns="0" bIns="0" rtlCol="0" anchor="t"/>
          <a:lstStyle/>
          <a:p>
            <a:pPr indent="0" marL="0">
              <a:buNone/>
            </a:pPr>
            <a:r>
              <a:rPr lang="en-US" sz="1350" dirty="0">
                <a:solidFill>
                  <a:srgbClr val="3A4560"/>
                </a:solidFill>
                <a:latin typeface="Arial" pitchFamily="34" charset="0"/>
                <a:ea typeface="Arial" pitchFamily="34" charset="-122"/>
                <a:cs typeface="Arial" pitchFamily="34" charset="-120"/>
              </a:rPr>
              <a:t>The archived implementation uses a global L2 norm across eligible weight/bias tensors to scale magnitude. This is the project's implementation interpretation, not a tensor granularity uniquely specified by the original FedEraser paper.</a:t>
            </a:r>
            <a:endParaRPr lang="en-US" sz="1350" dirty="0"/>
          </a:p>
        </p:txBody>
      </p:sp>
      <p:sp>
        <p:nvSpPr>
          <p:cNvPr id="11" name="Shape 9"/>
          <p:cNvSpPr txBox="1"/>
          <p:nvPr/>
        </p:nvSpPr>
        <p:spPr>
          <a:xfrm>
            <a:off x="6263640" y="2971800"/>
            <a:ext cx="5376672" cy="1691640"/>
          </a:xfrm>
          <a:prstGeom prst="roundRect">
            <a:avLst>
              <a:gd name="adj" fmla="val 4324"/>
            </a:avLst>
          </a:prstGeom>
          <a:solidFill>
            <a:srgbClr val="E4F4F2"/>
          </a:solidFill>
          <a:ln w="15875">
            <a:solidFill>
              <a:srgbClr val="0B7A75"/>
            </a:solidFill>
            <a:prstDash val="solid"/>
          </a:ln>
        </p:spPr>
      </p:sp>
      <p:sp>
        <p:nvSpPr>
          <p:cNvPr id="12" name="Text 10"/>
          <p:cNvSpPr txBox="1"/>
          <p:nvPr/>
        </p:nvSpPr>
        <p:spPr>
          <a:xfrm>
            <a:off x="6446520" y="3044952"/>
            <a:ext cx="5029200" cy="274320"/>
          </a:xfrm>
          <a:prstGeom prst="rect">
            <a:avLst/>
          </a:prstGeom>
          <a:noFill/>
          <a:ln/>
        </p:spPr>
        <p:txBody>
          <a:bodyPr wrap="square" lIns="0" tIns="0" rIns="0" bIns="0" rtlCol="0" anchor="t"/>
          <a:lstStyle/>
          <a:p>
            <a:pPr indent="0" marL="0">
              <a:buNone/>
            </a:pPr>
            <a:r>
              <a:rPr lang="en-US" sz="1500" b="1" dirty="0">
                <a:solidFill>
                  <a:srgbClr val="0B7A75"/>
                </a:solidFill>
                <a:latin typeface="Arial" pitchFamily="34" charset="0"/>
                <a:ea typeface="Arial" pitchFamily="34" charset="-122"/>
                <a:cs typeface="Arial" pitchFamily="34" charset="-120"/>
              </a:rPr>
              <a:t>BatchNorm handling</a:t>
            </a:r>
            <a:endParaRPr lang="en-US" sz="1500" dirty="0"/>
          </a:p>
        </p:txBody>
      </p:sp>
      <p:sp>
        <p:nvSpPr>
          <p:cNvPr id="13" name="Text 11"/>
          <p:cNvSpPr txBox="1"/>
          <p:nvPr/>
        </p:nvSpPr>
        <p:spPr>
          <a:xfrm>
            <a:off x="6446520" y="3355848"/>
            <a:ext cx="5029200" cy="1280160"/>
          </a:xfrm>
          <a:prstGeom prst="rect">
            <a:avLst/>
          </a:prstGeom>
          <a:noFill/>
          <a:ln/>
        </p:spPr>
        <p:txBody>
          <a:bodyPr wrap="square" lIns="0" tIns="0" rIns="0" bIns="0" rtlCol="0" anchor="t"/>
          <a:lstStyle/>
          <a:p>
            <a:pPr indent="0" marL="0">
              <a:buNone/>
            </a:pPr>
            <a:r>
              <a:rPr lang="en-US" sz="1350" dirty="0">
                <a:solidFill>
                  <a:srgbClr val="3A4560"/>
                </a:solidFill>
                <a:latin typeface="Arial" pitchFamily="34" charset="0"/>
                <a:ea typeface="Arial" pitchFamily="34" charset="-122"/>
                <a:cs typeface="Arial" pitchFamily="34" charset="-120"/>
              </a:rPr>
              <a:t>running_mean and running_var pass through unscaled. num_batches_tracked is excluded from scaling and remains unchanged. Corrected runs were audited; known counter checks remained unchanged (full logs not attached here).</a:t>
            </a:r>
            <a:endParaRPr lang="en-US" sz="1350" dirty="0"/>
          </a:p>
        </p:txBody>
      </p:sp>
      <p:sp>
        <p:nvSpPr>
          <p:cNvPr id="14" name="Shape 12"/>
          <p:cNvSpPr txBox="1"/>
          <p:nvPr/>
        </p:nvSpPr>
        <p:spPr>
          <a:xfrm>
            <a:off x="6263640" y="4800600"/>
            <a:ext cx="5376672" cy="1463040"/>
          </a:xfrm>
          <a:prstGeom prst="roundRect">
            <a:avLst>
              <a:gd name="adj" fmla="val 5000"/>
            </a:avLst>
          </a:prstGeom>
          <a:solidFill>
            <a:srgbClr val="FDF1DF"/>
          </a:solidFill>
          <a:ln w="15875">
            <a:solidFill>
              <a:srgbClr val="E8890C"/>
            </a:solidFill>
            <a:prstDash val="dash"/>
          </a:ln>
        </p:spPr>
      </p:sp>
      <p:sp>
        <p:nvSpPr>
          <p:cNvPr id="15" name="Text 13"/>
          <p:cNvSpPr txBox="1"/>
          <p:nvPr/>
        </p:nvSpPr>
        <p:spPr>
          <a:xfrm>
            <a:off x="6446520" y="4873752"/>
            <a:ext cx="5029200" cy="274320"/>
          </a:xfrm>
          <a:prstGeom prst="rect">
            <a:avLst/>
          </a:prstGeom>
          <a:noFill/>
          <a:ln/>
        </p:spPr>
        <p:txBody>
          <a:bodyPr wrap="square" lIns="0" tIns="0" rIns="0" bIns="0" rtlCol="0" anchor="t"/>
          <a:lstStyle/>
          <a:p>
            <a:pPr indent="0" marL="0">
              <a:buNone/>
            </a:pPr>
            <a:r>
              <a:rPr lang="en-US" sz="1500" b="1" dirty="0">
                <a:solidFill>
                  <a:srgbClr val="A85500"/>
                </a:solidFill>
                <a:latin typeface="Arial" pitchFamily="34" charset="0"/>
                <a:ea typeface="Arial" pitchFamily="34" charset="-122"/>
                <a:cs typeface="Arial" pitchFamily="34" charset="-120"/>
              </a:rPr>
              <a:t>Reproducibility caveat</a:t>
            </a:r>
            <a:endParaRPr lang="en-US" sz="1500" dirty="0"/>
          </a:p>
        </p:txBody>
      </p:sp>
      <p:sp>
        <p:nvSpPr>
          <p:cNvPr id="16" name="Text 14"/>
          <p:cNvSpPr txBox="1"/>
          <p:nvPr/>
        </p:nvSpPr>
        <p:spPr>
          <a:xfrm>
            <a:off x="6446520" y="5184648"/>
            <a:ext cx="5029200" cy="1051560"/>
          </a:xfrm>
          <a:prstGeom prst="rect">
            <a:avLst/>
          </a:prstGeom>
          <a:noFill/>
          <a:ln/>
        </p:spPr>
        <p:txBody>
          <a:bodyPr wrap="square" lIns="0" tIns="0" rIns="0" bIns="0" rtlCol="0" anchor="t"/>
          <a:lstStyle/>
          <a:p>
            <a:pPr indent="0" marL="0">
              <a:buNone/>
            </a:pPr>
            <a:r>
              <a:rPr lang="en-US" sz="1350" dirty="0">
                <a:solidFill>
                  <a:srgbClr val="3A4560"/>
                </a:solidFill>
                <a:latin typeface="Arial" pitchFamily="34" charset="0"/>
                <a:ea typeface="Arial" pitchFamily="34" charset="-122"/>
                <a:cs typeface="Arial" pitchFamily="34" charset="-120"/>
              </a:rPr>
              <a:t>Python's built-in hash() may be process-randomized unless PYTHONHASHSEED is controlled, so cross-process determinism is not promised from this expression alone. To resolve in the next validation.</a:t>
            </a:r>
            <a:endParaRPr lang="en-US" sz="135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A8394"/>
                </a:solidFill>
                <a:latin typeface="Arial"/>
                <a:ea typeface="Arial"/>
                <a:cs typeface="Aria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1672" cy="731520"/>
          </a:xfrm>
          <a:prstGeom prst="rect">
            <a:avLst/>
          </a:prstGeom>
          <a:noFill/>
          <a:ln/>
        </p:spPr>
        <p:txBody>
          <a:bodyPr wrap="square" lIns="0" tIns="0" rIns="0" bIns="0" rtlCol="0" anchor="ctr"/>
          <a:lstStyle/>
          <a:p>
            <a:pPr algn="l" indent="0" marL="0">
              <a:buNone/>
            </a:pPr>
            <a:r>
              <a:rPr lang="en-US" sz="3000" b="1" dirty="0">
                <a:solidFill>
                  <a:srgbClr val="14213D"/>
                </a:solidFill>
                <a:latin typeface="Arial" pitchFamily="34" charset="0"/>
                <a:ea typeface="Arial" pitchFamily="34" charset="-122"/>
                <a:cs typeface="Arial" pitchFamily="34" charset="-120"/>
              </a:rPr>
              <a:t>Appendix C: metrics glossary and populations</a:t>
            </a:r>
            <a:endParaRPr lang="en-US" sz="3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7223760" cy="914400"/>
        </p:xfrm>
        <a:graphic>
          <a:graphicData uri="http://schemas.openxmlformats.org/drawingml/2006/table">
            <a:tbl>
              <a:tblPr/>
              <a:tblGrid>
                <a:gridCol w="2011680"/>
                <a:gridCol w="5212080"/>
              </a:tblGrid>
              <a:tr h="384048">
                <a:tc>
                  <a:txBody>
                    <a:bodyPr/>
                    <a:lstStyle/>
                    <a:p>
                      <a:pPr algn="l" indent="0" marL="0">
                        <a:buNone/>
                      </a:pPr>
                      <a:r>
                        <a:rPr lang="en-US" sz="1300" b="1" dirty="0">
                          <a:solidFill>
                            <a:srgbClr val="FFFFFF"/>
                          </a:solidFill>
                          <a:latin typeface="Arial" pitchFamily="34" charset="0"/>
                          <a:ea typeface="Arial" pitchFamily="34" charset="-122"/>
                          <a:cs typeface="Arial" pitchFamily="34" charset="-120"/>
                        </a:rPr>
                        <a:t>Metric</a:t>
                      </a:r>
                      <a:endParaRPr lang="en-US" sz="13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Definition</a:t>
                      </a:r>
                      <a:endParaRPr lang="en-US" sz="13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r>
              <a:tr h="621792">
                <a:tc>
                  <a:txBody>
                    <a:bodyPr/>
                    <a:lstStyle/>
                    <a:p>
                      <a:pPr algn="l" indent="0" marL="0">
                        <a:buNone/>
                      </a:pPr>
                      <a:r>
                        <a:rPr lang="en-US" sz="1300" dirty="0">
                          <a:solidFill>
                            <a:srgbClr val="14213D"/>
                          </a:solidFill>
                          <a:latin typeface="Arial" pitchFamily="34" charset="0"/>
                          <a:ea typeface="Arial" pitchFamily="34" charset="-122"/>
                          <a:cs typeface="Arial" pitchFamily="34" charset="-120"/>
                        </a:rPr>
                        <a:t>Clean accuracy</a:t>
                      </a:r>
                      <a:endParaRPr lang="en-US" sz="13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Arial" pitchFamily="34" charset="0"/>
                          <a:ea typeface="Arial" pitchFamily="34" charset="-122"/>
                          <a:cs typeface="Arial" pitchFamily="34" charset="-120"/>
                        </a:rPr>
                        <a:t>Accuracy on all 10,000 clean CIFAR-10 test images.</a:t>
                      </a:r>
                      <a:endParaRPr lang="en-US" sz="13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621792">
                <a:tc>
                  <a:txBody>
                    <a:bodyPr/>
                    <a:lstStyle/>
                    <a:p>
                      <a:pPr algn="l" indent="0" marL="0">
                        <a:buNone/>
                      </a:pPr>
                      <a:r>
                        <a:rPr lang="en-US" sz="1300" dirty="0">
                          <a:solidFill>
                            <a:srgbClr val="14213D"/>
                          </a:solidFill>
                          <a:latin typeface="Arial" pitchFamily="34" charset="0"/>
                          <a:ea typeface="Arial" pitchFamily="34" charset="-122"/>
                          <a:cs typeface="Arial" pitchFamily="34" charset="-120"/>
                        </a:rPr>
                        <a:t>ASR / TTR</a:t>
                      </a:r>
                      <a:endParaRPr lang="en-US" sz="13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l" indent="0" marL="0">
                        <a:buNone/>
                      </a:pPr>
                      <a:r>
                        <a:rPr lang="en-US" sz="1300" dirty="0">
                          <a:solidFill>
                            <a:srgbClr val="14213D"/>
                          </a:solidFill>
                          <a:latin typeface="Arial" pitchFamily="34" charset="0"/>
                          <a:ea typeface="Arial" pitchFamily="34" charset="-122"/>
                          <a:cs typeface="Arial" pitchFamily="34" charset="-120"/>
                        </a:rPr>
                        <a:t>Share of triggered non-Airplane test images classified as target class Airplane (class 0). Denominator: 9,000.</a:t>
                      </a:r>
                      <a:endParaRPr lang="en-US" sz="13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r>
              <a:tr h="621792">
                <a:tc>
                  <a:txBody>
                    <a:bodyPr/>
                    <a:lstStyle/>
                    <a:p>
                      <a:pPr algn="l" indent="0" marL="0">
                        <a:buNone/>
                      </a:pPr>
                      <a:r>
                        <a:rPr lang="en-US" sz="1300" dirty="0">
                          <a:solidFill>
                            <a:srgbClr val="14213D"/>
                          </a:solidFill>
                          <a:latin typeface="Arial" pitchFamily="34" charset="0"/>
                          <a:ea typeface="Arial" pitchFamily="34" charset="-122"/>
                          <a:cs typeface="Arial" pitchFamily="34" charset="-120"/>
                        </a:rPr>
                        <a:t>UTR</a:t>
                      </a:r>
                      <a:endParaRPr lang="en-US" sz="13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Arial" pitchFamily="34" charset="0"/>
                          <a:ea typeface="Arial" pitchFamily="34" charset="-122"/>
                          <a:cs typeface="Arial" pitchFamily="34" charset="-120"/>
                        </a:rPr>
                        <a:t>Share of untriggered non-Airplane test images predicted as Airplane (class 0). Denominator: 9,000.</a:t>
                      </a:r>
                      <a:endParaRPr lang="en-US" sz="13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621792">
                <a:tc>
                  <a:txBody>
                    <a:bodyPr/>
                    <a:lstStyle/>
                    <a:p>
                      <a:pPr algn="l" indent="0" marL="0">
                        <a:buNone/>
                      </a:pPr>
                      <a:r>
                        <a:rPr lang="en-US" sz="1300" dirty="0">
                          <a:solidFill>
                            <a:srgbClr val="14213D"/>
                          </a:solidFill>
                          <a:latin typeface="Arial" pitchFamily="34" charset="0"/>
                          <a:ea typeface="Arial" pitchFamily="34" charset="-122"/>
                          <a:cs typeface="Arial" pitchFamily="34" charset="-120"/>
                        </a:rPr>
                        <a:t>Airplane recall</a:t>
                      </a:r>
                      <a:endParaRPr lang="en-US" sz="13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l" indent="0" marL="0">
                        <a:buNone/>
                      </a:pPr>
                      <a:r>
                        <a:rPr lang="en-US" sz="1300" dirty="0">
                          <a:solidFill>
                            <a:srgbClr val="14213D"/>
                          </a:solidFill>
                          <a:latin typeface="Arial" pitchFamily="34" charset="0"/>
                          <a:ea typeface="Arial" pitchFamily="34" charset="-122"/>
                          <a:cs typeface="Arial" pitchFamily="34" charset="-120"/>
                        </a:rPr>
                        <a:t>Recall on the 1,000 true Airplane test images (class 0).</a:t>
                      </a:r>
                      <a:endParaRPr lang="en-US" sz="13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r>
              <a:tr h="621792">
                <a:tc>
                  <a:txBody>
                    <a:bodyPr/>
                    <a:lstStyle/>
                    <a:p>
                      <a:pPr algn="l" indent="0" marL="0">
                        <a:buNone/>
                      </a:pPr>
                      <a:r>
                        <a:rPr lang="en-US" sz="1300" dirty="0">
                          <a:solidFill>
                            <a:srgbClr val="14213D"/>
                          </a:solidFill>
                          <a:latin typeface="Arial" pitchFamily="34" charset="0"/>
                          <a:ea typeface="Arial" pitchFamily="34" charset="-122"/>
                          <a:cs typeface="Arial" pitchFamily="34" charset="-120"/>
                        </a:rPr>
                        <a:t>Macro-F1</a:t>
                      </a:r>
                      <a:endParaRPr lang="en-US" sz="13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Arial" pitchFamily="34" charset="0"/>
                          <a:ea typeface="Arial" pitchFamily="34" charset="-122"/>
                          <a:cs typeface="Arial" pitchFamily="34" charset="-120"/>
                        </a:rPr>
                        <a:t>Macro-average F1 across all 10 classes.</a:t>
                      </a:r>
                      <a:endParaRPr lang="en-US" sz="13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621792">
                <a:tc>
                  <a:txBody>
                    <a:bodyPr/>
                    <a:lstStyle/>
                    <a:p>
                      <a:pPr algn="l" indent="0" marL="0">
                        <a:buNone/>
                      </a:pPr>
                      <a:r>
                        <a:rPr lang="en-US" sz="1300" dirty="0">
                          <a:solidFill>
                            <a:srgbClr val="14213D"/>
                          </a:solidFill>
                          <a:latin typeface="Arial" pitchFamily="34" charset="0"/>
                          <a:ea typeface="Arial" pitchFamily="34" charset="-122"/>
                          <a:cs typeface="Arial" pitchFamily="34" charset="-120"/>
                        </a:rPr>
                        <a:t>Counterfactual agreement</a:t>
                      </a:r>
                      <a:endParaRPr lang="en-US" sz="13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l" indent="0" marL="0">
                        <a:buNone/>
                      </a:pPr>
                      <a:r>
                        <a:rPr lang="en-US" sz="1300" dirty="0">
                          <a:solidFill>
                            <a:srgbClr val="14213D"/>
                          </a:solidFill>
                          <a:latin typeface="Arial" pitchFamily="34" charset="0"/>
                          <a:ea typeface="Arial" pitchFamily="34" charset="-122"/>
                          <a:cs typeface="Arial" pitchFamily="34" charset="-120"/>
                        </a:rPr>
                        <a:t>Share of examples where the model's argmax prediction matches M_CF on the relevant clean or triggered population. Not accuracy, not a security proof, not proof every training influence was erased.</a:t>
                      </a:r>
                      <a:endParaRPr lang="en-US" sz="13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r>
            </a:tbl>
          </a:graphicData>
        </a:graphic>
      </p:graphicFrame>
      <p:sp>
        <p:nvSpPr>
          <p:cNvPr id="4" name="Shape 1"/>
          <p:cNvSpPr txBox="1"/>
          <p:nvPr/>
        </p:nvSpPr>
        <p:spPr>
          <a:xfrm>
            <a:off x="8046720" y="1280160"/>
            <a:ext cx="3593592" cy="4754880"/>
          </a:xfrm>
          <a:prstGeom prst="roundRect">
            <a:avLst>
              <a:gd name="adj" fmla="val 2036"/>
            </a:avLst>
          </a:prstGeom>
          <a:solidFill>
            <a:srgbClr val="F4F6F9"/>
          </a:solidFill>
          <a:ln/>
        </p:spPr>
      </p:sp>
      <p:sp>
        <p:nvSpPr>
          <p:cNvPr id="5" name="Text 2"/>
          <p:cNvSpPr txBox="1"/>
          <p:nvPr/>
        </p:nvSpPr>
        <p:spPr>
          <a:xfrm>
            <a:off x="8229600" y="1371600"/>
            <a:ext cx="3291840" cy="320040"/>
          </a:xfrm>
          <a:prstGeom prst="rect">
            <a:avLst/>
          </a:prstGeom>
          <a:noFill/>
          <a:ln/>
        </p:spPr>
        <p:txBody>
          <a:bodyPr wrap="square" lIns="0" tIns="0" rIns="0" bIns="0" rtlCol="0" anchor="t"/>
          <a:lstStyle/>
          <a:p>
            <a:pPr indent="0" marL="0">
              <a:buNone/>
            </a:pPr>
            <a:r>
              <a:rPr lang="en-US" sz="1600" b="1" dirty="0">
                <a:solidFill>
                  <a:srgbClr val="14213D"/>
                </a:solidFill>
                <a:latin typeface="Arial" pitchFamily="34" charset="0"/>
                <a:ea typeface="Arial" pitchFamily="34" charset="-122"/>
                <a:cs typeface="Arial" pitchFamily="34" charset="-120"/>
              </a:rPr>
              <a:t>Evaluation populations</a:t>
            </a:r>
            <a:endParaRPr lang="en-US" sz="1600" dirty="0"/>
          </a:p>
        </p:txBody>
      </p:sp>
      <p:sp>
        <p:nvSpPr>
          <p:cNvPr id="6" name="Shape 3"/>
          <p:cNvSpPr txBox="1"/>
          <p:nvPr/>
        </p:nvSpPr>
        <p:spPr>
          <a:xfrm>
            <a:off x="8229600" y="1828800"/>
            <a:ext cx="3227832" cy="621792"/>
          </a:xfrm>
          <a:prstGeom prst="roundRect">
            <a:avLst>
              <a:gd name="adj" fmla="val 11765"/>
            </a:avLst>
          </a:prstGeom>
          <a:solidFill>
            <a:srgbClr val="FFFFFF"/>
          </a:solidFill>
          <a:ln w="19050">
            <a:solidFill>
              <a:srgbClr val="6B7C93"/>
            </a:solidFill>
            <a:prstDash val="solid"/>
          </a:ln>
        </p:spPr>
      </p:sp>
      <p:sp>
        <p:nvSpPr>
          <p:cNvPr id="7" name="Text 4"/>
          <p:cNvSpPr txBox="1"/>
          <p:nvPr/>
        </p:nvSpPr>
        <p:spPr>
          <a:xfrm>
            <a:off x="8366760" y="1828800"/>
            <a:ext cx="2103120" cy="621792"/>
          </a:xfrm>
          <a:prstGeom prst="rect">
            <a:avLst/>
          </a:prstGeom>
          <a:noFill/>
          <a:ln/>
        </p:spPr>
        <p:txBody>
          <a:bodyPr wrap="square" lIns="0" tIns="0" rIns="0" bIns="0" rtlCol="0" anchor="ctr"/>
          <a:lstStyle/>
          <a:p>
            <a:pPr indent="0" marL="0">
              <a:buNone/>
            </a:pPr>
            <a:r>
              <a:rPr lang="en-US" sz="1300" b="1" dirty="0">
                <a:solidFill>
                  <a:srgbClr val="14213D"/>
                </a:solidFill>
                <a:latin typeface="Arial" pitchFamily="34" charset="0"/>
                <a:ea typeface="Arial" pitchFamily="34" charset="-122"/>
                <a:cs typeface="Arial" pitchFamily="34" charset="-120"/>
              </a:rPr>
              <a:t>Clean test</a:t>
            </a:r>
            <a:endParaRPr lang="en-US" sz="1300" dirty="0"/>
          </a:p>
        </p:txBody>
      </p:sp>
      <p:sp>
        <p:nvSpPr>
          <p:cNvPr id="8" name="Text 5"/>
          <p:cNvSpPr txBox="1"/>
          <p:nvPr/>
        </p:nvSpPr>
        <p:spPr>
          <a:xfrm>
            <a:off x="10424160" y="1828800"/>
            <a:ext cx="914400" cy="621792"/>
          </a:xfrm>
          <a:prstGeom prst="rect">
            <a:avLst/>
          </a:prstGeom>
          <a:noFill/>
          <a:ln/>
        </p:spPr>
        <p:txBody>
          <a:bodyPr wrap="square" lIns="0" tIns="0" rIns="0" bIns="0" rtlCol="0" anchor="ctr"/>
          <a:lstStyle/>
          <a:p>
            <a:pPr algn="r" indent="0" marL="0">
              <a:buNone/>
            </a:pPr>
            <a:r>
              <a:rPr lang="en-US" sz="1600" b="1" dirty="0">
                <a:solidFill>
                  <a:srgbClr val="14213D"/>
                </a:solidFill>
                <a:latin typeface="Arial" pitchFamily="34" charset="0"/>
                <a:ea typeface="Arial" pitchFamily="34" charset="-122"/>
                <a:cs typeface="Arial" pitchFamily="34" charset="-120"/>
              </a:rPr>
              <a:t>10,000</a:t>
            </a:r>
            <a:endParaRPr lang="en-US" sz="1600" dirty="0"/>
          </a:p>
        </p:txBody>
      </p:sp>
      <p:sp>
        <p:nvSpPr>
          <p:cNvPr id="9" name="Shape 6"/>
          <p:cNvSpPr txBox="1"/>
          <p:nvPr/>
        </p:nvSpPr>
        <p:spPr>
          <a:xfrm>
            <a:off x="8229600" y="2560320"/>
            <a:ext cx="3227832" cy="621792"/>
          </a:xfrm>
          <a:prstGeom prst="roundRect">
            <a:avLst>
              <a:gd name="adj" fmla="val 11765"/>
            </a:avLst>
          </a:prstGeom>
          <a:solidFill>
            <a:srgbClr val="FFFFFF"/>
          </a:solidFill>
          <a:ln w="19050">
            <a:solidFill>
              <a:srgbClr val="D62839"/>
            </a:solidFill>
            <a:prstDash val="solid"/>
          </a:ln>
        </p:spPr>
      </p:sp>
      <p:sp>
        <p:nvSpPr>
          <p:cNvPr id="10" name="Text 7"/>
          <p:cNvSpPr txBox="1"/>
          <p:nvPr/>
        </p:nvSpPr>
        <p:spPr>
          <a:xfrm>
            <a:off x="8366760" y="2560320"/>
            <a:ext cx="2103120" cy="621792"/>
          </a:xfrm>
          <a:prstGeom prst="rect">
            <a:avLst/>
          </a:prstGeom>
          <a:noFill/>
          <a:ln/>
        </p:spPr>
        <p:txBody>
          <a:bodyPr wrap="square" lIns="0" tIns="0" rIns="0" bIns="0" rtlCol="0" anchor="ctr"/>
          <a:lstStyle/>
          <a:p>
            <a:pPr indent="0" marL="0">
              <a:buNone/>
            </a:pPr>
            <a:r>
              <a:rPr lang="en-US" sz="1300" b="1" dirty="0">
                <a:solidFill>
                  <a:srgbClr val="14213D"/>
                </a:solidFill>
                <a:latin typeface="Arial" pitchFamily="34" charset="0"/>
                <a:ea typeface="Arial" pitchFamily="34" charset="-122"/>
                <a:cs typeface="Arial" pitchFamily="34" charset="-120"/>
              </a:rPr>
              <a:t>Triggered non-Airplane</a:t>
            </a:r>
            <a:endParaRPr lang="en-US" sz="1300" dirty="0"/>
          </a:p>
        </p:txBody>
      </p:sp>
      <p:sp>
        <p:nvSpPr>
          <p:cNvPr id="11" name="Text 8"/>
          <p:cNvSpPr txBox="1"/>
          <p:nvPr/>
        </p:nvSpPr>
        <p:spPr>
          <a:xfrm>
            <a:off x="10424160" y="2560320"/>
            <a:ext cx="914400" cy="621792"/>
          </a:xfrm>
          <a:prstGeom prst="rect">
            <a:avLst/>
          </a:prstGeom>
          <a:noFill/>
          <a:ln/>
        </p:spPr>
        <p:txBody>
          <a:bodyPr wrap="square" lIns="0" tIns="0" rIns="0" bIns="0" rtlCol="0" anchor="ctr"/>
          <a:lstStyle/>
          <a:p>
            <a:pPr algn="r" indent="0" marL="0">
              <a:buNone/>
            </a:pPr>
            <a:r>
              <a:rPr lang="en-US" sz="1600" b="1" dirty="0">
                <a:solidFill>
                  <a:srgbClr val="14213D"/>
                </a:solidFill>
                <a:latin typeface="Arial" pitchFamily="34" charset="0"/>
                <a:ea typeface="Arial" pitchFamily="34" charset="-122"/>
                <a:cs typeface="Arial" pitchFamily="34" charset="-120"/>
              </a:rPr>
              <a:t>9,000</a:t>
            </a:r>
            <a:endParaRPr lang="en-US" sz="1600" dirty="0"/>
          </a:p>
        </p:txBody>
      </p:sp>
      <p:sp>
        <p:nvSpPr>
          <p:cNvPr id="12" name="Shape 9"/>
          <p:cNvSpPr txBox="1"/>
          <p:nvPr/>
        </p:nvSpPr>
        <p:spPr>
          <a:xfrm>
            <a:off x="8229600" y="3291840"/>
            <a:ext cx="3227832" cy="621792"/>
          </a:xfrm>
          <a:prstGeom prst="roundRect">
            <a:avLst>
              <a:gd name="adj" fmla="val 11765"/>
            </a:avLst>
          </a:prstGeom>
          <a:solidFill>
            <a:srgbClr val="FFFFFF"/>
          </a:solidFill>
          <a:ln w="19050">
            <a:solidFill>
              <a:srgbClr val="6B7C93"/>
            </a:solidFill>
            <a:prstDash val="solid"/>
          </a:ln>
        </p:spPr>
      </p:sp>
      <p:sp>
        <p:nvSpPr>
          <p:cNvPr id="13" name="Text 10"/>
          <p:cNvSpPr txBox="1"/>
          <p:nvPr/>
        </p:nvSpPr>
        <p:spPr>
          <a:xfrm>
            <a:off x="8366760" y="3291840"/>
            <a:ext cx="2103120" cy="621792"/>
          </a:xfrm>
          <a:prstGeom prst="rect">
            <a:avLst/>
          </a:prstGeom>
          <a:noFill/>
          <a:ln/>
        </p:spPr>
        <p:txBody>
          <a:bodyPr wrap="square" lIns="0" tIns="0" rIns="0" bIns="0" rtlCol="0" anchor="ctr"/>
          <a:lstStyle/>
          <a:p>
            <a:pPr indent="0" marL="0">
              <a:buNone/>
            </a:pPr>
            <a:r>
              <a:rPr lang="en-US" sz="1300" b="1" dirty="0">
                <a:solidFill>
                  <a:srgbClr val="14213D"/>
                </a:solidFill>
                <a:latin typeface="Arial" pitchFamily="34" charset="0"/>
                <a:ea typeface="Arial" pitchFamily="34" charset="-122"/>
                <a:cs typeface="Arial" pitchFamily="34" charset="-120"/>
              </a:rPr>
              <a:t>Untriggered non-Airplane</a:t>
            </a:r>
            <a:endParaRPr lang="en-US" sz="1300" dirty="0"/>
          </a:p>
        </p:txBody>
      </p:sp>
      <p:sp>
        <p:nvSpPr>
          <p:cNvPr id="14" name="Text 11"/>
          <p:cNvSpPr txBox="1"/>
          <p:nvPr/>
        </p:nvSpPr>
        <p:spPr>
          <a:xfrm>
            <a:off x="10424160" y="3291840"/>
            <a:ext cx="914400" cy="621792"/>
          </a:xfrm>
          <a:prstGeom prst="rect">
            <a:avLst/>
          </a:prstGeom>
          <a:noFill/>
          <a:ln/>
        </p:spPr>
        <p:txBody>
          <a:bodyPr wrap="square" lIns="0" tIns="0" rIns="0" bIns="0" rtlCol="0" anchor="ctr"/>
          <a:lstStyle/>
          <a:p>
            <a:pPr algn="r" indent="0" marL="0">
              <a:buNone/>
            </a:pPr>
            <a:r>
              <a:rPr lang="en-US" sz="1600" b="1" dirty="0">
                <a:solidFill>
                  <a:srgbClr val="14213D"/>
                </a:solidFill>
                <a:latin typeface="Arial" pitchFamily="34" charset="0"/>
                <a:ea typeface="Arial" pitchFamily="34" charset="-122"/>
                <a:cs typeface="Arial" pitchFamily="34" charset="-120"/>
              </a:rPr>
              <a:t>9,000</a:t>
            </a:r>
            <a:endParaRPr lang="en-US" sz="1600" dirty="0"/>
          </a:p>
        </p:txBody>
      </p:sp>
      <p:sp>
        <p:nvSpPr>
          <p:cNvPr id="15" name="Shape 12"/>
          <p:cNvSpPr txBox="1"/>
          <p:nvPr/>
        </p:nvSpPr>
        <p:spPr>
          <a:xfrm>
            <a:off x="8229600" y="4023360"/>
            <a:ext cx="3227832" cy="621792"/>
          </a:xfrm>
          <a:prstGeom prst="roundRect">
            <a:avLst>
              <a:gd name="adj" fmla="val 11765"/>
            </a:avLst>
          </a:prstGeom>
          <a:solidFill>
            <a:srgbClr val="FFFFFF"/>
          </a:solidFill>
          <a:ln w="19050">
            <a:solidFill>
              <a:srgbClr val="6B7C93"/>
            </a:solidFill>
            <a:prstDash val="solid"/>
          </a:ln>
        </p:spPr>
      </p:sp>
      <p:sp>
        <p:nvSpPr>
          <p:cNvPr id="16" name="Text 13"/>
          <p:cNvSpPr txBox="1"/>
          <p:nvPr/>
        </p:nvSpPr>
        <p:spPr>
          <a:xfrm>
            <a:off x="8366760" y="4023360"/>
            <a:ext cx="2103120" cy="621792"/>
          </a:xfrm>
          <a:prstGeom prst="rect">
            <a:avLst/>
          </a:prstGeom>
          <a:noFill/>
          <a:ln/>
        </p:spPr>
        <p:txBody>
          <a:bodyPr wrap="square" lIns="0" tIns="0" rIns="0" bIns="0" rtlCol="0" anchor="ctr"/>
          <a:lstStyle/>
          <a:p>
            <a:pPr indent="0" marL="0">
              <a:buNone/>
            </a:pPr>
            <a:r>
              <a:rPr lang="en-US" sz="1300" b="1" dirty="0">
                <a:solidFill>
                  <a:srgbClr val="14213D"/>
                </a:solidFill>
                <a:latin typeface="Arial" pitchFamily="34" charset="0"/>
                <a:ea typeface="Arial" pitchFamily="34" charset="-122"/>
                <a:cs typeface="Arial" pitchFamily="34" charset="-120"/>
              </a:rPr>
              <a:t>True Airplane</a:t>
            </a:r>
            <a:endParaRPr lang="en-US" sz="1300" dirty="0"/>
          </a:p>
        </p:txBody>
      </p:sp>
      <p:sp>
        <p:nvSpPr>
          <p:cNvPr id="17" name="Text 14"/>
          <p:cNvSpPr txBox="1"/>
          <p:nvPr/>
        </p:nvSpPr>
        <p:spPr>
          <a:xfrm>
            <a:off x="10424160" y="4023360"/>
            <a:ext cx="914400" cy="621792"/>
          </a:xfrm>
          <a:prstGeom prst="rect">
            <a:avLst/>
          </a:prstGeom>
          <a:noFill/>
          <a:ln/>
        </p:spPr>
        <p:txBody>
          <a:bodyPr wrap="square" lIns="0" tIns="0" rIns="0" bIns="0" rtlCol="0" anchor="ctr"/>
          <a:lstStyle/>
          <a:p>
            <a:pPr algn="r" indent="0" marL="0">
              <a:buNone/>
            </a:pPr>
            <a:r>
              <a:rPr lang="en-US" sz="1600" b="1" dirty="0">
                <a:solidFill>
                  <a:srgbClr val="14213D"/>
                </a:solidFill>
                <a:latin typeface="Arial" pitchFamily="34" charset="0"/>
                <a:ea typeface="Arial" pitchFamily="34" charset="-122"/>
                <a:cs typeface="Arial" pitchFamily="34" charset="-120"/>
              </a:rPr>
              <a:t>1,000</a:t>
            </a:r>
            <a:endParaRPr lang="en-US" sz="1600" dirty="0"/>
          </a:p>
        </p:txBody>
      </p:sp>
      <p:sp>
        <p:nvSpPr>
          <p:cNvPr id="18" name="Text 15"/>
          <p:cNvSpPr txBox="1"/>
          <p:nvPr/>
        </p:nvSpPr>
        <p:spPr>
          <a:xfrm>
            <a:off x="8229600" y="4846320"/>
            <a:ext cx="3246120" cy="1097280"/>
          </a:xfrm>
          <a:prstGeom prst="rect">
            <a:avLst/>
          </a:prstGeom>
          <a:noFill/>
          <a:ln/>
        </p:spPr>
        <p:txBody>
          <a:bodyPr wrap="square" lIns="0" tIns="0" rIns="0" bIns="0" rtlCol="0" anchor="t"/>
          <a:lstStyle/>
          <a:p>
            <a:pPr indent="0" marL="0">
              <a:buNone/>
            </a:pPr>
            <a:r>
              <a:rPr lang="en-US" sz="1250" dirty="0">
                <a:solidFill>
                  <a:srgbClr val="3A4560"/>
                </a:solidFill>
                <a:latin typeface="Arial" pitchFamily="34" charset="0"/>
                <a:ea typeface="Arial" pitchFamily="34" charset="-122"/>
                <a:cs typeface="Arial" pitchFamily="34" charset="-120"/>
              </a:rPr>
              <a:t>Related views of the same test set, not disjoint groups: the two 9,000 sets are the same non-Airplane images with and without the trigger.</a:t>
            </a:r>
            <a:endParaRPr lang="en-US" sz="125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A8394"/>
                </a:solidFill>
                <a:latin typeface="Arial"/>
                <a:ea typeface="Arial"/>
                <a:cs typeface="Aria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1672" cy="731520"/>
          </a:xfrm>
          <a:prstGeom prst="rect">
            <a:avLst/>
          </a:prstGeom>
          <a:noFill/>
          <a:ln/>
        </p:spPr>
        <p:txBody>
          <a:bodyPr wrap="square" lIns="0" tIns="0" rIns="0" bIns="0" rtlCol="0" anchor="ctr"/>
          <a:lstStyle/>
          <a:p>
            <a:pPr algn="l" indent="0" marL="0">
              <a:buNone/>
            </a:pPr>
            <a:r>
              <a:rPr lang="en-US" sz="3000" b="1" dirty="0">
                <a:solidFill>
                  <a:srgbClr val="14213D"/>
                </a:solidFill>
                <a:latin typeface="Arial" pitchFamily="34" charset="0"/>
                <a:ea typeface="Arial" pitchFamily="34" charset="-122"/>
                <a:cs typeface="Arial" pitchFamily="34" charset="-120"/>
              </a:rPr>
              <a:t>Appendix D: timing ledger</a:t>
            </a:r>
            <a:endParaRPr lang="en-US" sz="3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3200400"/>
                <a:gridCol w="1508760"/>
                <a:gridCol w="1508760"/>
                <a:gridCol w="4876495"/>
              </a:tblGrid>
              <a:tr h="365760">
                <a:tc>
                  <a:txBody>
                    <a:bodyPr/>
                    <a:lstStyle/>
                    <a:p>
                      <a:pPr algn="l" indent="0" marL="0">
                        <a:buNone/>
                      </a:pPr>
                      <a:r>
                        <a:rPr lang="en-US" sz="1300" b="1" dirty="0">
                          <a:solidFill>
                            <a:srgbClr val="FFFFFF"/>
                          </a:solidFill>
                          <a:latin typeface="Arial" pitchFamily="34" charset="0"/>
                          <a:ea typeface="Arial" pitchFamily="34" charset="-122"/>
                          <a:cs typeface="Arial" pitchFamily="34" charset="-120"/>
                        </a:rPr>
                        <a:t>Record</a:t>
                      </a:r>
                      <a:endParaRPr lang="en-US" sz="13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IID</a:t>
                      </a:r>
                      <a:endParaRPr lang="en-US" sz="13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Non-IID</a:t>
                      </a:r>
                      <a:endParaRPr lang="en-US" sz="13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Arial" pitchFamily="34" charset="0"/>
                          <a:ea typeface="Arial" pitchFamily="34" charset="-122"/>
                          <a:cs typeface="Arial" pitchFamily="34" charset="-120"/>
                        </a:rPr>
                        <a:t>Timer boundary</a:t>
                      </a:r>
                      <a:endParaRPr lang="en-US" sz="130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r>
              <a:tr h="411480">
                <a:tc>
                  <a:txBody>
                    <a:bodyPr/>
                    <a:lstStyle/>
                    <a:p>
                      <a:pPr algn="l" indent="0" marL="0">
                        <a:buNone/>
                      </a:pPr>
                      <a:r>
                        <a:rPr lang="en-US" sz="1250" b="1" dirty="0">
                          <a:solidFill>
                            <a:srgbClr val="14213D"/>
                          </a:solidFill>
                          <a:latin typeface="Arial" pitchFamily="34" charset="0"/>
                          <a:ea typeface="Arial" pitchFamily="34" charset="-122"/>
                          <a:cs typeface="Arial" pitchFamily="34" charset="-120"/>
                        </a:rPr>
                        <a:t>M_sub subtraction</a:t>
                      </a:r>
                      <a:endParaRPr lang="en-US" sz="125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4213D"/>
                          </a:solidFill>
                          <a:latin typeface="Arial" pitchFamily="34" charset="0"/>
                          <a:ea typeface="Arial" pitchFamily="34" charset="-122"/>
                          <a:cs typeface="Arial" pitchFamily="34" charset="-120"/>
                        </a:rPr>
                        <a:t>0.177 s</a:t>
                      </a:r>
                      <a:endParaRPr lang="en-US" sz="125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4213D"/>
                          </a:solidFill>
                          <a:latin typeface="Arial" pitchFamily="34" charset="0"/>
                          <a:ea typeface="Arial" pitchFamily="34" charset="-122"/>
                          <a:cs typeface="Arial" pitchFamily="34" charset="-120"/>
                        </a:rPr>
                        <a:t>not recorded here</a:t>
                      </a:r>
                      <a:endParaRPr lang="en-US" sz="125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4213D"/>
                          </a:solidFill>
                          <a:latin typeface="Arial" pitchFamily="34" charset="0"/>
                          <a:ea typeface="Arial" pitchFamily="34" charset="-122"/>
                          <a:cs typeface="Arial" pitchFamily="34" charset="-120"/>
                        </a:rPr>
                        <a:t>Subtraction step (IID record).</a:t>
                      </a:r>
                      <a:endParaRPr lang="en-US" sz="125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411480">
                <a:tc>
                  <a:txBody>
                    <a:bodyPr/>
                    <a:lstStyle/>
                    <a:p>
                      <a:pPr algn="l" indent="0" marL="0">
                        <a:buNone/>
                      </a:pPr>
                      <a:r>
                        <a:rPr lang="en-US" sz="1250" b="1" dirty="0">
                          <a:solidFill>
                            <a:srgbClr val="14213D"/>
                          </a:solidFill>
                          <a:latin typeface="Arial" pitchFamily="34" charset="0"/>
                          <a:ea typeface="Arial" pitchFamily="34" charset="-122"/>
                          <a:cs typeface="Arial" pitchFamily="34" charset="-120"/>
                        </a:rPr>
                        <a:t>M_KD subtraction + distillation</a:t>
                      </a:r>
                      <a:endParaRPr lang="en-US" sz="125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250" dirty="0">
                          <a:solidFill>
                            <a:srgbClr val="14213D"/>
                          </a:solidFill>
                          <a:latin typeface="Arial" pitchFamily="34" charset="0"/>
                          <a:ea typeface="Arial" pitchFamily="34" charset="-122"/>
                          <a:cs typeface="Arial" pitchFamily="34" charset="-120"/>
                        </a:rPr>
                        <a:t>≈ 7.816 s</a:t>
                      </a:r>
                      <a:endParaRPr lang="en-US" sz="125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250" dirty="0">
                          <a:solidFill>
                            <a:srgbClr val="14213D"/>
                          </a:solidFill>
                          <a:latin typeface="Arial" pitchFamily="34" charset="0"/>
                          <a:ea typeface="Arial" pitchFamily="34" charset="-122"/>
                          <a:cs typeface="Arial" pitchFamily="34" charset="-120"/>
                        </a:rPr>
                        <a:t>≈ 11.286 s</a:t>
                      </a:r>
                      <a:endParaRPr lang="en-US" sz="125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l" indent="0" marL="0">
                        <a:buNone/>
                      </a:pPr>
                      <a:r>
                        <a:rPr lang="en-US" sz="1250" dirty="0">
                          <a:solidFill>
                            <a:srgbClr val="14213D"/>
                          </a:solidFill>
                          <a:latin typeface="Arial" pitchFamily="34" charset="0"/>
                          <a:ea typeface="Arial" pitchFamily="34" charset="-122"/>
                          <a:cs typeface="Arial" pitchFamily="34" charset="-120"/>
                        </a:rPr>
                        <a:t>Total of subtraction and distillation.</a:t>
                      </a:r>
                      <a:endParaRPr lang="en-US" sz="125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r>
              <a:tr h="731520">
                <a:tc>
                  <a:txBody>
                    <a:bodyPr/>
                    <a:lstStyle/>
                    <a:p>
                      <a:pPr algn="l" indent="0" marL="0">
                        <a:buNone/>
                      </a:pPr>
                      <a:r>
                        <a:rPr lang="en-US" sz="1250" b="1" dirty="0">
                          <a:solidFill>
                            <a:srgbClr val="14213D"/>
                          </a:solidFill>
                          <a:latin typeface="Arial" pitchFamily="34" charset="0"/>
                          <a:ea typeface="Arial" pitchFamily="34" charset="-122"/>
                          <a:cs typeface="Arial" pitchFamily="34" charset="-120"/>
                        </a:rPr>
                        <a:t>Historical M_CF wall timer</a:t>
                      </a:r>
                      <a:endParaRPr lang="en-US" sz="125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4213D"/>
                          </a:solidFill>
                          <a:latin typeface="Arial" pitchFamily="34" charset="0"/>
                          <a:ea typeface="Arial" pitchFamily="34" charset="-122"/>
                          <a:cs typeface="Arial" pitchFamily="34" charset="-120"/>
                        </a:rPr>
                        <a:t>2,513.87 s</a:t>
                      </a:r>
                      <a:endParaRPr lang="en-US" sz="125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4213D"/>
                          </a:solidFill>
                          <a:latin typeface="Arial" pitchFamily="34" charset="0"/>
                          <a:ea typeface="Arial" pitchFamily="34" charset="-122"/>
                          <a:cs typeface="Arial" pitchFamily="34" charset="-120"/>
                        </a:rPr>
                        <a:t>4,219.17 s</a:t>
                      </a:r>
                      <a:endParaRPr lang="en-US" sz="125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4213D"/>
                          </a:solidFill>
                          <a:latin typeface="Arial" pitchFamily="34" charset="0"/>
                          <a:ea typeface="Arial" pitchFamily="34" charset="-122"/>
                          <a:cs typeface="Arial" pitchFamily="34" charset="-120"/>
                        </a:rPr>
                        <a:t>Includes repeated in-loop evaluation (~28,000 examples over three passes per round), final evaluation, and potentially saving.</a:t>
                      </a:r>
                      <a:endParaRPr lang="en-US" sz="125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548640">
                <a:tc>
                  <a:txBody>
                    <a:bodyPr/>
                    <a:lstStyle/>
                    <a:p>
                      <a:pPr algn="l" indent="0" marL="0">
                        <a:buNone/>
                      </a:pPr>
                      <a:r>
                        <a:rPr lang="en-US" sz="1250" b="1" dirty="0">
                          <a:solidFill>
                            <a:srgbClr val="14213D"/>
                          </a:solidFill>
                          <a:latin typeface="Arial" pitchFamily="34" charset="0"/>
                          <a:ea typeface="Arial" pitchFamily="34" charset="-122"/>
                          <a:cs typeface="Arial" pitchFamily="34" charset="-120"/>
                        </a:rPr>
                        <a:t>FedEraser Ecal=1 loop</a:t>
                      </a:r>
                      <a:endParaRPr lang="en-US" sz="125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250" dirty="0">
                          <a:solidFill>
                            <a:srgbClr val="14213D"/>
                          </a:solidFill>
                          <a:latin typeface="Arial" pitchFamily="34" charset="0"/>
                          <a:ea typeface="Arial" pitchFamily="34" charset="-122"/>
                          <a:cs typeface="Arial" pitchFamily="34" charset="-120"/>
                        </a:rPr>
                        <a:t>629.815 s</a:t>
                      </a:r>
                      <a:endParaRPr lang="en-US" sz="125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ctr" indent="0" marL="0">
                        <a:buNone/>
                      </a:pPr>
                      <a:r>
                        <a:rPr lang="en-US" sz="1250" dirty="0">
                          <a:solidFill>
                            <a:srgbClr val="14213D"/>
                          </a:solidFill>
                          <a:latin typeface="Arial" pitchFamily="34" charset="0"/>
                          <a:ea typeface="Arial" pitchFamily="34" charset="-122"/>
                          <a:cs typeface="Arial" pitchFamily="34" charset="-120"/>
                        </a:rPr>
                        <a:t>635.575 s</a:t>
                      </a:r>
                      <a:endParaRPr lang="en-US" sz="125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c>
                  <a:txBody>
                    <a:bodyPr/>
                    <a:lstStyle/>
                    <a:p>
                      <a:pPr algn="l" indent="0" marL="0">
                        <a:buNone/>
                      </a:pPr>
                      <a:r>
                        <a:rPr lang="en-US" sz="1250" dirty="0">
                          <a:solidFill>
                            <a:srgbClr val="14213D"/>
                          </a:solidFill>
                          <a:latin typeface="Arial" pitchFamily="34" charset="0"/>
                          <a:ea typeface="Arial" pitchFamily="34" charset="-122"/>
                          <a:cs typeface="Arial" pitchFamily="34" charset="-120"/>
                        </a:rPr>
                        <a:t>Reconstruction-loop time incl. saved-delta file reads. Not end-to-end.</a:t>
                      </a:r>
                      <a:endParaRPr lang="en-US" sz="125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8F9FB"/>
                    </a:solidFill>
                  </a:tcPr>
                </a:tc>
              </a:tr>
              <a:tr h="548640">
                <a:tc>
                  <a:txBody>
                    <a:bodyPr/>
                    <a:lstStyle/>
                    <a:p>
                      <a:pPr algn="l" indent="0" marL="0">
                        <a:buNone/>
                      </a:pPr>
                      <a:r>
                        <a:rPr lang="en-US" sz="1250" b="1" dirty="0">
                          <a:solidFill>
                            <a:srgbClr val="14213D"/>
                          </a:solidFill>
                          <a:latin typeface="Arial" pitchFamily="34" charset="0"/>
                          <a:ea typeface="Arial" pitchFamily="34" charset="-122"/>
                          <a:cs typeface="Arial" pitchFamily="34" charset="-120"/>
                        </a:rPr>
                        <a:t>FedEraser Ecal=2 loop</a:t>
                      </a:r>
                      <a:endParaRPr lang="en-US" sz="125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4213D"/>
                          </a:solidFill>
                          <a:latin typeface="Arial" pitchFamily="34" charset="0"/>
                          <a:ea typeface="Arial" pitchFamily="34" charset="-122"/>
                          <a:cs typeface="Arial" pitchFamily="34" charset="-120"/>
                        </a:rPr>
                        <a:t>1,211.455 s</a:t>
                      </a:r>
                      <a:endParaRPr lang="en-US" sz="125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4213D"/>
                          </a:solidFill>
                          <a:latin typeface="Arial" pitchFamily="34" charset="0"/>
                          <a:ea typeface="Arial" pitchFamily="34" charset="-122"/>
                          <a:cs typeface="Arial" pitchFamily="34" charset="-120"/>
                        </a:rPr>
                        <a:t>1,257.768 s</a:t>
                      </a:r>
                      <a:endParaRPr lang="en-US" sz="125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4213D"/>
                          </a:solidFill>
                          <a:latin typeface="Arial" pitchFamily="34" charset="0"/>
                          <a:ea typeface="Arial" pitchFamily="34" charset="-122"/>
                          <a:cs typeface="Arial" pitchFamily="34" charset="-120"/>
                        </a:rPr>
                        <a:t>Reconstruction-loop time incl. saved-delta file reads. Not end-to-end.</a:t>
                      </a:r>
                      <a:endParaRPr lang="en-US" sz="125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594360">
                <a:tc>
                  <a:txBody>
                    <a:bodyPr/>
                    <a:lstStyle/>
                    <a:p>
                      <a:pPr algn="l" indent="0" marL="0">
                        <a:buNone/>
                      </a:pPr>
                      <a:r>
                        <a:rPr lang="en-US" sz="1250" b="1" dirty="0">
                          <a:solidFill>
                            <a:srgbClr val="14213D"/>
                          </a:solidFill>
                          <a:latin typeface="Arial" pitchFamily="34" charset="0"/>
                          <a:ea typeface="Arial" pitchFamily="34" charset="-122"/>
                          <a:cs typeface="Arial" pitchFamily="34" charset="-120"/>
                        </a:rPr>
                        <a:t>Microbenchmark: M_CF-style local training</a:t>
                      </a:r>
                      <a:endParaRPr lang="en-US" sz="125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EF1F6"/>
                    </a:solidFill>
                  </a:tcPr>
                </a:tc>
                <a:tc gridSpan="2">
                  <a:txBody>
                    <a:bodyPr/>
                    <a:lstStyle/>
                    <a:p>
                      <a:pPr algn="ctr" indent="0" marL="0">
                        <a:buNone/>
                      </a:pPr>
                      <a:r>
                        <a:rPr lang="en-US" sz="1250" dirty="0">
                          <a:solidFill>
                            <a:srgbClr val="14213D"/>
                          </a:solidFill>
                          <a:latin typeface="Arial" pitchFamily="34" charset="0"/>
                          <a:ea typeface="Arial" pitchFamily="34" charset="-122"/>
                          <a:cs typeface="Arial" pitchFamily="34" charset="-120"/>
                        </a:rPr>
                        <a:t>75.079 s</a:t>
                      </a:r>
                      <a:endParaRPr lang="en-US" sz="125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EF1F6"/>
                    </a:solidFill>
                  </a:tcPr>
                </a:tc>
                <a:tc hMerge="1">
                  <a:tcPr/>
                </a:tc>
                <a:tc>
                  <a:txBody>
                    <a:bodyPr/>
                    <a:lstStyle/>
                    <a:p>
                      <a:pPr algn="l" indent="0" marL="0">
                        <a:buNone/>
                      </a:pPr>
                      <a:r>
                        <a:rPr lang="en-US" sz="1250" dirty="0">
                          <a:solidFill>
                            <a:srgbClr val="14213D"/>
                          </a:solidFill>
                          <a:latin typeface="Arial" pitchFamily="34" charset="0"/>
                          <a:ea typeface="Arial" pitchFamily="34" charset="-122"/>
                          <a:cs typeface="Arial" pitchFamily="34" charset="-120"/>
                        </a:rPr>
                        <a:t>3 rounds, 9 retained clients, 2 local epochs. Excludes global aggregation/update and evaluation.</a:t>
                      </a:r>
                      <a:endParaRPr lang="en-US" sz="125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EF1F6"/>
                    </a:solidFill>
                  </a:tcPr>
                </a:tc>
              </a:tr>
              <a:tr h="731520">
                <a:tc>
                  <a:txBody>
                    <a:bodyPr/>
                    <a:lstStyle/>
                    <a:p>
                      <a:pPr algn="l" indent="0" marL="0">
                        <a:buNone/>
                      </a:pPr>
                      <a:r>
                        <a:rPr lang="en-US" sz="1250" b="1" dirty="0">
                          <a:solidFill>
                            <a:srgbClr val="14213D"/>
                          </a:solidFill>
                          <a:latin typeface="Arial" pitchFamily="34" charset="0"/>
                          <a:ea typeface="Arial" pitchFamily="34" charset="-122"/>
                          <a:cs typeface="Arial" pitchFamily="34" charset="-120"/>
                        </a:rPr>
                        <a:t>Microbenchmark: FedEraser local training + calibration + delta reads</a:t>
                      </a:r>
                      <a:endParaRPr lang="en-US" sz="125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EF1F6"/>
                    </a:solidFill>
                  </a:tcPr>
                </a:tc>
                <a:tc gridSpan="2">
                  <a:txBody>
                    <a:bodyPr/>
                    <a:lstStyle/>
                    <a:p>
                      <a:pPr algn="ctr" indent="0" marL="0">
                        <a:buNone/>
                      </a:pPr>
                      <a:r>
                        <a:rPr lang="en-US" sz="1250" dirty="0">
                          <a:solidFill>
                            <a:srgbClr val="14213D"/>
                          </a:solidFill>
                          <a:latin typeface="Arial" pitchFamily="34" charset="0"/>
                          <a:ea typeface="Arial" pitchFamily="34" charset="-122"/>
                          <a:cs typeface="Arial" pitchFamily="34" charset="-120"/>
                        </a:rPr>
                        <a:t>75.821 s (0.207 s file I/O; ~75.61 s computation)</a:t>
                      </a:r>
                      <a:endParaRPr lang="en-US" sz="125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EF1F6"/>
                    </a:solidFill>
                  </a:tcPr>
                </a:tc>
                <a:tc hMerge="1">
                  <a:tcPr/>
                </a:tc>
                <a:tc>
                  <a:txBody>
                    <a:bodyPr/>
                    <a:lstStyle/>
                    <a:p>
                      <a:pPr algn="l" indent="0" marL="0">
                        <a:buNone/>
                      </a:pPr>
                      <a:r>
                        <a:rPr lang="en-US" sz="1250" dirty="0">
                          <a:solidFill>
                            <a:srgbClr val="14213D"/>
                          </a:solidFill>
                          <a:latin typeface="Arial" pitchFamily="34" charset="0"/>
                          <a:ea typeface="Arial" pitchFamily="34" charset="-122"/>
                          <a:cs typeface="Arial" pitchFamily="34" charset="-120"/>
                        </a:rPr>
                        <a:t>Same scope as above. Normalized: 1.39036 vs 1.40409 s per client-epoch (M_CF-style vs FedEraser).</a:t>
                      </a:r>
                      <a:endParaRPr lang="en-US" sz="1250" dirty="0">
                        <a:latin typeface="Arial" charset="0"/>
                        <a:ea typeface="Arial" charset="0"/>
                        <a:cs typeface="Arial" charset="0"/>
                      </a:endParaRPr>
                    </a:p>
                  </a:txBody>
                  <a:tcPr marL="73152" marR="73152" marT="27432" marB="2743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EEF1F6"/>
                    </a:solidFill>
                  </a:tcPr>
                </a:tc>
              </a:tr>
            </a:tbl>
          </a:graphicData>
        </a:graphic>
      </p:graphicFrame>
      <p:sp>
        <p:nvSpPr>
          <p:cNvPr id="4" name="Text 1"/>
          <p:cNvSpPr txBox="1"/>
          <p:nvPr/>
        </p:nvSpPr>
        <p:spPr>
          <a:xfrm>
            <a:off x="548640" y="5806440"/>
            <a:ext cx="11094415" cy="457200"/>
          </a:xfrm>
          <a:prstGeom prst="roundRect">
            <a:avLst>
              <a:gd name="adj" fmla="val 16000"/>
            </a:avLst>
          </a:prstGeom>
          <a:solidFill>
            <a:srgbClr val="FDF1DF"/>
          </a:solidFill>
          <a:ln w="15875">
            <a:solidFill>
              <a:srgbClr val="E8890C"/>
            </a:solidFill>
            <a:prstDash val="dash"/>
          </a:ln>
        </p:spPr>
        <p:txBody>
          <a:bodyPr wrap="square" lIns="101600" tIns="101600" rIns="101600" bIns="101600" rtlCol="0" anchor="ctr"/>
          <a:lstStyle/>
          <a:p>
            <a:pPr algn="ctr" indent="0" marL="0">
              <a:buNone/>
            </a:pPr>
            <a:r>
              <a:rPr lang="en-US" sz="1400" b="1" dirty="0">
                <a:solidFill>
                  <a:srgbClr val="14213D"/>
                </a:solidFill>
                <a:latin typeface="Arial" pitchFamily="34" charset="0"/>
                <a:ea typeface="Arial" pitchFamily="34" charset="-122"/>
                <a:cs typeface="Arial" pitchFamily="34" charset="-120"/>
              </a:rPr>
              <a:t>Different boundaries: these are records, not speed scores. No speedup is claimed.</a:t>
            </a:r>
            <a:endParaRPr lang="en-US" sz="140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A8394"/>
                </a:solidFill>
                <a:latin typeface="Arial"/>
                <a:ea typeface="Arial"/>
                <a:cs typeface="Arial"/>
              </a:defRPr>
            </a:lvl1pPr>
          </a:lstStyle>
          <a:p>
            <a:pPr algn="r"/>
            <a:fld id="{F7021451-1387-4CA6-816F-3879F97B5CBC}" type="slidenum">
              <a:rPr b="0" lang="en-US"/>
              <a:t>27</a:t>
            </a:fld>
            <a:endParaRPr lang="en-US"/>
          </a:p>
        </p:txBody>
      </p:sp>
    </p:spTree>
  </p:cSld>
  <p:clrMapOvr>
    <a:masterClrMapping/>
  </p:clrMapOvr>
</p:sld>
</file>

<file path=ppt/theme/theme1.xml><?xml version="1.0" encoding="utf-8"?>
<a:theme xmlns:a="http://schemas.openxmlformats.org/drawingml/2006/main" name="FL Unlearning">
  <a:themeElements>
    <a:clrScheme name="FL Unlearning">
      <a:dk1>
        <a:srgbClr val="14213D"/>
      </a:dk1>
      <a:lt1>
        <a:srgbClr val="FFFFFF"/>
      </a:lt1>
      <a:dk2>
        <a:srgbClr val="4A4F57"/>
      </a:dk2>
      <a:lt2>
        <a:srgbClr val="F4F6F9"/>
      </a:lt2>
      <a:accent1>
        <a:srgbClr val="0B7A75"/>
      </a:accent1>
      <a:accent2>
        <a:srgbClr val="D62839"/>
      </a:accent2>
      <a:accent3>
        <a:srgbClr val="E8890C"/>
      </a:accent3>
      <a:accent4>
        <a:srgbClr val="7B4FB8"/>
      </a:accent4>
      <a:accent5>
        <a:srgbClr val="6B7C93"/>
      </a:accent5>
      <a:accent6>
        <a:srgbClr val="7CCFC4"/>
      </a:accent6>
      <a:hlink>
        <a:srgbClr val="0B7A75"/>
      </a:hlink>
      <a:folHlink>
        <a:srgbClr val="7B4FB8"/>
      </a:folHlink>
    </a:clrScheme>
    <a:fontScheme name="FL Unlearning">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Client-Level Backdoor Unlearning in Federated Learning</dc:title>
  <dc:subject>Experimental baseline comparison (initial draft)</dc:subject>
  <dc:creator>PptxGenJS</dc:creator>
  <cp:lastModifiedBy>PptxGenJS</cp:lastModifiedBy>
  <cp:revision>1</cp:revision>
  <dcterms:created xsi:type="dcterms:W3CDTF">2026-10-13T16:44:12Z</dcterms:created>
  <dcterms:modified xsi:type="dcterms:W3CDTF">2026-10-13T16:44:12Z</dcterms:modified>
</cp:coreProperties>
</file>